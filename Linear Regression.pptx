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4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C38E5-C654-FA4C-1EC9-94DA4B332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B801DD-598C-FD56-753F-FB183F7A90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2B5D2-50BE-6CCB-1C53-00ACB761C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1106-0CED-478B-8AE2-7E14FFB96FC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124D8-A4D3-BBB0-3DBF-28711C61D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6BF69-C2F4-53B7-CCD9-A93E58728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1CE0-875B-4497-A7DB-DC862BA70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63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E0693-5943-9F85-1357-1E9366E95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A1975-5AE2-A689-7673-34146D97E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5BF0D-14A1-718C-0D33-B28712AFF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1106-0CED-478B-8AE2-7E14FFB96FC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B6FE6-3477-7BFC-EF2F-B9624053F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0A77D-7E28-D6E8-EDF6-E862BC184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1CE0-875B-4497-A7DB-DC862BA70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269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8A4DF-6558-6A70-6655-4ADF41425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69EB4-11B0-E872-630F-11C05DEE1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F5203-89DE-F86D-63AA-4A0BBE7E2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1106-0CED-478B-8AE2-7E14FFB96FC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10111-BB3E-8078-88DD-9B0E2057B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BFA31-2474-F09D-319B-1FB101B8A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1CE0-875B-4497-A7DB-DC862BA70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215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995B3-C6D2-C5EB-7752-5795AA586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45CF3-6CD8-F72B-CF27-65DDC381D0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4F1371-4A17-0D14-E8A8-26A3C36C2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7B1A3-AB88-5DE2-E4CA-AF10F8C53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1106-0CED-478B-8AE2-7E14FFB96FC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29B97-23E3-E288-E8AC-6F7E0047A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700143-C2BB-C105-9CEC-D755AC2E6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1CE0-875B-4497-A7DB-DC862BA70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789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77F0-1AA4-DF4E-B945-5FC23E2CF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FD8A9-723F-FF0D-0235-A49F51DFD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722A39-3B26-C9B5-1408-3667F40F2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537C7D-0BDD-4397-4B6A-7E029536C8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46A8F2-5A18-3872-7064-9BBE12D1C9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EA5CF6-9B15-1DC7-4057-AAF3839F8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1106-0CED-478B-8AE2-7E14FFB96FC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403BD4-1479-7FBA-9825-0059E2A13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059518-FF16-FCC7-E50E-421524505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1CE0-875B-4497-A7DB-DC862BA70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3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DC48-AF6A-C32B-8F5B-B5B8C4DD2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7E9157-F9AE-2B80-4A88-00EBDCFAE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1106-0CED-478B-8AE2-7E14FFB96FC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DA8AD5-CAC4-C250-C110-46FA3EE53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061395-6703-87F8-0FDD-87F729549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1CE0-875B-4497-A7DB-DC862BA70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58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D7084-2C39-AB94-CB38-32D1A735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1106-0CED-478B-8AE2-7E14FFB96FC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A12BA0-C28C-1738-853C-496A952B1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F9222-F228-8026-CCC2-7259A4AA3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1CE0-875B-4497-A7DB-DC862BA70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096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832E3-6E13-3153-8DE4-98298954C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1F467-A068-BC36-CE2E-C7D057463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E87F6F-4FAE-3670-A47C-B54AC9ABC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D362B-9108-02E7-B67F-414142E94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1106-0CED-478B-8AE2-7E14FFB96FC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4EFECA-0C39-0626-236F-D6ABCE60C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642257-CFDC-987E-8A3F-FDCF70E26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1CE0-875B-4497-A7DB-DC862BA70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053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5BDFD-D256-D43B-D284-4FDC48444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D2E6F2-C896-656D-10CA-4C3DE0DF69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F0F97-9817-119B-A3AD-58F47C6A6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DD5462-5DE0-A22A-7A0F-A354FE180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1106-0CED-478B-8AE2-7E14FFB96FC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28843-89C2-A235-5DCD-8B5FC9DD3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EB354-CE44-C43E-B241-EBF880C3D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1CE0-875B-4497-A7DB-DC862BA70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635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0071-2833-A053-72AB-EA6A994A5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3CB0EB-BAF2-C43F-C864-34CD39025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4C5A0-7860-8307-9F23-38B9DFD51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1106-0CED-478B-8AE2-7E14FFB96FC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2B913-3936-FCD4-4C9B-129BEACB7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0E3B6-A65E-DC16-F87B-F5B910589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1CE0-875B-4497-A7DB-DC862BA70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699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462D7A-82AE-E602-4301-D6BDF31FFE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D5554-4278-0FF3-2D67-EEE5B0EC2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235A6-515C-1EE8-79AC-13232C13C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1106-0CED-478B-8AE2-7E14FFB96FC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588A6-5E9B-18E4-1191-1AB875873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66CBA-9E1C-267C-8040-3398287E7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1CE0-875B-4497-A7DB-DC862BA70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480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6FBE62-BFCD-0AB8-9480-ECF625860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0BD27-F50D-56E5-784B-30BB9E875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3C273-122D-D20B-BA86-262B63E00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8B1106-0CED-478B-8AE2-7E14FFB96FC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EEB78-3245-A259-0FAA-47E6E5D02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68230-3F0A-E5FF-18F1-AA4B3E302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01CE0-875B-4497-A7DB-DC862BA70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703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228ED-82CD-7694-B9DE-91717315E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Linear Regression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2ECB64-A7D2-B2F2-2A9D-5B1BDC93D9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sz="2400" dirty="0"/>
                  <a:t>Linear Regression is a supervised learning algorithm used for predicting a continuous value (e.g., house price, temperature, salary) based on input features. 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It assumes a linear relationship between the independent variable(s) (inputs) and the dependent variable (output).</a:t>
                </a:r>
              </a:p>
              <a:p>
                <a:pPr marL="0" indent="0" algn="just">
                  <a:buNone/>
                </a:pPr>
                <a:endParaRPr lang="en-US" sz="2400" dirty="0"/>
              </a:p>
              <a:p>
                <a:pPr marL="0" indent="0" algn="just">
                  <a:buNone/>
                </a:pPr>
                <a:r>
                  <a:rPr kumimoji="0" lang="en-US" altLang="en-US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Simple linear regression uses the traditional slope-intercept form, where m and b are the variables our algorithm will try to “learn” to produce the most accurate predictions.</a:t>
                </a:r>
              </a:p>
              <a:p>
                <a:pPr marL="0" indent="0" algn="just">
                  <a:buNone/>
                </a:pPr>
                <a:b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0" lang="en-US" alt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kumimoji="0" lang="en-US" alt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kumimoji="0" lang="en-US" alt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0" lang="en-US" alt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indent="0" algn="just">
                  <a:buNone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indent="0" algn="just">
                  <a:buNone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indent="0" algn="just">
                  <a:buNone/>
                </a:pPr>
                <a:endParaRPr lang="en-US" sz="2400" dirty="0"/>
              </a:p>
              <a:p>
                <a:pPr marL="0" indent="0" algn="just">
                  <a:buNone/>
                </a:pP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2ECB64-A7D2-B2F2-2A9D-5B1BDC93D9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 r="-8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9419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FC15DF73-50AF-B7C7-2DB1-B99E7554D2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903" y="940845"/>
                <a:ext cx="10813774" cy="31539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algn="just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sz="2400" dirty="0"/>
                  <a:t> input data and 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N" sz="2400" dirty="0"/>
                  <a:t> prediction,  and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400" dirty="0"/>
                  <a:t> is the number of training examples.</a:t>
                </a:r>
              </a:p>
              <a:p>
                <a:pPr lvl="0" algn="just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IN" sz="2400" dirty="0"/>
              </a:p>
              <a:p>
                <a:pPr lvl="0" algn="just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IN" sz="2400" dirty="0"/>
                  <a:t>Here,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IN" sz="2400" dirty="0"/>
                  <a:t>  training examples is called as input features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IN" sz="2400" dirty="0"/>
                  <a:t> is denoted as the output or target variable, which we are trying to predict.</a:t>
                </a:r>
              </a:p>
              <a:p>
                <a:pPr lvl="0" algn="just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IN" sz="2400" dirty="0"/>
              </a:p>
              <a:p>
                <a:pPr lvl="0" algn="just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IN" sz="2400" dirty="0"/>
                  <a:t>A pair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d>
                    <m:r>
                      <a:rPr lang="en-I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/>
                  <a:t>is called as training example and dataset that we will use to learn a list of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400" dirty="0"/>
                  <a:t> training examples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d>
                    <m:r>
                      <a:rPr lang="en-IN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=1…….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IN" sz="2400" dirty="0"/>
                  <a:t> is called a training set.</a:t>
                </a: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FC15DF73-50AF-B7C7-2DB1-B99E7554D2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9903" y="940845"/>
                <a:ext cx="10813774" cy="3153940"/>
              </a:xfrm>
              <a:prstGeom prst="rect">
                <a:avLst/>
              </a:prstGeom>
              <a:blipFill>
                <a:blip r:embed="rId2"/>
                <a:stretch>
                  <a:fillRect l="-902" t="-965" r="-84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D01FC0-AA61-A842-9F93-9EFBA1ECDACD}"/>
                  </a:ext>
                </a:extLst>
              </p:cNvPr>
              <p:cNvSpPr txBox="1"/>
              <p:nvPr/>
            </p:nvSpPr>
            <p:spPr>
              <a:xfrm>
                <a:off x="503995" y="4534691"/>
                <a:ext cx="10925590" cy="104116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600"/>
                  </a:spcAft>
                  <a:buNone/>
                </a:pPr>
                <a:r>
                  <a:rPr lang="en-IN" sz="1800" b="1" dirty="0">
                    <a:solidFill>
                      <a:srgbClr val="000000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</a:rPr>
                  <a:t>Note</a:t>
                </a:r>
                <a:r>
                  <a:rPr lang="en-IN" sz="1800" dirty="0">
                    <a:solidFill>
                      <a:srgbClr val="000000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</a:rPr>
                  <a:t> that the superscript “(</a:t>
                </a:r>
                <a:r>
                  <a:rPr lang="en-IN" sz="1800" dirty="0" err="1">
                    <a:solidFill>
                      <a:srgbClr val="000000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</a:rPr>
                  <a:t>i</a:t>
                </a:r>
                <a:r>
                  <a:rPr lang="en-IN" sz="1800" dirty="0">
                    <a:solidFill>
                      <a:srgbClr val="000000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</a:rPr>
                  <a:t>)" in the notation is simply an index into the training set, and has nothing to do with exponentiation. We will also use X denote the space of input values, and Y the space of output values. In this example, </a:t>
                </a:r>
                <a14:m>
                  <m:oMath xmlns:m="http://schemas.openxmlformats.org/officeDocument/2006/math">
                    <m:r>
                      <a:rPr lang="en-IN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𝑋</m:t>
                    </m:r>
                    <m:r>
                      <a:rPr lang="en-IN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= </m:t>
                    </m:r>
                    <m:r>
                      <a:rPr lang="en-IN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𝑌</m:t>
                    </m:r>
                    <m:r>
                      <a:rPr lang="en-IN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= </m:t>
                    </m:r>
                    <m:r>
                      <a:rPr lang="en-IN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IN" sz="1800" dirty="0">
                    <a:solidFill>
                      <a:srgbClr val="000000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</a:rPr>
                  <a:t>.</a:t>
                </a:r>
                <a:endParaRPr lang="en-IN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D01FC0-AA61-A842-9F93-9EFBA1ECD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95" y="4534691"/>
                <a:ext cx="10925590" cy="1041161"/>
              </a:xfrm>
              <a:prstGeom prst="rect">
                <a:avLst/>
              </a:prstGeom>
              <a:blipFill>
                <a:blip r:embed="rId3"/>
                <a:stretch>
                  <a:fillRect l="-502" t="-1170" r="-446" b="-70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0430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BE75925-50D8-2B90-36B6-1165ADB39047}"/>
                  </a:ext>
                </a:extLst>
              </p:cNvPr>
              <p:cNvSpPr txBox="1"/>
              <p:nvPr/>
            </p:nvSpPr>
            <p:spPr>
              <a:xfrm>
                <a:off x="3945835" y="565202"/>
                <a:ext cx="7682947" cy="13478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IN" sz="1800" b="1" dirty="0">
                    <a:solidFill>
                      <a:srgbClr val="000000"/>
                    </a:solidFill>
                    <a:effectLst/>
                    <a:latin typeface="Candara" panose="020E050203030302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 describe the supervised learning problem slightly more formally, our goal is, given a training set, to learn a function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𝒇</m:t>
                    </m:r>
                    <m:r>
                      <a:rPr lang="en-IN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: </m:t>
                    </m:r>
                    <m:r>
                      <a:rPr lang="en-IN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𝑿</m:t>
                    </m:r>
                    <m:r>
                      <a:rPr lang="en-IN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→ </m:t>
                    </m:r>
                    <m:r>
                      <a:rPr lang="en-IN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𝒀</m:t>
                    </m:r>
                  </m:oMath>
                </a14:m>
                <a:r>
                  <a:rPr lang="en-IN" sz="1800" b="1" dirty="0">
                    <a:solidFill>
                      <a:srgbClr val="000000"/>
                    </a:solidFill>
                    <a:effectLst/>
                    <a:latin typeface="Candara" panose="020E050203030302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so that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𝒇</m:t>
                    </m:r>
                    <m:r>
                      <a:rPr lang="en-IN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IN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𝒙</m:t>
                    </m:r>
                    <m:r>
                      <a:rPr lang="en-IN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IN" sz="1800" b="1" dirty="0">
                    <a:solidFill>
                      <a:srgbClr val="000000"/>
                    </a:solidFill>
                    <a:effectLst/>
                    <a:latin typeface="Candara" panose="020E050203030302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a “good" predictor for the corresponding value of </a:t>
                </a:r>
                <a14:m>
                  <m:oMath xmlns:m="http://schemas.openxmlformats.org/officeDocument/2006/math">
                    <m:r>
                      <a:rPr lang="en-IN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𝒚</m:t>
                    </m:r>
                  </m:oMath>
                </a14:m>
                <a:r>
                  <a:rPr lang="en-IN" sz="1800" b="1" dirty="0">
                    <a:solidFill>
                      <a:srgbClr val="000000"/>
                    </a:solidFill>
                    <a:effectLst/>
                    <a:latin typeface="Candara" panose="020E050203030302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en-US" b="1" dirty="0">
                    <a:solidFill>
                      <a:srgbClr val="000000"/>
                    </a:solidFill>
                    <a:latin typeface="Candara" panose="020E050203030302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 is the hypothesis function (also called the model).</a:t>
                </a:r>
                <a:endParaRPr lang="en-IN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BE75925-50D8-2B90-36B6-1165ADB39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835" y="565202"/>
                <a:ext cx="7682947" cy="1347805"/>
              </a:xfrm>
              <a:prstGeom prst="rect">
                <a:avLst/>
              </a:prstGeom>
              <a:blipFill>
                <a:blip r:embed="rId2"/>
                <a:stretch>
                  <a:fillRect l="-634" t="-905" r="-634" b="-63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93994382-BCD4-B3F6-77B3-39BDB973C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71" y="327715"/>
            <a:ext cx="3243818" cy="3488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9CD1E57-1347-4CFA-EB22-E572DE2BE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641954"/>
              </p:ext>
            </p:extLst>
          </p:nvPr>
        </p:nvGraphicFramePr>
        <p:xfrm>
          <a:off x="5293305" y="4007316"/>
          <a:ext cx="4069356" cy="20157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56452">
                  <a:extLst>
                    <a:ext uri="{9D8B030D-6E8A-4147-A177-3AD203B41FA5}">
                      <a16:colId xmlns:a16="http://schemas.microsoft.com/office/drawing/2014/main" val="4055905805"/>
                    </a:ext>
                  </a:extLst>
                </a:gridCol>
                <a:gridCol w="1356452">
                  <a:extLst>
                    <a:ext uri="{9D8B030D-6E8A-4147-A177-3AD203B41FA5}">
                      <a16:colId xmlns:a16="http://schemas.microsoft.com/office/drawing/2014/main" val="1825041264"/>
                    </a:ext>
                  </a:extLst>
                </a:gridCol>
                <a:gridCol w="1356452">
                  <a:extLst>
                    <a:ext uri="{9D8B030D-6E8A-4147-A177-3AD203B41FA5}">
                      <a16:colId xmlns:a16="http://schemas.microsoft.com/office/drawing/2014/main" val="4188815544"/>
                    </a:ext>
                  </a:extLst>
                </a:gridCol>
              </a:tblGrid>
              <a:tr h="5636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Company</a:t>
                      </a:r>
                      <a:endParaRPr lang="en-IN" sz="18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Radio ($) (x)</a:t>
                      </a:r>
                      <a:endParaRPr lang="en-IN" sz="1800" dirty="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Sales (y)</a:t>
                      </a:r>
                      <a:endParaRPr lang="en-IN" sz="1800" dirty="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1978577"/>
                  </a:ext>
                </a:extLst>
              </a:tr>
              <a:tr h="3566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Amazon</a:t>
                      </a:r>
                      <a:endParaRPr lang="en-IN" sz="18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37.8</a:t>
                      </a:r>
                      <a:endParaRPr lang="en-IN" sz="18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22.1</a:t>
                      </a:r>
                      <a:endParaRPr lang="en-IN" sz="18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6716436"/>
                  </a:ext>
                </a:extLst>
              </a:tr>
              <a:tr h="3651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Google</a:t>
                      </a:r>
                      <a:endParaRPr lang="en-IN" sz="18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39.3</a:t>
                      </a:r>
                      <a:endParaRPr lang="en-IN" sz="18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10.4</a:t>
                      </a:r>
                      <a:endParaRPr lang="en-IN" sz="18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5582646"/>
                  </a:ext>
                </a:extLst>
              </a:tr>
              <a:tr h="3651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Facebook</a:t>
                      </a:r>
                      <a:endParaRPr lang="en-IN" sz="18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45.9</a:t>
                      </a:r>
                      <a:endParaRPr lang="en-IN" sz="18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18.3</a:t>
                      </a:r>
                      <a:endParaRPr lang="en-IN" sz="18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5827408"/>
                  </a:ext>
                </a:extLst>
              </a:tr>
              <a:tr h="3651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Apple</a:t>
                      </a:r>
                      <a:endParaRPr lang="en-IN" sz="18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41.3</a:t>
                      </a:r>
                      <a:endParaRPr lang="en-IN" sz="18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18.5</a:t>
                      </a:r>
                      <a:endParaRPr lang="en-IN" sz="1800" dirty="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352786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9">
                <a:extLst>
                  <a:ext uri="{FF2B5EF4-FFF2-40B4-BE49-F238E27FC236}">
                    <a16:creationId xmlns:a16="http://schemas.microsoft.com/office/drawing/2014/main" id="{B07EEB28-8771-7ADF-E367-B86DF38E0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5835" y="2167814"/>
                <a:ext cx="7000240" cy="14895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So linear equation with one or single variable has been shown below.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altLang="en-US" dirty="0">
                  <a:solidFill>
                    <a:srgbClr val="000000"/>
                  </a:solidFill>
                  <a:ea typeface="Times New Roman" panose="02020603050405020304" pitchFamily="18" charset="0"/>
                </a:endParaRP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) 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I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ea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Let’s say we are given a dataset with the following columns (features):</a:t>
                </a:r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>
          <p:sp>
            <p:nvSpPr>
              <p:cNvPr id="18" name="Rectangle 9">
                <a:extLst>
                  <a:ext uri="{FF2B5EF4-FFF2-40B4-BE49-F238E27FC236}">
                    <a16:creationId xmlns:a16="http://schemas.microsoft.com/office/drawing/2014/main" id="{B07EEB28-8771-7ADF-E367-B86DF38E05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5835" y="2167814"/>
                <a:ext cx="7000240" cy="1489510"/>
              </a:xfrm>
              <a:prstGeom prst="rect">
                <a:avLst/>
              </a:prstGeom>
              <a:blipFill>
                <a:blip r:embed="rId4"/>
                <a:stretch>
                  <a:fillRect l="-696" t="-2049" b="-614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6217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6DC12E-1AAD-1ABC-301F-55FB02C22E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5496" y="556591"/>
                <a:ext cx="10618304" cy="5620372"/>
              </a:xfrm>
            </p:spPr>
            <p:txBody>
              <a:bodyPr/>
              <a:lstStyle/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H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ow much a company spends on Radio advertising each year, and its annual Sales in terms of units sold. 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dirty="0">
                  <a:solidFill>
                    <a:srgbClr val="000000"/>
                  </a:solidFill>
                  <a:ea typeface="Times New Roman" panose="02020603050405020304" pitchFamily="18" charset="0"/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We are trying to develop an equation that will let us predict units sold based on how much a company spends on radio advertising. The rows (observations) represent companies.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37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22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i="1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i="1">
                        <a:latin typeface="Cambria Math" panose="02040503050406030204" pitchFamily="18" charset="0"/>
                      </a:rPr>
                      <m:t> ) = (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39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……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6DC12E-1AAD-1ABC-301F-55FB02C22E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5496" y="556591"/>
                <a:ext cx="10618304" cy="5620372"/>
              </a:xfrm>
              <a:blipFill>
                <a:blip r:embed="rId2"/>
                <a:stretch>
                  <a:fillRect l="-1206" t="-9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1702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498909-3539-B0BA-C97F-BFB714C6D8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5191" y="536713"/>
                <a:ext cx="10568609" cy="56402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b="1" dirty="0"/>
                  <a:t>Making predictions</a:t>
                </a: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Our prediction function outputs an estimate of sales given a company’s radio advertising spend and our current values for </a:t>
                </a:r>
                <a:r>
                  <a:rPr lang="en-IN" i="1" dirty="0"/>
                  <a:t>Weight</a:t>
                </a:r>
                <a:r>
                  <a:rPr lang="en-IN" dirty="0"/>
                  <a:t> and </a:t>
                </a:r>
                <a:r>
                  <a:rPr lang="en-IN" i="1" dirty="0"/>
                  <a:t>Bias</a:t>
                </a:r>
                <a:r>
                  <a:rPr lang="en-IN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>
                          <a:latin typeface="Cambria Math" panose="02040503050406030204" pitchFamily="18" charset="0"/>
                        </a:rPr>
                        <m:t>𝑆𝑎𝑙𝑒𝑠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𝑊𝑒𝑖𝑔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𝑅𝑎𝑑𝑖𝑜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𝐵𝑖𝑎𝑠</m:t>
                      </m:r>
                    </m:oMath>
                  </m:oMathPara>
                </a14:m>
                <a:endParaRPr lang="en-IN" dirty="0"/>
              </a:p>
              <a:p>
                <a:pPr algn="just"/>
                <a:r>
                  <a:rPr lang="en-IN" sz="2400" b="1" dirty="0"/>
                  <a:t>Weight: </a:t>
                </a:r>
                <a:r>
                  <a:rPr lang="en-IN" sz="2400" dirty="0"/>
                  <a:t>the coefficient for the </a:t>
                </a:r>
                <a:r>
                  <a:rPr lang="en-IN" sz="2400" b="1" dirty="0"/>
                  <a:t>Radio</a:t>
                </a:r>
                <a:r>
                  <a:rPr lang="en-IN" sz="2400" dirty="0"/>
                  <a:t> independent variable. In machine learning, we call the coefficients </a:t>
                </a:r>
                <a:r>
                  <a:rPr lang="en-IN" sz="2400" i="1" dirty="0"/>
                  <a:t>weights</a:t>
                </a:r>
                <a:r>
                  <a:rPr lang="en-IN" sz="2400" dirty="0"/>
                  <a:t>.</a:t>
                </a:r>
              </a:p>
              <a:p>
                <a:pPr algn="just"/>
                <a:r>
                  <a:rPr lang="en-IN" sz="2400" b="1" dirty="0"/>
                  <a:t>Radio: </a:t>
                </a:r>
                <a:r>
                  <a:rPr lang="en-IN" sz="2400" dirty="0"/>
                  <a:t>the independent variable. In machine learning, we call these variables </a:t>
                </a:r>
                <a:r>
                  <a:rPr lang="en-IN" sz="2400" i="1" dirty="0"/>
                  <a:t>features</a:t>
                </a:r>
                <a:r>
                  <a:rPr lang="en-IN" sz="2400" dirty="0"/>
                  <a:t>.</a:t>
                </a:r>
              </a:p>
              <a:p>
                <a:pPr algn="just"/>
                <a:r>
                  <a:rPr lang="en-IN" sz="2400" b="1" dirty="0"/>
                  <a:t>Bias: </a:t>
                </a:r>
                <a:r>
                  <a:rPr lang="en-IN" sz="2400" dirty="0"/>
                  <a:t>the intercept where our line intercepts the y-axis. In machine learning, we can call intercepts </a:t>
                </a:r>
                <a:r>
                  <a:rPr lang="en-IN" sz="2400" i="1" dirty="0"/>
                  <a:t>bias</a:t>
                </a:r>
                <a:r>
                  <a:rPr lang="en-IN" sz="2400" dirty="0"/>
                  <a:t>. Bias offsets all predictions that we make.</a:t>
                </a:r>
              </a:p>
              <a:p>
                <a:pPr marL="0" indent="0">
                  <a:buNone/>
                </a:pPr>
                <a:r>
                  <a:rPr lang="en-IN" dirty="0"/>
                  <a:t>Our algorithm will try to </a:t>
                </a:r>
                <a:r>
                  <a:rPr lang="en-IN" i="1" dirty="0"/>
                  <a:t>learn</a:t>
                </a:r>
                <a:r>
                  <a:rPr lang="en-IN" dirty="0"/>
                  <a:t> the correct values for </a:t>
                </a:r>
                <a:r>
                  <a:rPr lang="en-IN" b="1" dirty="0"/>
                  <a:t>Weight</a:t>
                </a:r>
                <a:r>
                  <a:rPr lang="en-IN" dirty="0"/>
                  <a:t> and </a:t>
                </a:r>
                <a:r>
                  <a:rPr lang="en-IN" b="1" dirty="0"/>
                  <a:t>Bias</a:t>
                </a:r>
                <a:r>
                  <a:rPr lang="en-IN" dirty="0"/>
                  <a:t>. By the end of our training, our equation will approximate the </a:t>
                </a:r>
                <a:r>
                  <a:rPr lang="en-IN" i="1" dirty="0"/>
                  <a:t>line of best fit</a:t>
                </a:r>
                <a:r>
                  <a:rPr lang="en-IN" dirty="0"/>
                  <a:t>.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498909-3539-B0BA-C97F-BFB714C6D8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5191" y="536713"/>
                <a:ext cx="10568609" cy="5640250"/>
              </a:xfrm>
              <a:blipFill>
                <a:blip r:embed="rId2"/>
                <a:stretch>
                  <a:fillRect l="-1211" t="-1730" r="-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0264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278B0B-4E85-3642-066B-D62D6ADC9F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4642" y="533537"/>
                <a:ext cx="10783957" cy="5887141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IN" sz="2600" b="1" dirty="0"/>
                  <a:t>Step 1: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6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26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l-GR" sz="2600" i="1" dirty="0">
                          <a:latin typeface="Cambria Math" panose="02040503050406030204" pitchFamily="18" charset="0"/>
                        </a:rPr>
                        <m:t>​+</m:t>
                      </m:r>
                      <m:r>
                        <a:rPr lang="en-US" sz="2600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l-GR" sz="2600" i="1" dirty="0"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IN" sz="26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26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600" dirty="0"/>
              </a:p>
              <a:p>
                <a:pPr marL="0" indent="0">
                  <a:buNone/>
                </a:pPr>
                <a:r>
                  <a:rPr lang="en-IN" sz="2600" dirty="0"/>
                  <a:t>We need to find</a:t>
                </a:r>
                <a14:m>
                  <m:oMath xmlns:m="http://schemas.openxmlformats.org/officeDocument/2006/math">
                    <m:r>
                      <a:rPr lang="en-US" sz="26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600" dirty="0"/>
                  <a:t> (</a:t>
                </a:r>
                <a:r>
                  <a:rPr lang="en-IN" sz="2600" dirty="0"/>
                  <a:t>intercept)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sz="2600" dirty="0"/>
                  <a:t>slope).</a:t>
                </a:r>
              </a:p>
              <a:p>
                <a:pPr marL="0" indent="0">
                  <a:buNone/>
                </a:pPr>
                <a:r>
                  <a:rPr lang="en-IN" sz="2600" b="1" dirty="0"/>
                  <a:t>Step 2: Calculate Means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  <m:r>
                        <a:rPr lang="ar-AE" sz="2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37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39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45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41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ar-AE" sz="2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41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075</m:t>
                      </m:r>
                    </m:oMath>
                  </m:oMathPara>
                </a14:m>
                <a:endParaRPr lang="en-US" sz="2600" dirty="0"/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acc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22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18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18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ar-AE" sz="2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17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325</m:t>
                      </m:r>
                    </m:oMath>
                  </m:oMathPara>
                </a14:m>
                <a:endParaRPr lang="ar-AE" sz="2600" dirty="0"/>
              </a:p>
              <a:p>
                <a:pPr marL="0" indent="0">
                  <a:buNone/>
                </a:pPr>
                <a:r>
                  <a:rPr lang="en-IN" sz="2600" b="1" dirty="0"/>
                  <a:t>Step 3: Calculate Slope (w)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l-GR" sz="2400" i="1" dirty="0" smtClean="0">
                          <a:latin typeface="Cambria Math" panose="02040503050406030204" pitchFamily="18" charset="0"/>
                        </a:rPr>
                        <m:t>​=</m:t>
                      </m:r>
                      <m:f>
                        <m:fPr>
                          <m:ctrlPr>
                            <a:rPr lang="el-GR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 dirty="0">
                              <a:latin typeface="Cambria Math" panose="02040503050406030204" pitchFamily="18" charset="0"/>
                            </a:rPr>
                            <m:t>∑(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2400" i="1" dirty="0">
                              <a:latin typeface="Cambria Math" panose="02040503050406030204" pitchFamily="18" charset="0"/>
                            </a:rPr>
                            <m:t>​−</m:t>
                          </m:r>
                          <m:acc>
                            <m:accPr>
                              <m:chr m:val="̅"/>
                              <m:ctrlPr>
                                <a:rPr lang="ar-AE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  <m:r>
                            <a:rPr lang="en-IN" sz="2400" i="1" dirty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 dirty="0" err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2400" i="1" dirty="0" err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2400" i="1" dirty="0">
                              <a:latin typeface="Cambria Math" panose="02040503050406030204" pitchFamily="18" charset="0"/>
                            </a:rPr>
                            <m:t>​−</m:t>
                          </m:r>
                          <m:acc>
                            <m:accPr>
                              <m:chr m:val="̅"/>
                              <m:ctrlPr>
                                <a:rPr lang="ar-AE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</m:acc>
                          <m:r>
                            <a:rPr lang="en-IN" sz="2400" i="1" dirty="0">
                              <a:latin typeface="Cambria Math" panose="02040503050406030204" pitchFamily="18" charset="0"/>
                            </a:rPr>
                            <m:t>​)</m:t>
                          </m:r>
                        </m:num>
                        <m:den>
                          <m:r>
                            <a:rPr lang="el-GR" sz="2400" i="1" dirty="0">
                              <a:latin typeface="Cambria Math" panose="02040503050406030204" pitchFamily="18" charset="0"/>
                            </a:rPr>
                            <m:t>∑</m:t>
                          </m:r>
                          <m:sSup>
                            <m:s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l-GR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24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  <m:t>​−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ar-AE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400" i="1" dirty="0">
                              <a:latin typeface="Cambria Math" panose="02040503050406030204" pitchFamily="18" charset="0"/>
                            </a:rPr>
                            <m:t>​ </m:t>
                          </m:r>
                          <m:r>
                            <m:rPr>
                              <m:nor/>
                            </m:rPr>
                            <a:rPr lang="en-IN" sz="2400" dirty="0"/>
                            <m:t> </m:t>
                          </m:r>
                        </m:den>
                      </m:f>
                    </m:oMath>
                  </m:oMathPara>
                </a14:m>
                <a:endParaRPr lang="ar-AE" sz="2600" b="1" dirty="0"/>
              </a:p>
              <a:p>
                <a:pPr marL="0" indent="0">
                  <a:buNone/>
                </a:pPr>
                <a:endParaRPr lang="en-IN" sz="2600" dirty="0"/>
              </a:p>
              <a:p>
                <a:pPr marL="0" indent="0">
                  <a:buNone/>
                </a:pPr>
                <a:r>
                  <a:rPr lang="en-IN" sz="2600" dirty="0"/>
                  <a:t>For Amazon: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37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41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075</m:t>
                        </m:r>
                      </m:e>
                    </m:d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325</m:t>
                        </m:r>
                      </m:e>
                    </m:d>
                    <m:r>
                      <a:rPr lang="ar-AE" sz="2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275</m:t>
                        </m:r>
                      </m:e>
                    </m:d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775</m:t>
                        </m:r>
                      </m:e>
                    </m:d>
                    <m:r>
                      <a:rPr lang="ar-AE" sz="2600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sz="2600">
                        <a:latin typeface="Cambria Math" panose="02040503050406030204" pitchFamily="18" charset="0"/>
                      </a:rPr>
                      <m:t>15</m:t>
                    </m:r>
                    <m:r>
                      <a:rPr lang="ar-AE" sz="26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600">
                        <a:latin typeface="Cambria Math" panose="02040503050406030204" pitchFamily="18" charset="0"/>
                      </a:rPr>
                      <m:t>645</m:t>
                    </m:r>
                  </m:oMath>
                </a14:m>
                <a:endParaRPr lang="ar-AE" sz="2600" dirty="0"/>
              </a:p>
              <a:p>
                <a:pPr marL="0" indent="0">
                  <a:buNone/>
                </a:pPr>
                <a:r>
                  <a:rPr lang="en-IN" sz="2600" dirty="0"/>
                  <a:t>For Google: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39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41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075</m:t>
                        </m:r>
                      </m:e>
                    </m:d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325</m:t>
                        </m:r>
                      </m:e>
                    </m:d>
                    <m:r>
                      <a:rPr lang="ar-AE" sz="2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775</m:t>
                        </m:r>
                      </m:e>
                    </m:d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925</m:t>
                        </m:r>
                      </m:e>
                    </m:d>
                    <m:r>
                      <a:rPr lang="ar-AE" sz="26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600">
                        <a:latin typeface="Cambria Math" panose="02040503050406030204" pitchFamily="18" charset="0"/>
                      </a:rPr>
                      <m:t>12</m:t>
                    </m:r>
                    <m:r>
                      <a:rPr lang="ar-AE" sz="26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600">
                        <a:latin typeface="Cambria Math" panose="02040503050406030204" pitchFamily="18" charset="0"/>
                      </a:rPr>
                      <m:t>293</m:t>
                    </m:r>
                  </m:oMath>
                </a14:m>
                <a:endParaRPr lang="ar-AE" sz="2600" dirty="0"/>
              </a:p>
              <a:p>
                <a:pPr marL="0" indent="0">
                  <a:buNone/>
                </a:pPr>
                <a:r>
                  <a:rPr lang="en-IN" sz="2600" dirty="0"/>
                  <a:t>For Facebook: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45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41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075</m:t>
                        </m:r>
                      </m:e>
                    </m:d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325</m:t>
                        </m:r>
                      </m:e>
                    </m:d>
                    <m:r>
                      <a:rPr lang="ar-AE" sz="2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825</m:t>
                        </m:r>
                      </m:e>
                    </m:d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975</m:t>
                        </m:r>
                      </m:e>
                    </m:d>
                    <m:r>
                      <a:rPr lang="ar-AE" sz="26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600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 sz="26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600">
                        <a:latin typeface="Cambria Math" panose="02040503050406030204" pitchFamily="18" charset="0"/>
                      </a:rPr>
                      <m:t>703</m:t>
                    </m:r>
                  </m:oMath>
                </a14:m>
                <a:endParaRPr lang="ar-AE" sz="2600" dirty="0"/>
              </a:p>
              <a:p>
                <a:pPr marL="0" indent="0">
                  <a:buNone/>
                </a:pPr>
                <a:r>
                  <a:rPr lang="en-IN" sz="2600" dirty="0"/>
                  <a:t>For Apple: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41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41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075</m:t>
                        </m:r>
                      </m:e>
                    </m:d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325</m:t>
                        </m:r>
                      </m:e>
                    </m:d>
                    <m:r>
                      <a:rPr lang="ar-AE" sz="2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225</m:t>
                        </m:r>
                      </m:e>
                    </m:d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175</m:t>
                        </m:r>
                      </m:e>
                    </m:d>
                    <m:r>
                      <a:rPr lang="ar-AE" sz="26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6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6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600">
                        <a:latin typeface="Cambria Math" panose="02040503050406030204" pitchFamily="18" charset="0"/>
                      </a:rPr>
                      <m:t>264</m:t>
                    </m:r>
                  </m:oMath>
                </a14:m>
                <a:endParaRPr lang="en-US" sz="2600" dirty="0"/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600"/>
                        <m:t>Numerator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645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293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703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264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61</m:t>
                      </m:r>
                    </m:oMath>
                  </m:oMathPara>
                </a14:m>
                <a:endParaRPr lang="en-IN" sz="2600" dirty="0"/>
              </a:p>
              <a:p>
                <a:pPr marL="0" indent="0">
                  <a:buNone/>
                </a:pPr>
                <a:r>
                  <a:rPr lang="en-IN" sz="2600" dirty="0"/>
                  <a:t>Denominator</a:t>
                </a:r>
                <a14:m>
                  <m:oMath xmlns:m="http://schemas.openxmlformats.org/officeDocument/2006/math">
                    <m:r>
                      <a:rPr lang="en-IN" sz="260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37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41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075</m:t>
                            </m:r>
                          </m:e>
                        </m:d>
                      </m:e>
                      <m:sup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60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2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 dirty="0">
                                <a:latin typeface="Cambria Math" panose="02040503050406030204" pitchFamily="18" charset="0"/>
                              </a:rPr>
                              <m:t>39</m:t>
                            </m:r>
                            <m:r>
                              <a:rPr lang="en-IN" sz="2600" i="1" dirty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IN" sz="26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6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600" i="1" dirty="0">
                                <a:latin typeface="Cambria Math" panose="02040503050406030204" pitchFamily="18" charset="0"/>
                              </a:rPr>
                              <m:t>41</m:t>
                            </m:r>
                            <m:r>
                              <a:rPr lang="en-IN" sz="2600" i="1" dirty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IN" sz="2600" i="1" dirty="0">
                                <a:latin typeface="Cambria Math" panose="02040503050406030204" pitchFamily="18" charset="0"/>
                              </a:rPr>
                              <m:t>075</m:t>
                            </m:r>
                          </m:e>
                        </m:d>
                      </m:e>
                      <m:sup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60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45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41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075</m:t>
                            </m:r>
                          </m:e>
                        </m:d>
                      </m:e>
                      <m:sup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600" i="1" dirty="0" smtClean="0">
                        <a:latin typeface="Cambria Math" panose="02040503050406030204" pitchFamily="18" charset="0"/>
                      </a:rPr>
                      <m:t> +</m:t>
                    </m:r>
                    <m:sSup>
                      <m:sSup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41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41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075</m:t>
                            </m:r>
                          </m:e>
                        </m:d>
                      </m:e>
                      <m:sup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6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600" dirty="0"/>
              </a:p>
              <a:p>
                <a:pPr marL="0" indent="0">
                  <a:buNone/>
                </a:pPr>
                <a:r>
                  <a:rPr lang="en-IN" sz="2600" dirty="0"/>
                  <a:t>= </a:t>
                </a:r>
                <a14:m>
                  <m:oMath xmlns:m="http://schemas.openxmlformats.org/officeDocument/2006/math">
                    <m:r>
                      <a:rPr lang="en-IN" sz="260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726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151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23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280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051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37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208</m:t>
                    </m:r>
                  </m:oMath>
                </a14:m>
                <a:endParaRPr lang="en-IN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615</m:t>
                          </m:r>
                        </m:num>
                        <m:den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37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208</m:t>
                          </m:r>
                        </m:den>
                      </m:f>
                      <m:r>
                        <a:rPr lang="ar-AE" sz="260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0434</m:t>
                      </m:r>
                    </m:oMath>
                  </m:oMathPara>
                </a14:m>
                <a:endParaRPr lang="en-US" sz="2600" dirty="0"/>
              </a:p>
              <a:p>
                <a:pPr marL="0" indent="0">
                  <a:buNone/>
                </a:pPr>
                <a:endParaRPr lang="en-IN" sz="2600" dirty="0"/>
              </a:p>
              <a:p>
                <a:pPr marL="0" indent="0">
                  <a:buNone/>
                </a:pPr>
                <a:endParaRPr lang="en-IN" sz="1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278B0B-4E85-3642-066B-D62D6ADC9F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4642" y="533537"/>
                <a:ext cx="10783957" cy="5887141"/>
              </a:xfrm>
              <a:blipFill>
                <a:blip r:embed="rId2"/>
                <a:stretch>
                  <a:fillRect l="-170" t="-1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6359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B9AC97-A9B9-7DB2-BECD-E0D8FC30C3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9889" y="-177181"/>
                <a:ext cx="10648122" cy="5461346"/>
              </a:xfrm>
            </p:spPr>
            <p:txBody>
              <a:bodyPr>
                <a:normAutofit/>
              </a:bodyPr>
              <a:lstStyle/>
              <a:p>
                <a:r>
                  <a:rPr lang="en-IN" sz="2000" b="1" dirty="0"/>
                  <a:t>Step 4: Calculate Intercept b</a:t>
                </a:r>
                <a:endParaRPr lang="ar-AE" sz="2000" b="1" dirty="0"/>
              </a:p>
              <a:p>
                <a:pPr marL="0" indent="0">
                  <a:buNone/>
                </a:pPr>
                <a:r>
                  <a:rPr lang="en-US" sz="2000" b="0" i="1" dirty="0">
                    <a:latin typeface="Cambria Math" panose="02040503050406030204" pitchFamily="18" charset="0"/>
                  </a:rPr>
                  <a:t>					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ar-AE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  <m:r>
                      <a:rPr lang="ar-AE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acc>
                      <m:accPr>
                        <m:chr m:val="̅"/>
                        <m:ctrlPr>
                          <a:rPr lang="ar-AE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</m:oMath>
                </a14:m>
                <a:endParaRPr lang="ar-AE" sz="2000" dirty="0"/>
              </a:p>
              <a:p>
                <a:pPr marL="0" indent="0">
                  <a:buNone/>
                </a:pPr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17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325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0434</m:t>
                          </m:r>
                        </m:e>
                      </m:d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41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075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54</m:t>
                      </m:r>
                    </m:oMath>
                  </m:oMathPara>
                </a14:m>
                <a:endParaRPr lang="ar-AE" sz="2000" dirty="0"/>
              </a:p>
              <a:p>
                <a:r>
                  <a:rPr lang="en-IN" sz="2000" b="1" dirty="0"/>
                  <a:t>Final Regression Equation: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IN" sz="20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54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0434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br>
                  <a:rPr lang="ar-AE" sz="2000" dirty="0"/>
                </a:br>
                <a:endParaRPr lang="ar-AE" sz="2000" dirty="0"/>
              </a:p>
              <a:p>
                <a:r>
                  <a:rPr lang="en-IN" sz="2000" b="1" dirty="0"/>
                  <a:t>Step 5: Prediction Example</a:t>
                </a:r>
              </a:p>
              <a:p>
                <a:pPr marL="0" indent="0">
                  <a:buNone/>
                </a:pPr>
                <a:r>
                  <a:rPr lang="en-IN" sz="2000" dirty="0"/>
                  <a:t>If a company spends </a:t>
                </a:r>
                <a:r>
                  <a:rPr lang="en-IN" sz="2000" b="1" dirty="0"/>
                  <a:t>$50</a:t>
                </a:r>
                <a:r>
                  <a:rPr lang="en-IN" sz="2000" dirty="0"/>
                  <a:t> on radio ads: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54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0434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17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71</m:t>
                      </m:r>
                    </m:oMath>
                  </m:oMathPara>
                </a14:m>
                <a:endParaRPr lang="ar-AE" sz="2000" dirty="0"/>
              </a:p>
              <a:p>
                <a:pPr marL="0" indent="0">
                  <a:buNone/>
                </a:pPr>
                <a:r>
                  <a:rPr lang="en-IN" sz="2000" dirty="0"/>
                  <a:t>So, predicted sales ≈ </a:t>
                </a:r>
                <a:r>
                  <a:rPr lang="en-IN" sz="2000" b="1" dirty="0"/>
                  <a:t>17.7 units</a:t>
                </a:r>
                <a:r>
                  <a:rPr lang="en-IN" sz="2000" dirty="0"/>
                  <a:t>.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B9AC97-A9B9-7DB2-BECD-E0D8FC30C3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9889" y="-177181"/>
                <a:ext cx="10648122" cy="5461346"/>
              </a:xfrm>
              <a:blipFill>
                <a:blip r:embed="rId2"/>
                <a:stretch>
                  <a:fillRect l="-572" t="-12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DF3EA41-54CF-4150-DF32-164430D504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2859" y="3497138"/>
            <a:ext cx="3890903" cy="2554633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3660999-57C7-834E-5C01-BF075E3FB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877366"/>
              </p:ext>
            </p:extLst>
          </p:nvPr>
        </p:nvGraphicFramePr>
        <p:xfrm>
          <a:off x="491455" y="4184055"/>
          <a:ext cx="5479773" cy="2200220"/>
        </p:xfrm>
        <a:graphic>
          <a:graphicData uri="http://schemas.openxmlformats.org/drawingml/2006/table">
            <a:tbl>
              <a:tblPr/>
              <a:tblGrid>
                <a:gridCol w="1163846">
                  <a:extLst>
                    <a:ext uri="{9D8B030D-6E8A-4147-A177-3AD203B41FA5}">
                      <a16:colId xmlns:a16="http://schemas.microsoft.com/office/drawing/2014/main" val="509403429"/>
                    </a:ext>
                  </a:extLst>
                </a:gridCol>
                <a:gridCol w="1163846">
                  <a:extLst>
                    <a:ext uri="{9D8B030D-6E8A-4147-A177-3AD203B41FA5}">
                      <a16:colId xmlns:a16="http://schemas.microsoft.com/office/drawing/2014/main" val="3364281740"/>
                    </a:ext>
                  </a:extLst>
                </a:gridCol>
                <a:gridCol w="1406313">
                  <a:extLst>
                    <a:ext uri="{9D8B030D-6E8A-4147-A177-3AD203B41FA5}">
                      <a16:colId xmlns:a16="http://schemas.microsoft.com/office/drawing/2014/main" val="963615844"/>
                    </a:ext>
                  </a:extLst>
                </a:gridCol>
                <a:gridCol w="1745768">
                  <a:extLst>
                    <a:ext uri="{9D8B030D-6E8A-4147-A177-3AD203B41FA5}">
                      <a16:colId xmlns:a16="http://schemas.microsoft.com/office/drawing/2014/main" val="1164038162"/>
                    </a:ext>
                  </a:extLst>
                </a:gridCol>
              </a:tblGrid>
              <a:tr h="82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Company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Radio ($)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Actual Sales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Predicted Sales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744062"/>
                  </a:ext>
                </a:extLst>
              </a:tr>
              <a:tr h="4719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Amazon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17.182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023464"/>
                  </a:ext>
                </a:extLst>
              </a:tr>
              <a:tr h="4719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39.3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17.248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513906"/>
                  </a:ext>
                </a:extLst>
              </a:tr>
              <a:tr h="4719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Facebook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17.535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16700"/>
                  </a:ext>
                </a:extLst>
              </a:tr>
              <a:tr h="4719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17.335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1504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625285-0A56-7563-CC25-CD169B0E6256}"/>
                  </a:ext>
                </a:extLst>
              </p:cNvPr>
              <p:cNvSpPr txBox="1"/>
              <p:nvPr/>
            </p:nvSpPr>
            <p:spPr>
              <a:xfrm>
                <a:off x="8070011" y="6141804"/>
                <a:ext cx="2796601" cy="484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nn-NO" dirty="0">
                    <a:solidFill>
                      <a:srgbClr val="FF0000"/>
                    </a:solidFill>
                  </a:rPr>
                  <a:t>MSE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n-NO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nn-NO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nn-NO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nor/>
                          </m:rPr>
                          <a:rPr lang="nn-NO" dirty="0">
                            <a:solidFill>
                              <a:srgbClr val="FF0000"/>
                            </a:solidFill>
                          </a:rPr>
                          <m:t>​</m:t>
                        </m:r>
                      </m:e>
                    </m:nary>
                    <m:sSup>
                      <m:sSup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acc>
                              <m:accPr>
                                <m:chr m:val="̂"/>
                                <m:ctrlPr>
                                  <a:rPr lang="ar-AE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625285-0A56-7563-CC25-CD169B0E6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0011" y="6141804"/>
                <a:ext cx="2796601" cy="484941"/>
              </a:xfrm>
              <a:prstGeom prst="rect">
                <a:avLst/>
              </a:prstGeom>
              <a:blipFill>
                <a:blip r:embed="rId4"/>
                <a:stretch>
                  <a:fillRect l="-1961" t="-79747" r="-1089" b="-1316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7303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CFDA-0348-8C04-CC18-055193500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844FE-6DBE-9B9A-945B-E3E782B4F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x_i</a:t>
            </a:r>
            <a:r>
              <a:rPr lang="en-US" dirty="0"/>
              <a:t> and </a:t>
            </a:r>
            <a:r>
              <a:rPr lang="en-US" dirty="0" err="1"/>
              <a:t>y_i</a:t>
            </a:r>
            <a:r>
              <a:rPr lang="en-US" dirty="0"/>
              <a:t> (for all </a:t>
            </a:r>
            <a:r>
              <a:rPr lang="en-US" dirty="0" err="1"/>
              <a:t>i</a:t>
            </a:r>
            <a:r>
              <a:rPr lang="en-US" dirty="0"/>
              <a:t>) -&gt; Training dataset</a:t>
            </a:r>
          </a:p>
          <a:p>
            <a:r>
              <a:rPr lang="en-US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y_hat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= w . </a:t>
            </a:r>
            <a:r>
              <a:rPr lang="en-US" b="1" dirty="0" err="1"/>
              <a:t>x_i</a:t>
            </a:r>
            <a:r>
              <a:rPr lang="en-US" b="1" dirty="0"/>
              <a:t>+ b</a:t>
            </a:r>
          </a:p>
          <a:p>
            <a:r>
              <a:rPr lang="en-US" b="1" dirty="0"/>
              <a:t>Random values of w and b </a:t>
            </a:r>
          </a:p>
          <a:p>
            <a:r>
              <a:rPr lang="en-US" b="1" dirty="0"/>
              <a:t>w= 0.2 and b = .4  </a:t>
            </a:r>
            <a:r>
              <a:rPr lang="en-US" b="1" dirty="0">
                <a:sym typeface="Wingdings" panose="05000000000000000000" pitchFamily="2" charset="2"/>
              </a:rPr>
              <a:t> w = 1 and b =.1</a:t>
            </a:r>
            <a:endParaRPr lang="en-US" b="1" dirty="0"/>
          </a:p>
          <a:p>
            <a:r>
              <a:rPr lang="en-US" b="1" dirty="0" err="1"/>
              <a:t>x_i</a:t>
            </a:r>
            <a:r>
              <a:rPr lang="en-US" b="1" dirty="0"/>
              <a:t> = 4 and </a:t>
            </a:r>
            <a:r>
              <a:rPr lang="en-US" b="1" dirty="0" err="1"/>
              <a:t>y_i</a:t>
            </a:r>
            <a:r>
              <a:rPr lang="en-US" b="1" dirty="0"/>
              <a:t> = 5 ( training dataset)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y_hat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= 0.2*4+0.4 = 1.2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Error =   1/n [sum over n (</a:t>
            </a:r>
            <a:r>
              <a:rPr lang="en-US" b="1" dirty="0" err="1">
                <a:solidFill>
                  <a:srgbClr val="FF0000"/>
                </a:solidFill>
              </a:rPr>
              <a:t>y_hat</a:t>
            </a:r>
            <a:r>
              <a:rPr lang="en-US" b="1" dirty="0">
                <a:solidFill>
                  <a:srgbClr val="FF0000"/>
                </a:solidFill>
              </a:rPr>
              <a:t> - </a:t>
            </a:r>
            <a:r>
              <a:rPr lang="en-US" b="1" dirty="0" err="1"/>
              <a:t>y_i</a:t>
            </a:r>
            <a:r>
              <a:rPr lang="en-US" b="1" dirty="0"/>
              <a:t>)^2] = 3.8</a:t>
            </a:r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04579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848</Words>
  <Application>Microsoft Office PowerPoint</Application>
  <PresentationFormat>Widescreen</PresentationFormat>
  <Paragraphs>107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Candara</vt:lpstr>
      <vt:lpstr>Times New Roman</vt:lpstr>
      <vt:lpstr>Wingdings</vt:lpstr>
      <vt:lpstr>Office Theme</vt:lpstr>
      <vt:lpstr>Linear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Anugya Shukla</dc:creator>
  <cp:lastModifiedBy>Sidharth Sharma</cp:lastModifiedBy>
  <cp:revision>38</cp:revision>
  <dcterms:created xsi:type="dcterms:W3CDTF">2025-09-17T10:53:19Z</dcterms:created>
  <dcterms:modified xsi:type="dcterms:W3CDTF">2025-09-17T15:32:36Z</dcterms:modified>
</cp:coreProperties>
</file>