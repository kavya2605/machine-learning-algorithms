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68" r:id="rId4"/>
    <p:sldId id="269" r:id="rId5"/>
    <p:sldId id="257" r:id="rId6"/>
    <p:sldId id="265" r:id="rId7"/>
    <p:sldId id="258" r:id="rId8"/>
    <p:sldId id="273" r:id="rId9"/>
    <p:sldId id="263" r:id="rId10"/>
    <p:sldId id="266" r:id="rId11"/>
    <p:sldId id="270" r:id="rId12"/>
    <p:sldId id="271" r:id="rId13"/>
    <p:sldId id="272" r:id="rId14"/>
    <p:sldId id="259" r:id="rId15"/>
    <p:sldId id="260" r:id="rId16"/>
    <p:sldId id="261" r:id="rId17"/>
    <p:sldId id="262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22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BA7C8-1B0A-4A7B-B43B-49A4AF0C60D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A57C1-CC16-4917-BE00-4D957A26B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50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A57C1-CC16-4917-BE00-4D957A26B1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49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K-Means &amp; Unsupervised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Centroid-based clustering, Inertia, Silhouette Score, and Cluster Interpretation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64A1-C94A-E817-A2D2-058577EF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61D4A-9562-28D4-9332-BC8704B0A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Types:-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Association Rule Mining</a:t>
            </a:r>
          </a:p>
          <a:p>
            <a:r>
              <a:rPr lang="en-US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160715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45F6-D2BF-A6ED-E3D7-0D9B946EB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184648"/>
          </a:xfrm>
        </p:spPr>
        <p:txBody>
          <a:bodyPr>
            <a:normAutofit fontScale="92500"/>
          </a:bodyPr>
          <a:lstStyle/>
          <a:p>
            <a:r>
              <a:rPr lang="en-US" dirty="0"/>
              <a:t>Clustering is a technique for exploring raw unlabeled data and breaking it down into groups or clusters based on similarities or differences.</a:t>
            </a:r>
          </a:p>
          <a:p>
            <a:r>
              <a:rPr lang="en-US" dirty="0"/>
              <a:t>Organizing data into clusters such that there is high intra cluster similarity there is low inter cluster similarity.</a:t>
            </a:r>
          </a:p>
          <a:p>
            <a:pPr marL="0" indent="0">
              <a:buNone/>
            </a:pPr>
            <a:r>
              <a:rPr lang="en-IN" dirty="0"/>
              <a:t>Ex:- Rose, marigold, Neem, Tulsi, mango, Grapes, mint.</a:t>
            </a:r>
          </a:p>
          <a:p>
            <a:pPr marL="0" indent="0">
              <a:buNone/>
            </a:pPr>
            <a:r>
              <a:rPr lang="en-IN" dirty="0"/>
              <a:t>	(1) Rose, marigold | Neem, Tulsi, mint | </a:t>
            </a:r>
            <a:r>
              <a:rPr lang="en-IN" dirty="0" err="1"/>
              <a:t>Mango,Grapes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(2) Rose, marigold | Neem, Tulsi, mint mango, Grapes</a:t>
            </a:r>
          </a:p>
          <a:p>
            <a:pPr marL="0" indent="0">
              <a:buNone/>
            </a:pPr>
            <a:r>
              <a:rPr lang="en-IN" dirty="0"/>
              <a:t>NOTE:- Clustering is subjective.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07D978-FC3F-1F21-B57D-2EB6E3D6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dirty="0"/>
              <a:t>What is Clustering?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7541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4233-A66A-07DE-DBB8-30BF9DE0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Clustering Algo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79DBB-BB0B-EB66-9484-D03C3216F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27" y="1600200"/>
            <a:ext cx="8502073" cy="498316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1)</a:t>
            </a:r>
            <a:r>
              <a:rPr lang="en-US" dirty="0"/>
              <a:t> Centroid based/ partition based - K means </a:t>
            </a:r>
          </a:p>
          <a:p>
            <a:pPr marL="0" indent="0">
              <a:buNone/>
            </a:pPr>
            <a:r>
              <a:rPr lang="en-US" dirty="0"/>
              <a:t>2) Connectivity based- </a:t>
            </a:r>
            <a:r>
              <a:rPr lang="en-IN" dirty="0"/>
              <a:t>Hierarchical clustering</a:t>
            </a:r>
          </a:p>
          <a:p>
            <a:pPr marL="0" indent="0">
              <a:buNone/>
            </a:pPr>
            <a:r>
              <a:rPr lang="en-IN" dirty="0"/>
              <a:t>3) Sensity based -DBSCAN </a:t>
            </a:r>
          </a:p>
          <a:p>
            <a:pPr marL="0" indent="0">
              <a:buNone/>
            </a:pPr>
            <a:r>
              <a:rPr lang="en-IN" dirty="0"/>
              <a:t>4) Graph based - Affinity propagation  </a:t>
            </a:r>
          </a:p>
          <a:p>
            <a:pPr marL="0" indent="0">
              <a:buNone/>
            </a:pPr>
            <a:r>
              <a:rPr lang="en-IN"/>
              <a:t>5) </a:t>
            </a:r>
            <a:r>
              <a:rPr lang="en-IN" dirty="0"/>
              <a:t>Compression based - Spectral Clustering,  BIRCH</a:t>
            </a:r>
          </a:p>
        </p:txBody>
      </p:sp>
    </p:spTree>
    <p:extLst>
      <p:ext uri="{BB962C8B-B14F-4D97-AF65-F5344CB8AC3E}">
        <p14:creationId xmlns:p14="http://schemas.microsoft.com/office/powerpoint/2010/main" val="1792621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324" y="1335660"/>
            <a:ext cx="8531352" cy="535806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K-Means is an Unsupervised Machine Learning algorithm used for clustering.</a:t>
            </a:r>
          </a:p>
          <a:p>
            <a:pPr marL="0" indent="0">
              <a:buNone/>
            </a:pPr>
            <a:r>
              <a:rPr dirty="0"/>
              <a:t>• It groups data into K clusters based on feature similarity.</a:t>
            </a:r>
          </a:p>
          <a:p>
            <a:pPr marL="0" indent="0">
              <a:buNone/>
            </a:pPr>
            <a:r>
              <a:rPr dirty="0"/>
              <a:t>• Each cluster is represented by its centroid (mean position of all points in that cluster).</a:t>
            </a:r>
          </a:p>
          <a:p>
            <a:pPr marL="0" indent="0">
              <a:buNone/>
            </a:pPr>
            <a:r>
              <a:rPr dirty="0"/>
              <a:t>• The goal is to minimize the distance between points and their cluster’s centroid.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13BC-ECD9-4D0C-D19A-B145F75B4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CDB94-F6FD-B65B-5DBA-239FCAAE6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is a centroid based clustering algo where we calculate the distance b/w each datapoint and a centroid to assign it to a cluster. </a:t>
            </a:r>
          </a:p>
          <a:p>
            <a:r>
              <a:rPr lang="en-US" dirty="0"/>
              <a:t>The goal is to identify K-no. of groups (cluster) in the data set.</a:t>
            </a:r>
          </a:p>
          <a:p>
            <a:r>
              <a:rPr lang="en-US" dirty="0"/>
              <a:t>The name is K-means because it works on mean value and there are K such mean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18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057" y="95024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K-Means Algorithm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7457" y="1322614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en-US" sz="1600" b="1" dirty="0"/>
                  <a:t>1. Choose K:</a:t>
                </a:r>
                <a:br>
                  <a:rPr lang="en-US" sz="1600" dirty="0"/>
                </a:br>
                <a:r>
                  <a:rPr lang="en-US" sz="1600" dirty="0"/>
                  <a:t>Decide the number of clusters, </a:t>
                </a:r>
                <a14:m>
                  <m:oMath xmlns:m="http://schemas.openxmlformats.org/officeDocument/2006/math">
                    <m:r>
                      <a:rPr lang="en-US" sz="1600" i="1"/>
                      <m:t>𝐾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endParaRPr lang="en-US" sz="1600" b="1" dirty="0"/>
              </a:p>
              <a:p>
                <a:r>
                  <a:rPr lang="en-US" sz="1600" b="1" dirty="0"/>
                  <a:t>2. Initialize Centroids:</a:t>
                </a:r>
                <a:br>
                  <a:rPr lang="en-US" sz="1600" dirty="0"/>
                </a:br>
                <a:r>
                  <a:rPr lang="en-US" sz="1600" dirty="0"/>
                  <a:t>Randomly select </a:t>
                </a:r>
                <a14:m>
                  <m:oMath xmlns:m="http://schemas.openxmlformats.org/officeDocument/2006/math">
                    <m:r>
                      <a:rPr lang="en-US" sz="1600" i="1"/>
                      <m:t>𝐾</m:t>
                    </m:r>
                  </m:oMath>
                </a14:m>
                <a:r>
                  <a:rPr lang="en-US" sz="1600" dirty="0"/>
                  <a:t>distinct points from the dataset as the initial centroids.</a:t>
                </a:r>
                <a:br>
                  <a:rPr lang="en-US" sz="1600" dirty="0"/>
                </a:br>
                <a:endParaRPr lang="en-US" sz="1600" dirty="0"/>
              </a:p>
              <a:p>
                <a:r>
                  <a:rPr lang="en-US" sz="1600" b="1" dirty="0"/>
                  <a:t>3. Assign Points to Nearest Centroid (Assignment Step):</a:t>
                </a:r>
                <a:br>
                  <a:rPr lang="en-US" sz="1600" dirty="0"/>
                </a:br>
                <a:r>
                  <a:rPr lang="en-US" sz="1600" dirty="0"/>
                  <a:t>For each data point, compute its distance (usually Euclidean) to each centroid and assign it to the nearest one.</a:t>
                </a:r>
              </a:p>
              <a:p>
                <a:endParaRPr lang="en-US" sz="1600" b="1" dirty="0"/>
              </a:p>
              <a:p>
                <a:r>
                  <a:rPr lang="en-US" sz="1600" b="1" dirty="0"/>
                  <a:t>4. Update Centroids (Update Step):</a:t>
                </a:r>
                <a:br>
                  <a:rPr lang="en-US" sz="1600" dirty="0"/>
                </a:br>
                <a:r>
                  <a:rPr lang="en-US" sz="1600" dirty="0"/>
                  <a:t>Recalculate the centroid (mean position) of all points assigned to each cluster.</a:t>
                </a:r>
              </a:p>
              <a:p>
                <a:endParaRPr lang="en-US" sz="1600" b="1" dirty="0"/>
              </a:p>
              <a:p>
                <a:r>
                  <a:rPr lang="en-US" sz="1600" b="1" dirty="0"/>
                  <a:t>5. Check for Convergence:</a:t>
                </a:r>
                <a:endParaRPr lang="en-US" sz="1600" dirty="0"/>
              </a:p>
              <a:p>
                <a:pPr lvl="1"/>
                <a:r>
                  <a:rPr lang="en-US" sz="1600" dirty="0"/>
                  <a:t>If </a:t>
                </a:r>
                <a:r>
                  <a:rPr lang="en-US" sz="1600" b="1" dirty="0"/>
                  <a:t>centroids do not change</a:t>
                </a:r>
                <a:r>
                  <a:rPr lang="en-US" sz="1600" dirty="0"/>
                  <a:t> (or the change is below a small threshold ε), </a:t>
                </a:r>
                <a:r>
                  <a:rPr lang="en-US" sz="1600" b="1" dirty="0"/>
                  <a:t>stop</a:t>
                </a:r>
                <a:r>
                  <a:rPr lang="en-US" sz="1600" dirty="0"/>
                  <a:t>.</a:t>
                </a:r>
              </a:p>
              <a:p>
                <a:pPr lvl="1"/>
                <a:r>
                  <a:rPr lang="en-US" sz="1600" dirty="0"/>
                  <a:t>Otherwise, </a:t>
                </a:r>
                <a:r>
                  <a:rPr lang="en-US" sz="1600" b="1" dirty="0"/>
                  <a:t>repeat</a:t>
                </a:r>
                <a:r>
                  <a:rPr lang="en-US" sz="1600" dirty="0"/>
                  <a:t> steps 3–5.</a:t>
                </a:r>
              </a:p>
              <a:p>
                <a:r>
                  <a:rPr lang="en-US" sz="1600" b="1" dirty="0"/>
                  <a:t>6. Output:</a:t>
                </a:r>
                <a:endParaRPr lang="en-US" sz="1600" dirty="0"/>
              </a:p>
              <a:p>
                <a:pPr lvl="1"/>
                <a:r>
                  <a:rPr lang="en-US" sz="1600" dirty="0"/>
                  <a:t>Final centroids (cluster centers)</a:t>
                </a:r>
              </a:p>
              <a:p>
                <a:pPr lvl="1"/>
                <a:r>
                  <a:rPr lang="en-US" sz="1600" dirty="0"/>
                  <a:t>Cluster labels for all data points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457" y="1322614"/>
                <a:ext cx="8229600" cy="4525963"/>
              </a:xfrm>
              <a:blipFill>
                <a:blip r:embed="rId2"/>
                <a:stretch>
                  <a:fillRect l="-296" t="-404" r="-444" b="-19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84EE-3B65-B071-A36A-6E1E3EB9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Inference Means in Clustering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2A9567-B64D-7A5B-969D-F32E010731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In supervised learning, </a:t>
                </a:r>
                <a:r>
                  <a:rPr lang="en-US" i="1" dirty="0"/>
                  <a:t>inference</a:t>
                </a:r>
                <a:r>
                  <a:rPr lang="en-US" dirty="0"/>
                  <a:t> means </a:t>
                </a:r>
                <a:r>
                  <a:rPr lang="en-US" i="1" dirty="0"/>
                  <a:t>predicting a label or value</a:t>
                </a:r>
                <a:r>
                  <a:rPr lang="en-US" dirty="0"/>
                  <a:t> for a new input.</a:t>
                </a:r>
                <a:br>
                  <a:rPr lang="en-US" dirty="0"/>
                </a:br>
                <a:r>
                  <a:rPr lang="en-US" dirty="0"/>
                  <a:t>In clustering, inference means assigning a new, unseen data point to one of the learned clusters.</a:t>
                </a:r>
              </a:p>
              <a:p>
                <a:endParaRPr lang="en-US" dirty="0"/>
              </a:p>
              <a:p>
                <a:r>
                  <a:rPr lang="en-US" dirty="0"/>
                  <a:t>Example: K-Means inference:</a:t>
                </a:r>
              </a:p>
              <a:p>
                <a:r>
                  <a:rPr lang="en-US" dirty="0"/>
                  <a:t>You trained K-Means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You obtained 3 centroids: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b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b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en-US" dirty="0"/>
              </a:p>
              <a:p>
                <a:r>
                  <a:rPr lang="en-US" dirty="0"/>
                  <a:t>For a new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new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1"/>
                <a:r>
                  <a:rPr lang="en-US" dirty="0"/>
                  <a:t>Compute its distance to each centroid: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=∣∣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new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∣∣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Assign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new</m:t>
                        </m:r>
                      </m:sub>
                    </m:sSub>
                  </m:oMath>
                </a14:m>
                <a:r>
                  <a:rPr lang="en-US" dirty="0"/>
                  <a:t>to the nearest centroid (lowest distance).</a:t>
                </a:r>
                <a:br>
                  <a:rPr lang="en-US" dirty="0"/>
                </a:br>
                <a:r>
                  <a:rPr lang="en-US" dirty="0"/>
                  <a:t>→ That is its predicted cluster.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2A9567-B64D-7A5B-969D-F32E01073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187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Advantages of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Simple and fast to compute.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Works well with large datasets.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Easy to interpret and visualize.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04FD-489D-D8D4-A836-4C8469ED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K-means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FB56E-E778-A9C0-A667-A7E80129D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Where there are outliers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does not perform well when there is not an appropriate dataset. Struggles with non-spherical clusters or varying densities.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Must specify K in advance.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Sensitive to initial centroid placement.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934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FB0BD-09D5-6E88-939C-D17FACAF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A52DE-7B1E-F24E-54B7-5550F423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given 6 2-D data points. </a:t>
            </a:r>
          </a:p>
          <a:p>
            <a:r>
              <a:rPr lang="en-US" dirty="0"/>
              <a:t>Cluster them into 2 groups using K-means clustering. </a:t>
            </a:r>
          </a:p>
          <a:p>
            <a:r>
              <a:rPr lang="en-US" dirty="0"/>
              <a:t>Use distance measure as Euclidean distance. Assume P2 and P6 as Initial cluster centers.</a:t>
            </a:r>
          </a:p>
          <a:p>
            <a:r>
              <a:rPr lang="en-US" dirty="0"/>
              <a:t>The points are </a:t>
            </a:r>
          </a:p>
          <a:p>
            <a:pPr marL="0" indent="0">
              <a:buNone/>
            </a:pPr>
            <a:r>
              <a:rPr lang="en-US" dirty="0"/>
              <a:t>P1 (0, 0), P2 (0, 1), P3 (1, 0), P4(5, 0), P5 (6, 0), and P6 (6, 1).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9775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AB8FF0-6E01-BD76-5FC7-389D0ECC26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313625"/>
              </p:ext>
            </p:extLst>
          </p:nvPr>
        </p:nvGraphicFramePr>
        <p:xfrm>
          <a:off x="457200" y="1112732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40781881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7668827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34385702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547967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Distance to P₂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Distance to P₆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New 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34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√37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639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324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1.414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√26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83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√26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√2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286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√37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186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6537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0FF2EA-D645-F336-FC84-632A357C51AC}"/>
              </a:ext>
            </a:extLst>
          </p:cNvPr>
          <p:cNvSpPr txBox="1"/>
          <p:nvPr/>
        </p:nvSpPr>
        <p:spPr>
          <a:xfrm>
            <a:off x="2286000" y="367305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Now Cluster Centre becomes: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Cluster 1 (C₁):</a:t>
            </a:r>
            <a:r>
              <a:rPr lang="en-IN" dirty="0"/>
              <a:t> P₁, P₂, P₃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Cluster 2 (C₂):</a:t>
            </a:r>
            <a:r>
              <a:rPr lang="en-IN" dirty="0"/>
              <a:t> P₄, P₅, P₆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86D49B-604B-FB2D-C705-4F6A7C430521}"/>
                  </a:ext>
                </a:extLst>
              </p:cNvPr>
              <p:cNvSpPr txBox="1"/>
              <p:nvPr/>
            </p:nvSpPr>
            <p:spPr>
              <a:xfrm>
                <a:off x="1773936" y="5095890"/>
                <a:ext cx="4572000" cy="1351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Compute New Cluster Centres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86D49B-604B-FB2D-C705-4F6A7C430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936" y="5095890"/>
                <a:ext cx="4572000" cy="1351524"/>
              </a:xfrm>
              <a:prstGeom prst="rect">
                <a:avLst/>
              </a:prstGeom>
              <a:blipFill>
                <a:blip r:embed="rId3"/>
                <a:stretch>
                  <a:fillRect l="-1067" t="-2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AC3EB97-2C63-23FC-0202-C825C9422271}"/>
              </a:ext>
            </a:extLst>
          </p:cNvPr>
          <p:cNvSpPr txBox="1"/>
          <p:nvPr/>
        </p:nvSpPr>
        <p:spPr>
          <a:xfrm>
            <a:off x="457200" y="41058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Initial Step: Compute Distance from P₂ and P₆</a:t>
            </a:r>
            <a:endParaRPr lang="en-IN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FEA1FE4E-E9AC-8629-241A-DF1D3D974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B7C0D93-B47E-F569-825F-27DDF4F3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88FE6984-4D05-471A-2F87-E76D188FE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03808F3-F248-29F5-91AA-4F5B558E3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5FBE6EB8-D26D-4926-5AA2-8183517D0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30C1814-42A1-820D-B6F8-8C1592741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55AF1E6A-08E8-C088-EC65-9D9592631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02FF511-21CC-3236-3F5F-6220F5316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>
            <a:extLst>
              <a:ext uri="{FF2B5EF4-FFF2-40B4-BE49-F238E27FC236}">
                <a16:creationId xmlns:a16="http://schemas.microsoft.com/office/drawing/2014/main" id="{33317F6C-B74A-0392-78B6-881EC9B24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3F56F6A-A1D3-3C53-81DA-2029B9586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>
            <a:extLst>
              <a:ext uri="{FF2B5EF4-FFF2-40B4-BE49-F238E27FC236}">
                <a16:creationId xmlns:a16="http://schemas.microsoft.com/office/drawing/2014/main" id="{6250A1ED-06DC-17D1-B458-9A6EF433C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930486CA-0786-FBC6-5215-86D7F9B8C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>
            <a:extLst>
              <a:ext uri="{FF2B5EF4-FFF2-40B4-BE49-F238E27FC236}">
                <a16:creationId xmlns:a16="http://schemas.microsoft.com/office/drawing/2014/main" id="{6BF678D4-9D94-B1FB-8B24-C69C5B1F0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DCA785D7-079B-3252-D39F-90950B506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>
            <a:extLst>
              <a:ext uri="{FF2B5EF4-FFF2-40B4-BE49-F238E27FC236}">
                <a16:creationId xmlns:a16="http://schemas.microsoft.com/office/drawing/2014/main" id="{44D2BD0F-33F9-A704-0A42-90AE5E43F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28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B8437B-FB7D-26A6-5AF5-CEAE1DD21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386643"/>
              </p:ext>
            </p:extLst>
          </p:nvPr>
        </p:nvGraphicFramePr>
        <p:xfrm>
          <a:off x="457200" y="1714341"/>
          <a:ext cx="8229600" cy="28346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93564663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378248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34346974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88879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Distance to m₁(0.33,0.33)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Distance to m₂(5.6,0.33)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New 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93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35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5.699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756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4.6716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</a:t>
                      </a:r>
                      <a:r>
                        <a:rPr lang="en-IN" baseline="-250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9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4.681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0.7446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85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5.679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0.4738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575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5.71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0.7513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4577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63B098F-3083-6612-BB65-881BF3CCCFE1}"/>
              </a:ext>
            </a:extLst>
          </p:cNvPr>
          <p:cNvSpPr txBox="1"/>
          <p:nvPr/>
        </p:nvSpPr>
        <p:spPr>
          <a:xfrm>
            <a:off x="457200" y="935500"/>
            <a:ext cx="570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Iteration 2: Reassign Points Based on New Centers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B984EB-94AC-BD2B-0DA4-F5B084714721}"/>
                  </a:ext>
                </a:extLst>
              </p:cNvPr>
              <p:cNvSpPr txBox="1"/>
              <p:nvPr/>
            </p:nvSpPr>
            <p:spPr>
              <a:xfrm>
                <a:off x="2286000" y="4958490"/>
                <a:ext cx="479145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Result: Cluster Convergence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Clusters remain the same after 2nd iteration — algorithm converged.</a:t>
                </a:r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B984EB-94AC-BD2B-0DA4-F5B084714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958490"/>
                <a:ext cx="4791456" cy="1477328"/>
              </a:xfrm>
              <a:prstGeom prst="rect">
                <a:avLst/>
              </a:prstGeom>
              <a:blipFill>
                <a:blip r:embed="rId2"/>
                <a:stretch>
                  <a:fillRect l="-1018" t="-2058" b="-53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AF21C6F-701C-01F4-9ADD-9BD470F68F58}"/>
              </a:ext>
            </a:extLst>
          </p:cNvPr>
          <p:cNvSpPr txBox="1"/>
          <p:nvPr/>
        </p:nvSpPr>
        <p:spPr>
          <a:xfrm>
            <a:off x="457200" y="414695"/>
            <a:ext cx="570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Repeat till where point don’t change </a:t>
            </a:r>
            <a:r>
              <a:rPr lang="en-IN" dirty="0" err="1"/>
              <a:t>upto</a:t>
            </a:r>
            <a:r>
              <a:rPr lang="en-IN" dirty="0"/>
              <a:t> 2 iterations</a:t>
            </a:r>
          </a:p>
        </p:txBody>
      </p:sp>
    </p:spTree>
    <p:extLst>
      <p:ext uri="{BB962C8B-B14F-4D97-AF65-F5344CB8AC3E}">
        <p14:creationId xmlns:p14="http://schemas.microsoft.com/office/powerpoint/2010/main" val="200308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Centroid-Based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Each cluster has a center point called a centroid.</a:t>
            </a:r>
          </a:p>
          <a:p>
            <a:pPr marL="0" indent="0">
              <a:buNone/>
            </a:pPr>
            <a:r>
              <a:rPr dirty="0"/>
              <a:t>• Points are assigned to the cluster whose centroid is closest to them.</a:t>
            </a:r>
          </a:p>
          <a:p>
            <a:pPr marL="0" indent="0">
              <a:buNone/>
            </a:pPr>
            <a:r>
              <a:rPr dirty="0"/>
              <a:t>• The algorithm iteratively moves centroids to minimize within-cluster variance.</a:t>
            </a:r>
          </a:p>
          <a:p>
            <a:pPr marL="0" indent="0">
              <a:buNone/>
            </a:pPr>
            <a:r>
              <a:rPr dirty="0"/>
              <a:t> Example: In a 2D dataset, centroids represent the 'average location' of all points in each cluster.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Inertia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Inertia measures how tightly the data points are clustered around centroids.</a:t>
            </a:r>
            <a:endParaRPr lang="en-US" dirty="0"/>
          </a:p>
          <a:p>
            <a:r>
              <a:rPr lang="en-US" dirty="0"/>
              <a:t>How compact each cluster is (how close points are to their own centroid).</a:t>
            </a:r>
          </a:p>
          <a:p>
            <a:r>
              <a:rPr lang="en-US" dirty="0"/>
              <a:t>It measures the </a:t>
            </a:r>
            <a:r>
              <a:rPr lang="en-US" i="1" dirty="0"/>
              <a:t>internal tightness</a:t>
            </a:r>
            <a:r>
              <a:rPr lang="en-US" dirty="0"/>
              <a:t> of clusters.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Lower inertia → better clustering (points are closer to their centroid).</a:t>
            </a:r>
          </a:p>
          <a:p>
            <a:pPr marL="0" indent="0">
              <a:buNone/>
            </a:pPr>
            <a:r>
              <a:rPr dirty="0"/>
              <a:t>• Used to select the right K using the 'Elbow Method'.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2051AE-881E-F2DC-E859-CADA6FC82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627" y="3668486"/>
            <a:ext cx="3152403" cy="919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Silhouette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dirty="0"/>
                  <a:t>• </a:t>
                </a:r>
                <a:r>
                  <a:rPr lang="en-US" dirty="0"/>
                  <a:t>   </a:t>
                </a:r>
                <a:r>
                  <a:rPr dirty="0"/>
                  <a:t>Silhouette Score measures how well points fit within their clusters.</a:t>
                </a:r>
                <a:endParaRPr lang="en-US" dirty="0"/>
              </a:p>
              <a:p>
                <a:r>
                  <a:rPr lang="en-US" dirty="0"/>
                  <a:t>How well-separated and well-defined clusters are: it combines both cohesion (within-cluster closeness) and separation (distance from other clusters).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Silhouette score: </a:t>
                </a:r>
                <a:r>
                  <a:rPr lang="en-US" dirty="0"/>
                  <a:t>For each point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𝑖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mean distance to points in </a:t>
                </a:r>
                <a:r>
                  <a:rPr lang="en-US" b="1" dirty="0"/>
                  <a:t>its own</a:t>
                </a:r>
                <a:r>
                  <a:rPr lang="en-US" dirty="0"/>
                  <a:t> cluster.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𝑏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𝑖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lowest mean distance to </a:t>
                </a:r>
                <a:r>
                  <a:rPr lang="en-US" b="1" dirty="0"/>
                  <a:t>any other</a:t>
                </a:r>
                <a:r>
                  <a:rPr lang="en-US" dirty="0"/>
                  <a:t> cluster (nearest other cluster).</a:t>
                </a:r>
              </a:p>
              <a:p>
                <a:r>
                  <a:rPr lang="en-US" dirty="0"/>
                  <a:t>Silhouette:</a:t>
                </a:r>
              </a:p>
              <a:p>
                <a:pPr marL="0" indent="0">
                  <a:buNone/>
                </a:pPr>
                <a:endParaRPr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dirty="0"/>
                  <a:t>→ +1 : Well-clustered points</a:t>
                </a:r>
              </a:p>
              <a:p>
                <a:pPr marL="0" indent="0">
                  <a:buNone/>
                </a:pPr>
                <a:r>
                  <a:rPr dirty="0"/>
                  <a:t>   →  0 : Overlapping clusters</a:t>
                </a:r>
              </a:p>
              <a:p>
                <a:pPr marL="0" indent="0">
                  <a:buNone/>
                </a:pPr>
                <a:r>
                  <a:rPr dirty="0"/>
                  <a:t>   → -1 : Wrongly assigned points</a:t>
                </a:r>
              </a:p>
              <a:p>
                <a:pPr marL="0" indent="0">
                  <a:buNone/>
                </a:pPr>
                <a:r>
                  <a:rPr dirty="0"/>
                  <a:t>• Higher score = Better-defined clusters.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022" b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C958C7-1248-B6B8-D486-2D3A21DC5B03}"/>
                  </a:ext>
                </a:extLst>
              </p:cNvPr>
              <p:cNvSpPr txBox="1"/>
              <p:nvPr/>
            </p:nvSpPr>
            <p:spPr>
              <a:xfrm>
                <a:off x="2286000" y="4043137"/>
                <a:ext cx="4572000" cy="576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s(</a:t>
                </a:r>
                <a:r>
                  <a:rPr lang="en-US" dirty="0" err="1"/>
                  <a:t>i</a:t>
                </a:r>
                <a:r>
                  <a:rPr lang="en-US" dirty="0"/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−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max</m:t>
                        </m:r>
                        <m:r>
                          <m:rPr>
                            <m:nor/>
                          </m:rPr>
                          <a:rPr lang="en-US" dirty="0"/>
                          <m:t>{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),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}</m:t>
                        </m:r>
                      </m:den>
                    </m:f>
                  </m:oMath>
                </a14:m>
                <a:r>
                  <a:rPr lang="en-US" dirty="0"/>
                  <a:t>​  ∈[−1,1]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C958C7-1248-B6B8-D486-2D3A21DC5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043137"/>
                <a:ext cx="4572000" cy="576696"/>
              </a:xfrm>
              <a:prstGeom prst="rect">
                <a:avLst/>
              </a:prstGeom>
              <a:blipFill>
                <a:blip r:embed="rId3"/>
                <a:stretch>
                  <a:fillRect l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After clustering, analyze what each cluster represents.</a:t>
            </a:r>
          </a:p>
          <a:p>
            <a:pPr marL="0" indent="0">
              <a:buNone/>
            </a:pPr>
            <a:r>
              <a:rPr dirty="0"/>
              <a:t>• Look for patterns or characteristics shared within each group.</a:t>
            </a:r>
          </a:p>
          <a:p>
            <a:pPr marL="0" indent="0">
              <a:buNone/>
            </a:pPr>
            <a:r>
              <a:rPr dirty="0"/>
              <a:t>• Visualize clusters in 2D/3D to understand their separation.</a:t>
            </a:r>
          </a:p>
          <a:p>
            <a:pPr marL="0" indent="0">
              <a:buNone/>
            </a:pPr>
            <a:r>
              <a:rPr dirty="0"/>
              <a:t>• Example: In customer segmentation, clusters may represent spending habits or age groups.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K-Means is a centroid-based clustering algorithm that minimizes intra-cluster distance.</a:t>
            </a:r>
          </a:p>
          <a:p>
            <a:pPr marL="0" indent="0">
              <a:buNone/>
            </a:pPr>
            <a:r>
              <a:rPr dirty="0"/>
              <a:t>• Inertia and Silhouette Score help evaluate cluster quality.</a:t>
            </a:r>
          </a:p>
          <a:p>
            <a:pPr marL="0" indent="0">
              <a:buNone/>
            </a:pPr>
            <a:r>
              <a:rPr dirty="0"/>
              <a:t>• Interpreting clusters provides real-world insights into data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1194</Words>
  <Application>Microsoft Office PowerPoint</Application>
  <PresentationFormat>On-screen Show (4:3)</PresentationFormat>
  <Paragraphs>176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Office Theme</vt:lpstr>
      <vt:lpstr>K-Means &amp; Unsupervised Metrics</vt:lpstr>
      <vt:lpstr>Unsupervised Learning</vt:lpstr>
      <vt:lpstr>What is Clustering?</vt:lpstr>
      <vt:lpstr>Types of Clustering Algo </vt:lpstr>
      <vt:lpstr>Introduction to K-Means Clustering</vt:lpstr>
      <vt:lpstr>K-Means</vt:lpstr>
      <vt:lpstr>K-Means Algorithm</vt:lpstr>
      <vt:lpstr>What Inference Means in Clustering </vt:lpstr>
      <vt:lpstr>Advantages of K-Means</vt:lpstr>
      <vt:lpstr>Limitations of K-means algorithm</vt:lpstr>
      <vt:lpstr>Example</vt:lpstr>
      <vt:lpstr>PowerPoint Presentation</vt:lpstr>
      <vt:lpstr>PowerPoint Presentation</vt:lpstr>
      <vt:lpstr>Centroid-Based Clustering</vt:lpstr>
      <vt:lpstr>Inertia</vt:lpstr>
      <vt:lpstr>Silhouette Score</vt:lpstr>
      <vt:lpstr>Interpreting Clusters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Sidharth Sharma</cp:lastModifiedBy>
  <cp:revision>17</cp:revision>
  <dcterms:created xsi:type="dcterms:W3CDTF">2013-01-27T09:14:16Z</dcterms:created>
  <dcterms:modified xsi:type="dcterms:W3CDTF">2025-11-08T16:13:34Z</dcterms:modified>
  <cp:category/>
</cp:coreProperties>
</file>