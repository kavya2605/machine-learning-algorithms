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4"/>
    <p:sldId id="258" r:id="rId5"/>
    <p:sldId id="264" r:id="rId6"/>
    <p:sldId id="259" r:id="rId7"/>
    <p:sldId id="269" r:id="rId8"/>
    <p:sldId id="260" r:id="rId9"/>
    <p:sldId id="267" r:id="rId10"/>
    <p:sldId id="268" r:id="rId11"/>
    <p:sldId id="261" r:id="rId12"/>
    <p:sldId id="272" r:id="rId13"/>
    <p:sldId id="273" r:id="rId14"/>
    <p:sldId id="271" r:id="rId15"/>
    <p:sldId id="265" r:id="rId16"/>
    <p:sldId id="262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041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253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Deployment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Serialization</a:t>
            </a:r>
          </a:p>
          <a:p>
            <a:r>
              <a:t>REST API with Flask</a:t>
            </a:r>
          </a:p>
          <a:p>
            <a:r>
              <a:t>Monitoring &amp; Scaling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Deployment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Take model from notebook → production</a:t>
            </a:r>
          </a:p>
          <a:p>
            <a:r>
              <a:t>Serve predictions via API</a:t>
            </a:r>
          </a:p>
          <a:p>
            <a:r>
              <a:t>Handle traffic, monitoring, scaling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A0795-2F4F-4492-08B8-4234BE9D8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What is Model Serialization?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1CD18-FC42-F060-3E8F-477F1F82A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process of converting trained machine learning models into a format that can be stored, transferred, and later reconstructed for inference without retraining.</a:t>
            </a:r>
          </a:p>
          <a:p>
            <a:r>
              <a:rPr lang="en-US" dirty="0"/>
              <a:t>Save model state including weights, architecture, and training configuration.</a:t>
            </a:r>
          </a:p>
          <a:p>
            <a:r>
              <a:rPr lang="en-US" dirty="0"/>
              <a:t>Transfer models between environments and platforms seamlessly.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9714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Serialization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pickle – simple but unsafe for untrusted sources</a:t>
            </a:r>
            <a:endParaRPr lang="en-US" dirty="0"/>
          </a:p>
          <a:p>
            <a:pPr lvl="1"/>
            <a:r>
              <a:rPr lang="en-US" dirty="0"/>
              <a:t>Python’s built-in object serialization.</a:t>
            </a:r>
          </a:p>
          <a:p>
            <a:pPr lvl="1"/>
            <a:r>
              <a:rPr lang="en-US" dirty="0"/>
              <a:t>Pros:</a:t>
            </a:r>
          </a:p>
          <a:p>
            <a:pPr lvl="2"/>
            <a:r>
              <a:rPr lang="en-US" dirty="0"/>
              <a:t>Simple, works for many Python objects.</a:t>
            </a:r>
          </a:p>
          <a:p>
            <a:pPr lvl="1"/>
            <a:r>
              <a:rPr lang="en-US" dirty="0"/>
              <a:t>Cons:</a:t>
            </a:r>
          </a:p>
          <a:p>
            <a:pPr lvl="2"/>
            <a:r>
              <a:rPr lang="en-US" dirty="0"/>
              <a:t>Not language-agnostic (Python only).</a:t>
            </a:r>
          </a:p>
          <a:p>
            <a:pPr lvl="2"/>
            <a:r>
              <a:rPr lang="en-US" dirty="0"/>
              <a:t>Security risks: never unpickle untrusted data.</a:t>
            </a:r>
          </a:p>
          <a:p>
            <a:pPr lvl="1"/>
            <a:r>
              <a:rPr lang="en-US" dirty="0"/>
              <a:t>Typical for scikit-learn models.</a:t>
            </a:r>
            <a:endParaRPr dirty="0"/>
          </a:p>
          <a:p>
            <a:r>
              <a:rPr dirty="0" err="1"/>
              <a:t>joblib</a:t>
            </a:r>
            <a:r>
              <a:rPr dirty="0"/>
              <a:t> – recommended for </a:t>
            </a:r>
            <a:r>
              <a:rPr dirty="0" err="1"/>
              <a:t>sklearn</a:t>
            </a:r>
            <a:endParaRPr lang="en-US" dirty="0"/>
          </a:p>
          <a:p>
            <a:pPr lvl="1"/>
            <a:r>
              <a:rPr lang="en-US" dirty="0"/>
              <a:t>Optimized for </a:t>
            </a:r>
            <a:r>
              <a:rPr lang="en-US" b="1" dirty="0"/>
              <a:t>large NumPy arrays</a:t>
            </a:r>
            <a:r>
              <a:rPr lang="en-US" dirty="0"/>
              <a:t> and scikit-learn models.</a:t>
            </a:r>
          </a:p>
          <a:p>
            <a:r>
              <a:rPr dirty="0" err="1"/>
              <a:t>SavedModel</a:t>
            </a:r>
            <a:r>
              <a:rPr dirty="0"/>
              <a:t> (TensorFlow), </a:t>
            </a:r>
            <a:r>
              <a:rPr dirty="0" err="1"/>
              <a:t>state_dict</a:t>
            </a:r>
            <a:r>
              <a:rPr dirty="0"/>
              <a:t>() (</a:t>
            </a:r>
            <a:r>
              <a:rPr dirty="0" err="1"/>
              <a:t>PyTorch</a:t>
            </a:r>
            <a:r>
              <a:rPr dirty="0"/>
              <a:t>)</a:t>
            </a:r>
          </a:p>
          <a:p>
            <a:r>
              <a:rPr dirty="0"/>
              <a:t>ONNX – cross-platform &amp; high-performance</a:t>
            </a:r>
            <a:endParaRPr lang="en-US" dirty="0"/>
          </a:p>
          <a:p>
            <a:pPr lvl="1"/>
            <a:r>
              <a:rPr lang="en-US" b="1" dirty="0"/>
              <a:t>ONNX:</a:t>
            </a:r>
            <a:r>
              <a:rPr lang="en-US" dirty="0"/>
              <a:t> Open Neural Network Exchange</a:t>
            </a:r>
          </a:p>
          <a:p>
            <a:pPr lvl="1"/>
            <a:r>
              <a:rPr lang="en-US" dirty="0"/>
              <a:t>Allows running the same model across different runtimes (C++, Java, etc.).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5D896-6051-59B0-2575-1863E9398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REST API Development Process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B36ABF-D2CA-BB9A-7808-68D749B97506}"/>
              </a:ext>
            </a:extLst>
          </p:cNvPr>
          <p:cNvSpPr txBox="1"/>
          <p:nvPr/>
        </p:nvSpPr>
        <p:spPr>
          <a:xfrm>
            <a:off x="4828032" y="4925834"/>
            <a:ext cx="27706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Add Error Handling</a:t>
            </a:r>
          </a:p>
          <a:p>
            <a:pPr>
              <a:buNone/>
            </a:pPr>
            <a:r>
              <a:rPr lang="en-US" dirty="0"/>
              <a:t>Implement input validation, error responses, logging, and health check endpoints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BE65C7-E020-9702-283F-949732BC1694}"/>
              </a:ext>
            </a:extLst>
          </p:cNvPr>
          <p:cNvSpPr txBox="1"/>
          <p:nvPr/>
        </p:nvSpPr>
        <p:spPr>
          <a:xfrm>
            <a:off x="758952" y="3881523"/>
            <a:ext cx="31821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Define API Endpoints</a:t>
            </a:r>
          </a:p>
          <a:p>
            <a:r>
              <a:rPr lang="en-US" dirty="0"/>
              <a:t>Create POST /predict endpoint, validate input data, handle preprocessing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488EB-6DF9-5A7F-5786-D6ECBACB3CB0}"/>
              </a:ext>
            </a:extLst>
          </p:cNvPr>
          <p:cNvSpPr txBox="1"/>
          <p:nvPr/>
        </p:nvSpPr>
        <p:spPr>
          <a:xfrm>
            <a:off x="4828032" y="2551837"/>
            <a:ext cx="228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Load Serialized Model</a:t>
            </a:r>
          </a:p>
          <a:p>
            <a:r>
              <a:rPr lang="en-US" dirty="0"/>
              <a:t>Deserialize the trained model during app initialization, handle loading errors gracefully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E8A752-4F9E-60E4-5D3A-E2A330218997}"/>
              </a:ext>
            </a:extLst>
          </p:cNvPr>
          <p:cNvSpPr txBox="1"/>
          <p:nvPr/>
        </p:nvSpPr>
        <p:spPr>
          <a:xfrm>
            <a:off x="758952" y="1776149"/>
            <a:ext cx="31821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Setup Flask Environment</a:t>
            </a:r>
          </a:p>
          <a:p>
            <a:r>
              <a:rPr lang="en-US" dirty="0"/>
              <a:t>Install Flask, create app structure, set up virtual environment and dependencies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8572B9E-A16A-22DF-D1FC-F54C18022730}"/>
              </a:ext>
            </a:extLst>
          </p:cNvPr>
          <p:cNvCxnSpPr/>
          <p:nvPr/>
        </p:nvCxnSpPr>
        <p:spPr>
          <a:xfrm>
            <a:off x="4270248" y="1776149"/>
            <a:ext cx="0" cy="455149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85E5F4D-F36C-8BE5-850B-CB8F4C51A3B6}"/>
              </a:ext>
            </a:extLst>
          </p:cNvPr>
          <p:cNvCxnSpPr/>
          <p:nvPr/>
        </p:nvCxnSpPr>
        <p:spPr>
          <a:xfrm flipH="1">
            <a:off x="3941064" y="2304288"/>
            <a:ext cx="3291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F39648E-9C45-719F-DE3B-EB7FF57517C2}"/>
              </a:ext>
            </a:extLst>
          </p:cNvPr>
          <p:cNvCxnSpPr/>
          <p:nvPr/>
        </p:nvCxnSpPr>
        <p:spPr>
          <a:xfrm>
            <a:off x="4270248" y="3255264"/>
            <a:ext cx="3017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C271BCB-5068-EB82-43FE-9F6704DFD361}"/>
              </a:ext>
            </a:extLst>
          </p:cNvPr>
          <p:cNvCxnSpPr/>
          <p:nvPr/>
        </p:nvCxnSpPr>
        <p:spPr>
          <a:xfrm flipH="1">
            <a:off x="3941064" y="4370832"/>
            <a:ext cx="3291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D8E6D16-EAD6-040E-899E-4EF8B0D2096B}"/>
              </a:ext>
            </a:extLst>
          </p:cNvPr>
          <p:cNvCxnSpPr/>
          <p:nvPr/>
        </p:nvCxnSpPr>
        <p:spPr>
          <a:xfrm>
            <a:off x="4270248" y="5525998"/>
            <a:ext cx="3017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5087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Flask REST API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Expose /predict endpoint</a:t>
            </a:r>
          </a:p>
          <a:p>
            <a:r>
              <a:rPr dirty="0"/>
              <a:t>Load model once at startup</a:t>
            </a:r>
          </a:p>
          <a:p>
            <a:r>
              <a:rPr dirty="0"/>
              <a:t>Return JSON predictions</a:t>
            </a:r>
          </a:p>
          <a:p>
            <a:r>
              <a:rPr dirty="0"/>
              <a:t>Use </a:t>
            </a:r>
            <a:r>
              <a:rPr dirty="0" err="1"/>
              <a:t>Gunicorn</a:t>
            </a:r>
            <a:r>
              <a:rPr dirty="0"/>
              <a:t>/Nginx in production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E4FCF-1E50-C630-920F-121DB91AC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What does monitoring mean?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20DF8-6386-FAE0-8B7A-18B05FADE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Continuously observing what the service is doing:</a:t>
            </a:r>
          </a:p>
          <a:p>
            <a:pPr lvl="1"/>
            <a:r>
              <a:rPr lang="en-US" dirty="0"/>
              <a:t>Is it </a:t>
            </a:r>
            <a:r>
              <a:rPr lang="en-US" b="1" dirty="0"/>
              <a:t>up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Is it </a:t>
            </a:r>
            <a:r>
              <a:rPr lang="en-US" b="1" dirty="0"/>
              <a:t>fast enough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Are predictions behaving as expected over time?</a:t>
            </a:r>
          </a:p>
          <a:p>
            <a:r>
              <a:rPr lang="en-US" dirty="0"/>
              <a:t>Three categories:</a:t>
            </a:r>
          </a:p>
          <a:p>
            <a:pPr lvl="1"/>
            <a:r>
              <a:rPr lang="en-US" b="1" dirty="0"/>
              <a:t>System-level metrics</a:t>
            </a:r>
            <a:r>
              <a:rPr lang="en-US" dirty="0"/>
              <a:t> – CPU, memory, disk, network.</a:t>
            </a:r>
          </a:p>
          <a:p>
            <a:pPr lvl="1"/>
            <a:r>
              <a:rPr lang="en-US" b="1" dirty="0"/>
              <a:t>Application-level metrics</a:t>
            </a:r>
            <a:r>
              <a:rPr lang="en-US" dirty="0"/>
              <a:t> – request rate, error rate, latency.</a:t>
            </a:r>
          </a:p>
          <a:p>
            <a:pPr lvl="1"/>
            <a:r>
              <a:rPr lang="en-US" b="1" dirty="0"/>
              <a:t>Model-level metrics</a:t>
            </a:r>
            <a:r>
              <a:rPr lang="en-US" dirty="0"/>
              <a:t> – distribution of inputs, prediction stats, performance drift.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534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Prometheus /metrics endpoint</a:t>
            </a:r>
          </a:p>
          <a:p>
            <a:r>
              <a:t>Track request count, latency, errors</a:t>
            </a:r>
          </a:p>
          <a:p>
            <a:r>
              <a:t>Set alerts on p99 latency &amp; failure rate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C3BE6-99FA-80C6-33A0-58473084A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Why do we need to scale?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71341-4886-2091-E588-9EE3BFE61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Increasing traffic:</a:t>
            </a:r>
          </a:p>
          <a:p>
            <a:pPr lvl="1"/>
            <a:r>
              <a:rPr lang="en-US" dirty="0"/>
              <a:t>More users calling /predicting</a:t>
            </a:r>
          </a:p>
          <a:p>
            <a:pPr lvl="1"/>
            <a:r>
              <a:rPr lang="en-US" dirty="0"/>
              <a:t>Risk of timeouts and dropped requests</a:t>
            </a:r>
          </a:p>
          <a:p>
            <a:r>
              <a:rPr lang="en-US" dirty="0"/>
              <a:t>Heavier models:</a:t>
            </a:r>
          </a:p>
          <a:p>
            <a:pPr lvl="1"/>
            <a:r>
              <a:rPr lang="en-US" dirty="0"/>
              <a:t>Deep neural nets with GPU requirements</a:t>
            </a:r>
          </a:p>
          <a:p>
            <a:r>
              <a:rPr lang="en-US" dirty="0"/>
              <a:t>Need for high availability:</a:t>
            </a:r>
          </a:p>
          <a:p>
            <a:pPr lvl="1"/>
            <a:r>
              <a:rPr lang="en-US" dirty="0"/>
              <a:t>Graceful handling of node failures</a:t>
            </a:r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287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05917-6EC0-C8C1-D640-AB4E76065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Scaling up vs out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BDA43-D1A7-E1CB-7FEA-E3B7D812A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lang="en-US" b="1" dirty="0"/>
          </a:p>
          <a:p>
            <a:r>
              <a:rPr lang="en-US" b="1" dirty="0"/>
              <a:t>Scale up (vertical):</a:t>
            </a:r>
            <a:endParaRPr lang="en-US" dirty="0"/>
          </a:p>
          <a:p>
            <a:pPr lvl="1"/>
            <a:r>
              <a:rPr lang="en-US" dirty="0"/>
              <a:t>Larger machine: more CPU, RAM, GPU.</a:t>
            </a:r>
          </a:p>
          <a:p>
            <a:pPr lvl="1"/>
            <a:r>
              <a:rPr lang="en-US" dirty="0"/>
              <a:t>Simpler to manage, but limited by hardware.</a:t>
            </a:r>
          </a:p>
          <a:p>
            <a:r>
              <a:rPr lang="en-US" b="1" dirty="0"/>
              <a:t>Scale out (horizontal):</a:t>
            </a:r>
            <a:endParaRPr lang="en-US" dirty="0"/>
          </a:p>
          <a:p>
            <a:pPr lvl="1"/>
            <a:r>
              <a:rPr lang="en-US" dirty="0"/>
              <a:t>Multiple instances of the same service.</a:t>
            </a:r>
          </a:p>
          <a:p>
            <a:pPr lvl="1"/>
            <a:r>
              <a:rPr lang="en-US" dirty="0"/>
              <a:t>Load balancer spreads traffic.</a:t>
            </a:r>
          </a:p>
          <a:p>
            <a:pPr lvl="1"/>
            <a:r>
              <a:rPr lang="en-US" dirty="0"/>
              <a:t>Better for fault-tolerance and elasticity.</a:t>
            </a:r>
          </a:p>
          <a:p>
            <a:r>
              <a:rPr lang="en-US" b="1" dirty="0"/>
              <a:t>Running Flask in production environment:</a:t>
            </a:r>
          </a:p>
          <a:p>
            <a:r>
              <a:rPr lang="en-US" dirty="0"/>
              <a:t>Do not run directly with </a:t>
            </a:r>
            <a:r>
              <a:rPr lang="en-US" dirty="0" err="1"/>
              <a:t>app.run</a:t>
            </a:r>
            <a:r>
              <a:rPr lang="en-US" dirty="0"/>
              <a:t>(debug=True, ...) in real production.</a:t>
            </a:r>
          </a:p>
          <a:p>
            <a:r>
              <a:rPr lang="en-US" dirty="0"/>
              <a:t>Use:</a:t>
            </a:r>
          </a:p>
          <a:p>
            <a:pPr lvl="1"/>
            <a:r>
              <a:rPr lang="en-US" b="1" dirty="0" err="1"/>
              <a:t>Gunicorn</a:t>
            </a:r>
            <a:r>
              <a:rPr lang="en-US" dirty="0"/>
              <a:t> or </a:t>
            </a:r>
            <a:r>
              <a:rPr lang="en-US" b="1" dirty="0" err="1"/>
              <a:t>uWSGI</a:t>
            </a:r>
            <a:r>
              <a:rPr lang="en-US" dirty="0"/>
              <a:t> as WSGI servers:</a:t>
            </a:r>
          </a:p>
          <a:p>
            <a:pPr lvl="2"/>
            <a:r>
              <a:rPr lang="en-US" dirty="0"/>
              <a:t>multiple worker processes</a:t>
            </a:r>
          </a:p>
          <a:p>
            <a:pPr lvl="1"/>
            <a:r>
              <a:rPr lang="en-US" b="1" dirty="0"/>
              <a:t>Nginx</a:t>
            </a:r>
            <a:r>
              <a:rPr lang="en-US" dirty="0"/>
              <a:t> or cloud load balancer in front.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501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Scaling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b="1" dirty="0"/>
              <a:t>Use Docker containers</a:t>
            </a:r>
            <a:endParaRPr lang="en-US" b="1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Package your app + model + dependencies into a </a:t>
            </a:r>
            <a:r>
              <a:rPr lang="en-US" i="1" dirty="0"/>
              <a:t>self-contained image</a:t>
            </a:r>
            <a:r>
              <a:rPr lang="en-US" dirty="0"/>
              <a:t>.</a:t>
            </a:r>
          </a:p>
          <a:p>
            <a:r>
              <a:rPr lang="en-US" dirty="0"/>
              <a:t>You create a </a:t>
            </a:r>
            <a:r>
              <a:rPr lang="en-US" dirty="0" err="1"/>
              <a:t>Dockerfile</a:t>
            </a:r>
            <a:r>
              <a:rPr lang="en-US" dirty="0"/>
              <a:t> that:</a:t>
            </a:r>
          </a:p>
          <a:p>
            <a:pPr lvl="1"/>
            <a:r>
              <a:rPr lang="en-US" dirty="0"/>
              <a:t>Installs Python, libraries (scikit-learn, </a:t>
            </a:r>
            <a:r>
              <a:rPr lang="en-US" dirty="0" err="1"/>
              <a:t>PyTorch</a:t>
            </a:r>
            <a:r>
              <a:rPr lang="en-US" dirty="0"/>
              <a:t>, Flask, etc.)</a:t>
            </a:r>
          </a:p>
          <a:p>
            <a:pPr lvl="1"/>
            <a:r>
              <a:rPr lang="en-US" dirty="0"/>
              <a:t>Copies in your serialized model (</a:t>
            </a:r>
            <a:r>
              <a:rPr lang="en-US" dirty="0" err="1"/>
              <a:t>model.joblib</a:t>
            </a:r>
            <a:r>
              <a:rPr lang="en-US" dirty="0"/>
              <a:t> / model.pt)</a:t>
            </a:r>
          </a:p>
          <a:p>
            <a:pPr lvl="1"/>
            <a:r>
              <a:rPr lang="en-US" dirty="0"/>
              <a:t>Starts your server (</a:t>
            </a:r>
            <a:r>
              <a:rPr lang="en-US" dirty="0" err="1"/>
              <a:t>gunicorn</a:t>
            </a:r>
            <a:r>
              <a:rPr lang="en-US" dirty="0"/>
              <a:t> </a:t>
            </a:r>
            <a:r>
              <a:rPr lang="en-US" dirty="0" err="1"/>
              <a:t>app:app</a:t>
            </a:r>
            <a:r>
              <a:rPr lang="en-US" dirty="0"/>
              <a:t> or python app.py)</a:t>
            </a:r>
          </a:p>
          <a:p>
            <a:r>
              <a:rPr lang="en-US" dirty="0"/>
              <a:t>The result is an image that runs the same way on:</a:t>
            </a:r>
          </a:p>
          <a:p>
            <a:pPr lvl="1"/>
            <a:r>
              <a:rPr lang="en-US" dirty="0"/>
              <a:t>Your laptop</a:t>
            </a:r>
          </a:p>
          <a:p>
            <a:pPr lvl="1"/>
            <a:r>
              <a:rPr lang="en-US" dirty="0"/>
              <a:t>A server in your lab</a:t>
            </a:r>
          </a:p>
          <a:p>
            <a:pPr lvl="1"/>
            <a:r>
              <a:rPr lang="en-US" dirty="0"/>
              <a:t>Any cloud VM</a:t>
            </a:r>
          </a:p>
          <a:p>
            <a:r>
              <a:rPr lang="en-US" dirty="0"/>
              <a:t>Auto-scaling just means “run more containers of this image.”</a:t>
            </a:r>
          </a:p>
          <a:p>
            <a:r>
              <a:rPr lang="en-US" dirty="0"/>
              <a:t>Easier rollback: just redeploy the previous image tag.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13DE4-916D-18DB-A52A-B1177050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Deploy on Kubernetes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06916-8F8A-BA09-992D-D5E7F3188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Kubernetes (K8s)</a:t>
            </a:r>
            <a:r>
              <a:rPr lang="en-US" dirty="0"/>
              <a:t> is a cluster manager/orchestrator:</a:t>
            </a:r>
          </a:p>
          <a:p>
            <a:r>
              <a:rPr lang="en-US" dirty="0"/>
              <a:t>You define the </a:t>
            </a:r>
            <a:r>
              <a:rPr lang="en-US" i="1" dirty="0"/>
              <a:t>desired state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“Run 3 replicas of container ml-api:v1”</a:t>
            </a:r>
          </a:p>
          <a:p>
            <a:pPr lvl="1"/>
            <a:r>
              <a:rPr lang="en-US" dirty="0"/>
              <a:t>“Expose them via a Service on port 80”.</a:t>
            </a:r>
          </a:p>
          <a:p>
            <a:r>
              <a:rPr lang="en-US" dirty="0"/>
              <a:t>Kubernetes:</a:t>
            </a:r>
          </a:p>
          <a:p>
            <a:pPr lvl="1"/>
            <a:r>
              <a:rPr lang="en-US" dirty="0"/>
              <a:t>Schedules containers on worker nodes.</a:t>
            </a:r>
          </a:p>
          <a:p>
            <a:pPr lvl="1"/>
            <a:r>
              <a:rPr lang="en-US" dirty="0"/>
              <a:t>Restarts them if they crash.</a:t>
            </a:r>
          </a:p>
          <a:p>
            <a:pPr lvl="1"/>
            <a:r>
              <a:rPr lang="en-US" dirty="0"/>
              <a:t>Reschedules them if a node dies.</a:t>
            </a:r>
          </a:p>
          <a:p>
            <a:r>
              <a:rPr lang="en-US" dirty="0"/>
              <a:t>You no longer think about individual machines; you think in terms of:</a:t>
            </a:r>
          </a:p>
          <a:p>
            <a:pPr lvl="1"/>
            <a:r>
              <a:rPr lang="en-US" i="1" dirty="0"/>
              <a:t>Deployments</a:t>
            </a:r>
            <a:r>
              <a:rPr lang="en-US" dirty="0"/>
              <a:t> (set of identical pods/containers)</a:t>
            </a:r>
          </a:p>
          <a:p>
            <a:pPr lvl="1"/>
            <a:r>
              <a:rPr lang="en-US" i="1" dirty="0"/>
              <a:t>Services</a:t>
            </a:r>
            <a:r>
              <a:rPr lang="en-US" dirty="0"/>
              <a:t> (stable endpoint + load balancing)</a:t>
            </a:r>
          </a:p>
          <a:p>
            <a:r>
              <a:rPr lang="en-US" dirty="0"/>
              <a:t>K8s handles:</a:t>
            </a:r>
          </a:p>
          <a:p>
            <a:pPr lvl="1"/>
            <a:r>
              <a:rPr lang="en-US" dirty="0"/>
              <a:t>Health checks (/health endpoint)</a:t>
            </a:r>
          </a:p>
          <a:p>
            <a:pPr lvl="1"/>
            <a:r>
              <a:rPr lang="en-US" dirty="0"/>
              <a:t>Rolling updates (update pods one by one)</a:t>
            </a:r>
          </a:p>
          <a:p>
            <a:pPr lvl="1"/>
            <a:r>
              <a:rPr lang="en-US" dirty="0"/>
              <a:t>Placement across nodes.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332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DD42D-9E3C-8BE1-E5ED-7BAE26B5F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Autoscale</a:t>
            </a:r>
            <a:r>
              <a:rPr lang="en-US" b="1" dirty="0"/>
              <a:t> using HPA (Horizontal Pod </a:t>
            </a:r>
            <a:r>
              <a:rPr lang="en-US" b="1" dirty="0" err="1"/>
              <a:t>Autoscaler</a:t>
            </a:r>
            <a:r>
              <a:rPr lang="en-US" b="1" dirty="0"/>
              <a:t>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6C850-F2CD-E11A-E225-2391A659B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961" y="1415180"/>
            <a:ext cx="8229600" cy="4525963"/>
          </a:xfrm>
        </p:spPr>
        <p:txBody>
          <a:bodyPr>
            <a:noAutofit/>
          </a:bodyPr>
          <a:lstStyle/>
          <a:p>
            <a:r>
              <a:rPr lang="en-US" sz="1600" dirty="0"/>
              <a:t>HPA is a Kubernetes component that automatically changes the number of pods based on metrics.</a:t>
            </a:r>
          </a:p>
          <a:p>
            <a:r>
              <a:rPr lang="en-US" sz="1600" dirty="0"/>
              <a:t>You specify:</a:t>
            </a:r>
          </a:p>
          <a:p>
            <a:pPr lvl="1"/>
            <a:r>
              <a:rPr lang="en-US" sz="1600" dirty="0"/>
              <a:t>Min / max replicas (e.g., 2–20)</a:t>
            </a:r>
          </a:p>
          <a:p>
            <a:pPr lvl="1"/>
            <a:r>
              <a:rPr lang="en-US" sz="1600" dirty="0"/>
              <a:t>Scaling metric &amp; target, e.g.:</a:t>
            </a:r>
          </a:p>
          <a:p>
            <a:pPr lvl="2"/>
            <a:r>
              <a:rPr lang="en-US" sz="1600" dirty="0"/>
              <a:t>CPU usage: “keep average CPU at ~60%”</a:t>
            </a:r>
          </a:p>
          <a:p>
            <a:pPr lvl="2"/>
            <a:r>
              <a:rPr lang="en-US" sz="1600" dirty="0"/>
              <a:t>Custom metric: QPS, latency, GPU utilization, etc. (with extra setup)</a:t>
            </a:r>
          </a:p>
          <a:p>
            <a:r>
              <a:rPr lang="en-US" sz="1600" dirty="0"/>
              <a:t>When traffic increases:</a:t>
            </a:r>
          </a:p>
          <a:p>
            <a:pPr lvl="1"/>
            <a:r>
              <a:rPr lang="en-US" sz="1600" dirty="0"/>
              <a:t>CPU / latency goes up.</a:t>
            </a:r>
          </a:p>
          <a:p>
            <a:pPr lvl="1"/>
            <a:r>
              <a:rPr lang="en-US" sz="1600" dirty="0"/>
              <a:t>HPA adds more pods (scale out).</a:t>
            </a:r>
          </a:p>
          <a:p>
            <a:r>
              <a:rPr lang="en-US" sz="1600" dirty="0"/>
              <a:t>When traffic drops:</a:t>
            </a:r>
          </a:p>
          <a:p>
            <a:pPr lvl="1"/>
            <a:r>
              <a:rPr lang="en-US" sz="1600" dirty="0"/>
              <a:t>CPU usage falls.</a:t>
            </a:r>
          </a:p>
          <a:p>
            <a:pPr lvl="1"/>
            <a:r>
              <a:rPr lang="en-US" sz="1600" dirty="0"/>
              <a:t>HPA removes pods (scale in to save resources).</a:t>
            </a:r>
          </a:p>
          <a:p>
            <a:r>
              <a:rPr lang="en-US" sz="1600" dirty="0"/>
              <a:t>Works well if:</a:t>
            </a:r>
          </a:p>
          <a:p>
            <a:pPr lvl="1"/>
            <a:r>
              <a:rPr lang="en-US" sz="1600" dirty="0"/>
              <a:t>Model load time (cold start) isn’t huge, or</a:t>
            </a:r>
          </a:p>
          <a:p>
            <a:pPr lvl="1"/>
            <a:r>
              <a:rPr lang="en-US" sz="1600" dirty="0"/>
              <a:t>You keep a minimum number of warm pods.</a:t>
            </a:r>
          </a:p>
          <a:p>
            <a:r>
              <a:rPr lang="en-US" sz="1600" dirty="0"/>
              <a:t>Combined with Docker+K8s, HPA gives you elastic capacity: more replicas when your /predict endpoint is under pressure.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831683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84795-ADA6-4C11-AA6A-81504823D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Scaling-related challenges for ML services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2C51D-2013-A786-AFCB-D1D8FA2DC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837039"/>
          </a:xfrm>
        </p:spPr>
        <p:txBody>
          <a:bodyPr>
            <a:noAutofit/>
          </a:bodyPr>
          <a:lstStyle/>
          <a:p>
            <a:r>
              <a:rPr lang="en-US" sz="1600" b="1" dirty="0"/>
              <a:t>Cold-start problem:</a:t>
            </a:r>
          </a:p>
          <a:p>
            <a:pPr lvl="1"/>
            <a:r>
              <a:rPr lang="en-US" sz="1600" dirty="0"/>
              <a:t>Large model load time on new instances.</a:t>
            </a:r>
          </a:p>
          <a:p>
            <a:pPr lvl="1"/>
            <a:r>
              <a:rPr lang="en-US" sz="1600" dirty="0"/>
              <a:t>When a new instance (container, VM, pod) of your model-serving application is created, usually during auto-scaling the model is not instantly ready to serve predictions.</a:t>
            </a:r>
          </a:p>
          <a:p>
            <a:r>
              <a:rPr lang="en-US" sz="1600" b="1" dirty="0"/>
              <a:t>GPU sharing</a:t>
            </a:r>
            <a:r>
              <a:rPr lang="en-US" sz="1600" dirty="0"/>
              <a:t>:</a:t>
            </a:r>
          </a:p>
          <a:p>
            <a:pPr lvl="1"/>
            <a:r>
              <a:rPr lang="en-US" sz="1600" dirty="0"/>
              <a:t>If multiple models or multiple replicas run on the same GPU node:</a:t>
            </a:r>
          </a:p>
          <a:p>
            <a:pPr lvl="1"/>
            <a:r>
              <a:rPr lang="en-US" sz="1600" dirty="0"/>
              <a:t>Each model occupies significant GPU memory (VRAM).</a:t>
            </a:r>
          </a:p>
          <a:p>
            <a:pPr lvl="1"/>
            <a:r>
              <a:rPr lang="en-US" sz="1600" dirty="0"/>
              <a:t>Some models require exclusive access to tensor cores or memory.</a:t>
            </a:r>
          </a:p>
          <a:p>
            <a:r>
              <a:rPr lang="en-US" sz="1600" b="1" dirty="0"/>
              <a:t>Versioning &amp; A/B testing</a:t>
            </a:r>
            <a:r>
              <a:rPr lang="en-US" sz="1600" dirty="0"/>
              <a:t>:</a:t>
            </a:r>
          </a:p>
          <a:p>
            <a:pPr lvl="1"/>
            <a:r>
              <a:rPr lang="en-US" sz="1600" dirty="0"/>
              <a:t>Multiple model versions deployed simultaneously.</a:t>
            </a:r>
          </a:p>
          <a:p>
            <a:pPr lvl="1"/>
            <a:r>
              <a:rPr lang="en-US" sz="1600" dirty="0"/>
              <a:t>Each model version often requires: Separate compute, Separate memory allocation (CPU/GPU), Separate container instances</a:t>
            </a:r>
          </a:p>
          <a:p>
            <a:pPr lvl="1"/>
            <a:r>
              <a:rPr lang="en-US" sz="1600" dirty="0"/>
              <a:t>Thus, auto-scaling becomes more complex, and resource usage increases</a:t>
            </a:r>
          </a:p>
          <a:p>
            <a:pPr lvl="1"/>
            <a:r>
              <a:rPr lang="en-US" sz="1600" dirty="0"/>
              <a:t>Cold-start time multiplies (one for each version)</a:t>
            </a:r>
          </a:p>
          <a:p>
            <a:pPr lvl="1"/>
            <a:r>
              <a:rPr lang="en-US" sz="1600" dirty="0"/>
              <a:t>If model load time is 30 seconds and you have 3 active model versions, you may need 90 seconds before full capacity becomes available during a spike.</a:t>
            </a:r>
          </a:p>
        </p:txBody>
      </p:sp>
    </p:spTree>
    <p:extLst>
      <p:ext uri="{BB962C8B-B14F-4D97-AF65-F5344CB8AC3E}">
        <p14:creationId xmlns:p14="http://schemas.microsoft.com/office/powerpoint/2010/main" val="1426654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65503-2966-49EF-61C4-6CB209FA7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Production Monitoring &amp; Scaling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B8EBA70-A82A-1E04-2452-4F669F2888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576744"/>
              </p:ext>
            </p:extLst>
          </p:nvPr>
        </p:nvGraphicFramePr>
        <p:xfrm>
          <a:off x="457200" y="2295144"/>
          <a:ext cx="7946136" cy="3858769"/>
        </p:xfrm>
        <a:graphic>
          <a:graphicData uri="http://schemas.openxmlformats.org/drawingml/2006/table">
            <a:tbl>
              <a:tblPr/>
              <a:tblGrid>
                <a:gridCol w="3973068">
                  <a:extLst>
                    <a:ext uri="{9D8B030D-6E8A-4147-A177-3AD203B41FA5}">
                      <a16:colId xmlns:a16="http://schemas.microsoft.com/office/drawing/2014/main" val="1081436599"/>
                    </a:ext>
                  </a:extLst>
                </a:gridCol>
                <a:gridCol w="3973068">
                  <a:extLst>
                    <a:ext uri="{9D8B030D-6E8A-4147-A177-3AD203B41FA5}">
                      <a16:colId xmlns:a16="http://schemas.microsoft.com/office/drawing/2014/main" val="644140226"/>
                    </a:ext>
                  </a:extLst>
                </a:gridCol>
              </a:tblGrid>
              <a:tr h="8123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Category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Details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1189907"/>
                  </a:ext>
                </a:extLst>
              </a:tr>
              <a:tr h="8123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Key Metrics to Track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Latency, Throughput, Accuracy Drift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9482045"/>
                  </a:ext>
                </a:extLst>
              </a:tr>
              <a:tr h="8123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Monitoring Tools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Prometheus, Grafana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8252501"/>
                  </a:ext>
                </a:extLst>
              </a:tr>
              <a:tr h="1421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Scaling Strategies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Horizontal Scaling, Vertical Scaling, Caching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773847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6D053F0-577D-9EE3-0521-F1AF35BB93C3}"/>
              </a:ext>
            </a:extLst>
          </p:cNvPr>
          <p:cNvSpPr txBox="1"/>
          <p:nvPr/>
        </p:nvSpPr>
        <p:spPr>
          <a:xfrm>
            <a:off x="585216" y="1648813"/>
            <a:ext cx="7562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Key aspects for monitoring and scaling ML models in production environments.</a:t>
            </a:r>
          </a:p>
        </p:txBody>
      </p:sp>
    </p:spTree>
    <p:extLst>
      <p:ext uri="{BB962C8B-B14F-4D97-AF65-F5344CB8AC3E}">
        <p14:creationId xmlns:p14="http://schemas.microsoft.com/office/powerpoint/2010/main" val="13904863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Versioned model artifacts</a:t>
            </a:r>
          </a:p>
          <a:p>
            <a:r>
              <a:rPr dirty="0"/>
              <a:t>Health &amp; readiness probes</a:t>
            </a:r>
          </a:p>
          <a:p>
            <a:r>
              <a:rPr dirty="0"/>
              <a:t>Structured logs + tracing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808</TotalTime>
  <Words>1093</Words>
  <Application>Microsoft Office PowerPoint</Application>
  <PresentationFormat>On-screen Show (4:3)</PresentationFormat>
  <Paragraphs>152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Model Deployment Basics</vt:lpstr>
      <vt:lpstr>Why Deployment Matters</vt:lpstr>
      <vt:lpstr>What is Model Serialization?</vt:lpstr>
      <vt:lpstr>Model Serialization Options</vt:lpstr>
      <vt:lpstr>REST API Development Process</vt:lpstr>
      <vt:lpstr>Flask REST API Basics</vt:lpstr>
      <vt:lpstr>What does monitoring mean?</vt:lpstr>
      <vt:lpstr>Monitoring</vt:lpstr>
      <vt:lpstr>Why do we need to scale? </vt:lpstr>
      <vt:lpstr>Scaling up vs out</vt:lpstr>
      <vt:lpstr>Scaling Considerations</vt:lpstr>
      <vt:lpstr>Deploy on Kubernetes </vt:lpstr>
      <vt:lpstr>Autoscale using HPA (Horizontal Pod Autoscaler) </vt:lpstr>
      <vt:lpstr>Scaling-related challenges for ML services </vt:lpstr>
      <vt:lpstr>Production Monitoring &amp; Scaling</vt:lpstr>
      <vt:lpstr>Production Checklist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Sidharth Sharma</cp:lastModifiedBy>
  <cp:revision>50</cp:revision>
  <dcterms:created xsi:type="dcterms:W3CDTF">2013-01-27T09:14:16Z</dcterms:created>
  <dcterms:modified xsi:type="dcterms:W3CDTF">2025-11-26T12:58:29Z</dcterms:modified>
  <cp:category/>
</cp:coreProperties>
</file>