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95" r:id="rId4"/>
    <p:sldId id="258" r:id="rId5"/>
    <p:sldId id="259" r:id="rId6"/>
    <p:sldId id="260" r:id="rId7"/>
    <p:sldId id="288" r:id="rId8"/>
    <p:sldId id="261" r:id="rId9"/>
    <p:sldId id="262" r:id="rId10"/>
    <p:sldId id="289" r:id="rId11"/>
    <p:sldId id="263" r:id="rId12"/>
    <p:sldId id="264" r:id="rId13"/>
    <p:sldId id="265" r:id="rId14"/>
    <p:sldId id="266" r:id="rId15"/>
    <p:sldId id="267" r:id="rId16"/>
    <p:sldId id="291" r:id="rId17"/>
    <p:sldId id="268" r:id="rId18"/>
    <p:sldId id="269" r:id="rId19"/>
    <p:sldId id="271" r:id="rId20"/>
    <p:sldId id="272" r:id="rId21"/>
    <p:sldId id="273" r:id="rId22"/>
    <p:sldId id="292" r:id="rId23"/>
    <p:sldId id="274" r:id="rId24"/>
    <p:sldId id="275" r:id="rId25"/>
    <p:sldId id="293" r:id="rId26"/>
    <p:sldId id="294" r:id="rId27"/>
    <p:sldId id="276" r:id="rId28"/>
    <p:sldId id="282" r:id="rId29"/>
    <p:sldId id="284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67" autoAdjust="0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69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3028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5828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MLOps Essentials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522132" y="2682280"/>
            <a:ext cx="409963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Production-Ready ML Systems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38244" y="3307060"/>
            <a:ext cx="266751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• Docker • Monitoring • Drift Detection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0"/>
            <a:ext cx="7620000" cy="242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1: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MLOps &amp; Deployment Fundamentals 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2: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CI/CD Pipelines for ML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3: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Docker Containerization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4: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Monitoring &amp; Drift Detection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5: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Production Deployment Strategies</a:t>
            </a:r>
            <a:endParaRPr lang="en-US" sz="1350" dirty="0"/>
          </a:p>
          <a:p>
            <a:pPr>
              <a:lnSpc>
                <a:spcPts val="2430"/>
              </a:lnSpc>
              <a:buSzPct val="100000"/>
            </a:pP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D34F47C5-CEAA-C940-4D39-B4751C318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343" y="301456"/>
            <a:ext cx="828765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ML models fail after deployment, not during training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challenges: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Changing data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Scale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Reliability</a:t>
            </a:r>
          </a:p>
          <a:p>
            <a:pPr lvl="1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Reproducibility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679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MLOps Matters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1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ML development faces critical challenges: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71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team collaboration &amp; communication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deployment causing errors and delays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version tracking of models and 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monitoring for performance degradation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43190" y="4144964"/>
            <a:ext cx="7924800" cy="944761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68514" y="16768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 Workflow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97114" y="1036341"/>
            <a:ext cx="7616952" cy="274241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7114" y="1310581"/>
            <a:ext cx="7616952" cy="213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&amp; preprocess data, manage versions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7114" y="1645842"/>
            <a:ext cx="7616952" cy="274241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Development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7114" y="2016910"/>
            <a:ext cx="7616952" cy="213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experiment, track metrics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7114" y="2360816"/>
            <a:ext cx="7616952" cy="274241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7114" y="2685398"/>
            <a:ext cx="7616952" cy="213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&amp; evaluate models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7114" y="3051233"/>
            <a:ext cx="7616952" cy="274241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7114" y="3363574"/>
            <a:ext cx="7616952" cy="213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CI/CD pipelines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7114" y="3723808"/>
            <a:ext cx="7616952" cy="274241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7114" y="4038303"/>
            <a:ext cx="7616952" cy="213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performance &amp; drift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7114" y="4499790"/>
            <a:ext cx="7616952" cy="274241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7114" y="4878675"/>
            <a:ext cx="7616952" cy="213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Auto-refresh on decline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Integration &amp; Deployment (CI/CD)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1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ML pipelines different from traditional software?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72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 on Code, Data, Features &amp; Model Artifacts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change frequently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structured validation at each step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automated testing &amp; deployment</a:t>
            </a:r>
            <a:endParaRPr lang="en-US" sz="1350" dirty="0"/>
          </a:p>
        </p:txBody>
      </p:sp>
      <p:pic>
        <p:nvPicPr>
          <p:cNvPr id="1026" name="Picture 2" descr="CI/CD Diagram">
            <a:extLst>
              <a:ext uri="{FF2B5EF4-FFF2-40B4-BE49-F238E27FC236}">
                <a16:creationId xmlns:a16="http://schemas.microsoft.com/office/drawing/2014/main" id="{96D0F717-914B-2F46-1A42-EBB2CAD78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316961"/>
            <a:ext cx="4031209" cy="2109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agram">
            <a:extLst>
              <a:ext uri="{FF2B5EF4-FFF2-40B4-BE49-F238E27FC236}">
                <a16:creationId xmlns:a16="http://schemas.microsoft.com/office/drawing/2014/main" id="{BB8EE3D7-D637-F55D-0245-88BBEEC937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42"/>
          <a:stretch>
            <a:fillRect/>
          </a:stretch>
        </p:blipFill>
        <p:spPr bwMode="auto">
          <a:xfrm>
            <a:off x="482722" y="1"/>
            <a:ext cx="7763512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1006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Integration (CI)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1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focuses on validating ML changes: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72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Validation: detect schema &amp; anomalies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Validation: ensure consistency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Training: automatic retraining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&amp; Integration Tests: validate pipelines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Evaluation: accuracy, F1, ROC-AUC checks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3794522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Validated model artifact in registry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Deployment (CD)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1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automates safe model releases: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72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Registry (catalog of trained models): automatic version selection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Strategies: Blue-Green, Canary, Shadow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Auto-Monitoring: drift, latency, accuracy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Rollback: automatic revert on failure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000000"/>
                </a:solidFill>
              </a:rPr>
              <a:t>What Actually Happens in an ML CI/CD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>
                <a:solidFill>
                  <a:srgbClr val="000000"/>
                </a:solidFill>
              </a:rPr>
              <a:t>1) Developer pushes code or new data to GitHub</a:t>
            </a:r>
          </a:p>
          <a:p>
            <a:r>
              <a:rPr sz="1800" dirty="0">
                <a:solidFill>
                  <a:srgbClr val="000000"/>
                </a:solidFill>
              </a:rPr>
              <a:t>2) CI pipeline starts: data validation + unit tests</a:t>
            </a:r>
          </a:p>
          <a:p>
            <a:r>
              <a:rPr sz="1800" dirty="0">
                <a:solidFill>
                  <a:srgbClr val="000000"/>
                </a:solidFill>
              </a:rPr>
              <a:t>3) Model is trained automatically on server</a:t>
            </a:r>
          </a:p>
          <a:p>
            <a:r>
              <a:rPr sz="1800" dirty="0">
                <a:solidFill>
                  <a:srgbClr val="000000"/>
                </a:solidFill>
              </a:rPr>
              <a:t>4) Model is evaluated against previous version</a:t>
            </a:r>
          </a:p>
          <a:p>
            <a:r>
              <a:rPr sz="1800" dirty="0">
                <a:solidFill>
                  <a:srgbClr val="000000"/>
                </a:solidFill>
              </a:rPr>
              <a:t>5) If metrics are better → model is registered</a:t>
            </a:r>
          </a:p>
          <a:p>
            <a:r>
              <a:rPr sz="1800" dirty="0">
                <a:solidFill>
                  <a:srgbClr val="000000"/>
                </a:solidFill>
              </a:rPr>
              <a:t>6) CD pipeline builds Docker image and deploys model</a:t>
            </a:r>
          </a:p>
          <a:p>
            <a:r>
              <a:rPr sz="1800" dirty="0">
                <a:solidFill>
                  <a:srgbClr val="000000"/>
                </a:solidFill>
              </a:rPr>
              <a:t>7) Monitoring starts in production (latency, accuracy, drift)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Deployment Strategies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61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Blue-Green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752502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identical envs, switch traffic when stable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2623840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Canary Release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2898084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to small user portion first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200" y="3769421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Deploy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" y="4043660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model runs parallel, no impact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CI/CD Improves ML Lifecycle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Efficiency: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Automates training, testing, deployment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Reliability: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Prevents bad models from production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Scalability: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Manage multiple models easily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Reproducibility: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Track all versions &amp; changes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704" y="569426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Docker: Containerization Platform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3"/>
            <a:ext cx="7924800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packages your application + dependencies in containers for seamless deployment across environments.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882080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2122094"/>
            <a:ext cx="7620000" cy="1154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behavior across dev, test, production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&amp; fast compared to VMs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Isolates dependencies &amp; prevents conflicts</a:t>
            </a:r>
            <a:endParaRPr lang="en-US" sz="1350" dirty="0"/>
          </a:p>
        </p:txBody>
      </p:sp>
      <p:pic>
        <p:nvPicPr>
          <p:cNvPr id="3074" name="Picture 2" descr="What is Docker and why it is used?">
            <a:extLst>
              <a:ext uri="{FF2B5EF4-FFF2-40B4-BE49-F238E27FC236}">
                <a16:creationId xmlns:a16="http://schemas.microsoft.com/office/drawing/2014/main" id="{2268F691-47AF-1370-374F-B376CB7DF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4" y="455422"/>
            <a:ext cx="774259" cy="63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Architecture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63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Client: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Sends commands (build, run, pull)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2301180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Daemon: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Processes requests via REST API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3124102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Registry (Hub):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Stores &amp; distributes images</a:t>
            </a:r>
            <a:endParaRPr lang="en-US" sz="12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89CBDE7-E3D6-A048-7FA8-EE68CA036D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61"/>
          <a:stretch>
            <a:fillRect/>
          </a:stretch>
        </p:blipFill>
        <p:spPr bwMode="auto">
          <a:xfrm>
            <a:off x="5077089" y="1173804"/>
            <a:ext cx="3512840" cy="2948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Docker Components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Images: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Read-only templates with all dependencies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Dockerfile: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Text file with instructions to build image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Containers: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Runtime instances of images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Registry: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Storage for public/private repositories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000000"/>
                </a:solidFill>
              </a:rPr>
              <a:t>What Goes Inside a Dockerfile (Conceptual)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00000"/>
                </a:solidFill>
              </a:rPr>
              <a:t>Base image: e.g., python:3.9-slim</a:t>
            </a:r>
          </a:p>
          <a:p>
            <a:r>
              <a:rPr sz="1800">
                <a:solidFill>
                  <a:srgbClr val="000000"/>
                </a:solidFill>
              </a:rPr>
              <a:t>Install dependencies: numpy, pandas, sklearn, flask, etc.</a:t>
            </a:r>
          </a:p>
          <a:p>
            <a:r>
              <a:rPr sz="1800">
                <a:solidFill>
                  <a:srgbClr val="000000"/>
                </a:solidFill>
              </a:rPr>
              <a:t>Copy model file and API code into container</a:t>
            </a:r>
          </a:p>
          <a:p>
            <a:r>
              <a:rPr sz="1800">
                <a:solidFill>
                  <a:srgbClr val="000000"/>
                </a:solidFill>
              </a:rPr>
              <a:t>Expose a port (e.g., 5000)</a:t>
            </a:r>
          </a:p>
          <a:p>
            <a:r>
              <a:rPr sz="1800">
                <a:solidFill>
                  <a:srgbClr val="000000"/>
                </a:solidFill>
              </a:rPr>
              <a:t>Command to start API: python app.py</a:t>
            </a:r>
          </a:p>
          <a:p>
            <a:r>
              <a:rPr sz="1800">
                <a:solidFill>
                  <a:srgbClr val="000000"/>
                </a:solidFill>
              </a:rPr>
              <a:t>Result: one portable image that runs the same everywhere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Containerization Advantages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63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752502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&amp; fast boot-up process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2623840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Portability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2898084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Linux, Windows, Mac, cloud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200" y="3769421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" y="4043660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containers per host than VMs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Dockerfile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3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Commands: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72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image (ubuntu, python, etc)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commands during build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files into container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ports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command to run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in Production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3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Monitor: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77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Accuracy &amp; Performance Metrics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Latency &amp; Throughput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&amp; Anomalies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Health (CPU, Memory, Disk)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Drift Detection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3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Drift: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Input data changes over time, model becomes obsolete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77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feature distributions regularly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statistical shifts early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training vs production 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automatic retraining when drift detected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Drift Detection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3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Drift:</a:t>
            </a: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Relationship between features &amp; target changes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77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prediction quality decline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expected vs actual outcomes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performance degradation early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automated retraining pipelines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456612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dirty="0">
                <a:solidFill>
                  <a:srgbClr val="000000"/>
                </a:solidFill>
              </a:rPr>
              <a:t>Data Drift vs Concept Drift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179786" cy="2031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>
                <a:solidFill>
                  <a:srgbClr val="000000"/>
                </a:solidFill>
              </a:rPr>
              <a:t>Data Drift: Input data distribution changes (e.g., age, salary ranges change)</a:t>
            </a:r>
          </a:p>
          <a:p>
            <a:r>
              <a:rPr sz="1800" dirty="0">
                <a:solidFill>
                  <a:srgbClr val="000000"/>
                </a:solidFill>
              </a:rPr>
              <a:t>Model trained on old data but production data looks different</a:t>
            </a:r>
          </a:p>
          <a:p>
            <a:endParaRPr lang="en-US" sz="1800" dirty="0">
              <a:solidFill>
                <a:srgbClr val="000000"/>
              </a:solidFill>
            </a:endParaRPr>
          </a:p>
          <a:p>
            <a:r>
              <a:rPr sz="1800" dirty="0">
                <a:solidFill>
                  <a:srgbClr val="000000"/>
                </a:solidFill>
              </a:rPr>
              <a:t>Concept Drift: Relationship between input and output changes</a:t>
            </a:r>
          </a:p>
          <a:p>
            <a:endParaRPr lang="en-US" sz="1800" dirty="0">
              <a:solidFill>
                <a:srgbClr val="000000"/>
              </a:solidFill>
            </a:endParaRPr>
          </a:p>
          <a:p>
            <a:r>
              <a:rPr sz="1800" dirty="0">
                <a:solidFill>
                  <a:srgbClr val="000000"/>
                </a:solidFill>
              </a:rPr>
              <a:t>Example: Customer behavior changes over time</a:t>
            </a:r>
          </a:p>
          <a:p>
            <a:r>
              <a:rPr sz="1800" dirty="0">
                <a:solidFill>
                  <a:srgbClr val="000000"/>
                </a:solidFill>
              </a:rPr>
              <a:t>Both cause silent accuracy drop if not monitored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Detection Methods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63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Tests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752507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divergence, Kolmogorov-Smirnov tests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2623840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Monitoring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2898084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accuracy over time windows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200" y="3769426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Alerts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" y="4043660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retraining thresholds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Retraining Pipeline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63"/>
            <a:ext cx="8083296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models fresh without manual intervention: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77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retraining when drift detected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new data automatically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before deployment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if performance drops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000000"/>
                </a:solidFill>
              </a:rPr>
              <a:t>How Drift is Monitored in Real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50643"/>
            <a:ext cx="7781834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00000"/>
                </a:solidFill>
              </a:rPr>
              <a:t>Store recent production data and predictions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00000"/>
                </a:solidFill>
              </a:rPr>
              <a:t>Compare new data distribution with training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00000"/>
                </a:solidFill>
              </a:rPr>
              <a:t>Run statistical tests (KS test, KL divergence, PSI, etc.)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00000"/>
                </a:solidFill>
              </a:rPr>
              <a:t>Track live accuracy if ground truth is available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00000"/>
                </a:solidFill>
              </a:rPr>
              <a:t>If drift crosses threshold → send alert or trigger retraining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000000"/>
                </a:solidFill>
              </a:rPr>
              <a:t>End-to-End MLOps Reference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38632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00000"/>
                </a:solidFill>
              </a:rPr>
              <a:t>Data Source → Data Validation → Training Pipeline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00000"/>
                </a:solidFill>
              </a:rPr>
              <a:t>Experiment Tracking (</a:t>
            </a:r>
            <a:r>
              <a:rPr sz="1800" dirty="0" err="1">
                <a:solidFill>
                  <a:srgbClr val="000000"/>
                </a:solidFill>
              </a:rPr>
              <a:t>MLflow</a:t>
            </a:r>
            <a:r>
              <a:rPr sz="1800" dirty="0">
                <a:solidFill>
                  <a:srgbClr val="000000"/>
                </a:solidFill>
              </a:rPr>
              <a:t> / W&amp;B) stores metrics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00000"/>
                </a:solidFill>
              </a:rPr>
              <a:t>Best model → Model Registry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00000"/>
                </a:solidFill>
              </a:rPr>
              <a:t>Docker builds inference service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00000"/>
                </a:solidFill>
              </a:rPr>
              <a:t>CI/CD deploys to server / cloud / Kubernetes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00000"/>
                </a:solidFill>
              </a:rPr>
              <a:t>Monitoring checks performance + drift → triggers retraining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 Best Practices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 code, data, &amp; models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Containerize with Docker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CI/CD pipelines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comprehensive monitoring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data &amp; feature lineage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ML in Production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63"/>
            <a:ext cx="7620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Kubernetes for container orchestration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load balancing for predictions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resource utilization continuously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Auto-scale based on demand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multiple model versions seamlessly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63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Metrics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752507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Accuracy, F1, precision, recall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2623840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Metrics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2898084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Latency, throughput, uptime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200" y="3769426"/>
            <a:ext cx="76169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" y="4043660"/>
            <a:ext cx="76169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frequency, time-to-market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1310</TotalTime>
  <Words>1053</Words>
  <Application>Microsoft Office PowerPoint</Application>
  <PresentationFormat>On-screen Show (16:9)</PresentationFormat>
  <Paragraphs>203</Paragraphs>
  <Slides>29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Sidharth Sharma</cp:lastModifiedBy>
  <cp:revision>17</cp:revision>
  <dcterms:created xsi:type="dcterms:W3CDTF">2026-01-07T04:50:43Z</dcterms:created>
  <dcterms:modified xsi:type="dcterms:W3CDTF">2026-01-08T03:14:02Z</dcterms:modified>
</cp:coreProperties>
</file>