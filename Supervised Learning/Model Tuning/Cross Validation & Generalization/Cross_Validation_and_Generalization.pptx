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79" r:id="rId6"/>
    <p:sldId id="259" r:id="rId7"/>
    <p:sldId id="275" r:id="rId8"/>
    <p:sldId id="274" r:id="rId9"/>
    <p:sldId id="277" r:id="rId10"/>
    <p:sldId id="278" r:id="rId11"/>
    <p:sldId id="276" r:id="rId12"/>
    <p:sldId id="261" r:id="rId13"/>
    <p:sldId id="266" r:id="rId14"/>
    <p:sldId id="272" r:id="rId15"/>
    <p:sldId id="271" r:id="rId16"/>
    <p:sldId id="270" r:id="rId17"/>
    <p:sldId id="267" r:id="rId18"/>
    <p:sldId id="269" r:id="rId19"/>
    <p:sldId id="268" r:id="rId20"/>
    <p:sldId id="262" r:id="rId21"/>
    <p:sldId id="263" r:id="rId22"/>
    <p:sldId id="26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59:27.9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1 456 24575,'6'1'0,"0"0"0,0 1 0,0 0 0,0 0 0,0 0 0,0 1 0,9 5 0,7 3 0,208 80 0,-200-81 0,-18-6 0,-1 0 0,1 0 0,22 13 0,42 34 0,-67-44 0,1-1 0,0 0 0,0-1 0,1 0 0,0-1 0,0 0 0,0-1 0,22 4 0,8-1 0,48 0 0,-61-5 0,-17 0 0,-2 0 0,0-1 0,1 0 0,-1 0 0,0-1 0,11-2 0,-18 3 0,-1 0 0,0-1 0,0 1 0,1-1 0,-1 1 0,0-1 0,0 1 0,0-1 0,0 0 0,1 1 0,-1-1 0,0 0 0,0 0 0,-1 0 0,1 0 0,0 0 0,0 0 0,0 0 0,-1 0 0,1-1 0,0 1 0,-1 0 0,1 0 0,-1 0 0,0-1 0,1 1 0,-1 0 0,0-1 0,0 1 0,0 0 0,0-1 0,0 1 0,0 0 0,0 0 0,0-1 0,0 1 0,-1 0 0,1-1 0,0 1 0,-1 0 0,1 0 0,-1-1 0,-1-1 0,-3-7 0,0 0 0,-1 1 0,0 0 0,-1 0 0,-11-13 0,-12-17 0,12 10 0,14 21 0,-1 1 0,1-1 0,-1 1 0,0 0 0,-1 1 0,0-1 0,0 1 0,-12-9 0,-21-17 0,29 23 0,0 0 0,-21-13 0,17 12 0,1 0 0,0-1 0,-20-21 0,-2-2 0,29 28 0,0 0 0,0-1 0,-6-9 0,8 10 0,0 0 0,0 1 0,-1 0 0,1 0 0,-1 0 0,-7-5 0,-46-37 0,26 24 0,25 16 0,-1 1 0,0 0 0,-1 1 0,1-1 0,-1 2 0,0-1 0,-15-4 0,-20-9 0,38 15 0,0 0 0,0 0 0,0 0 0,-1 1 0,1 0 0,-1 1 0,1-1 0,-14 0 0,17 2-40,0-1 0,1 1 0,-1-1 0,0 1-1,0-1 1,0 0 0,0 0 0,1-1 0,-1 1 0,1 0 0,-1-1-1,1 0 1,-1 1 0,1-1 0,0 0 0,0 0 0,0 0-1,0-1 1,0 1 0,0 0 0,1-1 0,-1 1 0,1-1 0,-1 0-1,1 1 1,0-1 0,0 0 0,1 0 0,-1 0 0,0 1-1,1-1 1,0 0 0,-1-3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56:40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57:19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8:01:4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17092,'-2'2'344,"2"1"-344,2 2-56,1-4 32,0-1-8,-1 0 48,-1 2 80,-7-8-3825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8:01:5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1888,'2'0'6,"-1"1"1,0 0-1,1 0 0,-1 0 0,0 0 0,0 0 0,0 0 0,0 0 0,0 0 0,0 0 0,0 0 0,0 1 0,0-1 0,-1 0 0,2 3 0,0 0 1,4 3-12,1-1-1,0 1 1,-1-1-1,2 0 1,-1-1-1,1 0 1,0 0 0,9 4-1,-5-3-2,-1 1 1,0 0-1,12 11 0,-6-2-2,-13-11-3,0-1 0,1 1 0,-1-1 0,1 0 1,0 0-1,0-1 0,0 1 0,1-1 0,-1 0 0,11 3 0,-10-4-67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0.png"/><Relationship Id="rId7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customXml" Target="../ink/ink3.xml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Cross-Validation &amp; Generalization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k-Fold CV | Bias-Variance Trade-off | Model Selection via CV Scores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Generalization?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Ability of a model to perform well on unseen data (not just training data).</a:t>
            </a:r>
          </a:p>
          <a:p>
            <a:r>
              <a:rPr dirty="0"/>
              <a:t>Goal: Minimize error on new, unseen data.</a:t>
            </a:r>
          </a:p>
          <a:p>
            <a:r>
              <a:rPr dirty="0"/>
              <a:t>Overfitting: Model memorizes training data → poor generalization.</a:t>
            </a:r>
          </a:p>
          <a:p>
            <a:r>
              <a:rPr dirty="0"/>
              <a:t>Underfitting: Model too simple → poor training and test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Measuring 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Split data into Training, Validation, and Test sets.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Single split may depend too much on random data division → unstable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C86A2-7646-017E-5411-0E683CE14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67" y="2240841"/>
            <a:ext cx="8230313" cy="2962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92794-1F12-4A01-CF45-C088ED1CC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43387"/>
            <a:ext cx="8229600" cy="5571226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r>
              <a:rPr lang="en-US" b="1" dirty="0"/>
              <a:t>Holdout Validation</a:t>
            </a:r>
          </a:p>
          <a:p>
            <a:pPr fontAlgn="base"/>
            <a:r>
              <a:rPr lang="en-US" sz="5000" dirty="0"/>
              <a:t>In</a:t>
            </a:r>
            <a:r>
              <a:rPr lang="en-US" sz="5000" u="sng" dirty="0"/>
              <a:t> Holdout Validation</a:t>
            </a:r>
            <a:r>
              <a:rPr lang="en-US" sz="5000" dirty="0"/>
              <a:t> method typically does</a:t>
            </a:r>
          </a:p>
          <a:p>
            <a:pPr lvl="1" fontAlgn="base"/>
            <a:r>
              <a:rPr lang="en-US" sz="5000" dirty="0"/>
              <a:t>Training: 60–70%</a:t>
            </a:r>
          </a:p>
          <a:p>
            <a:pPr lvl="1" fontAlgn="base"/>
            <a:r>
              <a:rPr lang="en-US" sz="5000" dirty="0"/>
              <a:t>Validation: 15–20%</a:t>
            </a:r>
          </a:p>
          <a:p>
            <a:pPr lvl="1" fontAlgn="base"/>
            <a:r>
              <a:rPr lang="en-US" sz="5000" dirty="0"/>
              <a:t>Test: 15–20%</a:t>
            </a:r>
          </a:p>
          <a:p>
            <a:pPr fontAlgn="base"/>
            <a:r>
              <a:rPr lang="en-US" sz="5000" dirty="0"/>
              <a:t> Making it simple and quick to apply. </a:t>
            </a:r>
          </a:p>
          <a:p>
            <a:pPr fontAlgn="base"/>
            <a:r>
              <a:rPr lang="en-US" sz="5000" dirty="0"/>
              <a:t>When you split data into three parts, only a fraction (say 60–70%) is used for training.</a:t>
            </a:r>
          </a:p>
          <a:p>
            <a:pPr fontAlgn="base"/>
            <a:r>
              <a:rPr lang="en-US" sz="5000" dirty="0"/>
              <a:t>The remaining 30–40% (validation + test) is held out and not used for fitting model parameters.</a:t>
            </a:r>
          </a:p>
          <a:p>
            <a:pPr fontAlgn="base"/>
            <a:r>
              <a:rPr lang="en-US" sz="5000" dirty="0"/>
              <a:t>On small or moderate datasets, this means the model trains on less data than it could leading  to: </a:t>
            </a:r>
          </a:p>
          <a:p>
            <a:pPr lvl="1" fontAlgn="base"/>
            <a:r>
              <a:rPr lang="en-US" sz="5000" dirty="0"/>
              <a:t>higher variance in performance estimates, weaker models, and less stable results.</a:t>
            </a:r>
          </a:p>
          <a:p>
            <a:pPr fontAlgn="base"/>
            <a:r>
              <a:rPr lang="en-US" sz="5000" dirty="0"/>
              <a:t>With a single fixed split, results depend heavily on how the data was divided.</a:t>
            </a:r>
          </a:p>
          <a:p>
            <a:pPr fontAlgn="base"/>
            <a:r>
              <a:rPr lang="en-US" sz="5000" dirty="0"/>
              <a:t>A lucky or unlucky split can make a model look better or worse.</a:t>
            </a:r>
          </a:p>
          <a:p>
            <a:pPr fontAlgn="base"/>
            <a:r>
              <a:rPr lang="en-US" sz="5000" dirty="0"/>
              <a:t>Different random splits can produce quite different validation/test scores, especially when the dataset is small or has outliers.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53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F5C2-9725-344A-6993-6B5820F8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judge overfitting and 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96E38-F5B7-10CE-76DC-A8E3E1FB1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70494"/>
            <a:ext cx="8229600" cy="4525963"/>
          </a:xfrm>
        </p:spPr>
        <p:txBody>
          <a:bodyPr/>
          <a:lstStyle/>
          <a:p>
            <a:r>
              <a:rPr lang="en-US" dirty="0"/>
              <a:t>Underfitting (High bias): both training and validation error are high.</a:t>
            </a:r>
          </a:p>
          <a:p>
            <a:r>
              <a:rPr lang="en-US" dirty="0"/>
              <a:t>Good fit: training error ↓, validation error ↓.</a:t>
            </a:r>
          </a:p>
          <a:p>
            <a:r>
              <a:rPr lang="en-US" dirty="0"/>
              <a:t>Overfitting (High variance): training error ↓ further, but validation error ↑.</a:t>
            </a:r>
          </a:p>
        </p:txBody>
      </p:sp>
    </p:spTree>
    <p:extLst>
      <p:ext uri="{BB962C8B-B14F-4D97-AF65-F5344CB8AC3E}">
        <p14:creationId xmlns:p14="http://schemas.microsoft.com/office/powerpoint/2010/main" val="35007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Cross-Validation (CV)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dirty="0"/>
              <a:t>It is a technique used to check how well a machine learning model performs on unseen data while preventing overfitting. 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It works by: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Splitting the dataset into several parts.</a:t>
            </a:r>
          </a:p>
          <a:p>
            <a:pPr fontAlgn="base"/>
            <a:r>
              <a:rPr lang="en-US" dirty="0"/>
              <a:t>Training the model on some parts and testing it on the remaining part.</a:t>
            </a:r>
          </a:p>
          <a:p>
            <a:pPr fontAlgn="base"/>
            <a:r>
              <a:rPr lang="en-US" dirty="0"/>
              <a:t>Repeating this resampling process multiple times by choosing different parts of the dataset.</a:t>
            </a:r>
          </a:p>
          <a:p>
            <a:pPr fontAlgn="base"/>
            <a:r>
              <a:rPr lang="en-US" dirty="0"/>
              <a:t>Averaging the results from each validation step to get the final performance.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CF77-FB9A-E96F-3684-A5B903D0E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3152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1. LOOCV (Leave One Out Cross Validation)</a:t>
            </a:r>
          </a:p>
          <a:p>
            <a:pPr fontAlgn="base"/>
            <a:r>
              <a:rPr lang="en-US" dirty="0"/>
              <a:t>Model is trained on the entire dataset except for one data point which is used for testing. </a:t>
            </a:r>
          </a:p>
          <a:p>
            <a:pPr fontAlgn="base"/>
            <a:r>
              <a:rPr lang="en-US" dirty="0"/>
              <a:t>This process is repeated for each data point in the dataset.</a:t>
            </a:r>
          </a:p>
          <a:p>
            <a:pPr fontAlgn="base"/>
            <a:r>
              <a:rPr lang="en-US" dirty="0"/>
              <a:t>All data points are used for training, resulting in low bias.</a:t>
            </a:r>
          </a:p>
          <a:p>
            <a:pPr fontAlgn="base"/>
            <a:r>
              <a:rPr lang="en-US" dirty="0"/>
              <a:t>Testing on a single data point can cause high variance, especially if the point is an outlier.</a:t>
            </a:r>
          </a:p>
          <a:p>
            <a:pPr fontAlgn="base"/>
            <a:r>
              <a:rPr lang="en-US" dirty="0"/>
              <a:t>It can be very time-consuming for large datasets as it requires one iteration per data point.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69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385DE-6697-60C6-1070-7C679CB24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82" y="1684481"/>
            <a:ext cx="8086436" cy="348903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2. K-Fold Cross Validation</a:t>
            </a:r>
          </a:p>
          <a:p>
            <a:pPr fontAlgn="base"/>
            <a:r>
              <a:rPr lang="en-US" u="sng" dirty="0"/>
              <a:t>K-Fold Cross Validation</a:t>
            </a:r>
            <a:r>
              <a:rPr lang="en-US" dirty="0"/>
              <a:t> splits the dataset into </a:t>
            </a:r>
            <a:r>
              <a:rPr lang="en-US" i="1" dirty="0"/>
              <a:t>k</a:t>
            </a:r>
            <a:r>
              <a:rPr lang="en-US" dirty="0"/>
              <a:t> equal-sized folds. The model is trained on </a:t>
            </a:r>
            <a:r>
              <a:rPr lang="en-US" i="1" dirty="0"/>
              <a:t>k-1</a:t>
            </a:r>
            <a:r>
              <a:rPr lang="en-US" dirty="0"/>
              <a:t> folds and tested on the remaining fold. This process is repeated </a:t>
            </a:r>
            <a:r>
              <a:rPr lang="en-US" i="1" dirty="0"/>
              <a:t>k</a:t>
            </a:r>
            <a:r>
              <a:rPr lang="en-US" dirty="0"/>
              <a:t> times each time using a different fold for testing.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361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5DED87-5197-F1B0-4F56-57D4735DD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472" y="309855"/>
            <a:ext cx="7620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C7B2A5-3A69-01B9-808F-7F30A7F18C78}"/>
              </a:ext>
            </a:extLst>
          </p:cNvPr>
          <p:cNvSpPr txBox="1"/>
          <p:nvPr/>
        </p:nvSpPr>
        <p:spPr>
          <a:xfrm>
            <a:off x="347472" y="4119855"/>
            <a:ext cx="858621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+mj-lt"/>
              </a:rPr>
              <a:t>Here we will take k as 5.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73239"/>
                </a:solidFill>
                <a:effectLst/>
                <a:latin typeface="+mj-lt"/>
              </a:rPr>
              <a:t>1st iteration: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+mj-lt"/>
              </a:rPr>
              <a:t> The first 20% of data [1–5] is used for testing and the remaining 80% [6–25] is used for training.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73239"/>
                </a:solidFill>
                <a:effectLst/>
                <a:latin typeface="+mj-lt"/>
              </a:rPr>
              <a:t>2nd iteration: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+mj-lt"/>
              </a:rPr>
              <a:t> The second 20% [6–10] is used for testing and the remaining data [1–5] and [11–25] is used for training.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+mj-lt"/>
              </a:rPr>
              <a:t>This process continues until each fold has been used once as the test set.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74B7D-792D-D4D7-C8D2-E85EB1AB8590}"/>
              </a:ext>
            </a:extLst>
          </p:cNvPr>
          <p:cNvSpPr txBox="1"/>
          <p:nvPr/>
        </p:nvSpPr>
        <p:spPr>
          <a:xfrm>
            <a:off x="439836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of K-Fold Cross Validation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494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D1EEB1-0102-4CDE-2064-2E302EB090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922125"/>
              </p:ext>
            </p:extLst>
          </p:nvPr>
        </p:nvGraphicFramePr>
        <p:xfrm>
          <a:off x="393192" y="510889"/>
          <a:ext cx="7965717" cy="4171949"/>
        </p:xfrm>
        <a:graphic>
          <a:graphicData uri="http://schemas.openxmlformats.org/drawingml/2006/table">
            <a:tbl>
              <a:tblPr/>
              <a:tblGrid>
                <a:gridCol w="1991429">
                  <a:extLst>
                    <a:ext uri="{9D8B030D-6E8A-4147-A177-3AD203B41FA5}">
                      <a16:colId xmlns:a16="http://schemas.microsoft.com/office/drawing/2014/main" val="1152140121"/>
                    </a:ext>
                  </a:extLst>
                </a:gridCol>
                <a:gridCol w="2987144">
                  <a:extLst>
                    <a:ext uri="{9D8B030D-6E8A-4147-A177-3AD203B41FA5}">
                      <a16:colId xmlns:a16="http://schemas.microsoft.com/office/drawing/2014/main" val="4223018120"/>
                    </a:ext>
                  </a:extLst>
                </a:gridCol>
                <a:gridCol w="2987144">
                  <a:extLst>
                    <a:ext uri="{9D8B030D-6E8A-4147-A177-3AD203B41FA5}">
                      <a16:colId xmlns:a16="http://schemas.microsoft.com/office/drawing/2014/main" val="3076329120"/>
                    </a:ext>
                  </a:extLst>
                </a:gridCol>
              </a:tblGrid>
              <a:tr h="650804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1400" b="1">
                          <a:effectLst/>
                        </a:rPr>
                        <a:t>Iteration</a:t>
                      </a:r>
                    </a:p>
                  </a:txBody>
                  <a:tcPr marL="38100" marR="381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1400" b="1">
                          <a:effectLst/>
                        </a:rPr>
                        <a:t>Training Set Observations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1400" b="1">
                          <a:effectLst/>
                        </a:rPr>
                        <a:t>Testing Set Observations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99063"/>
                  </a:ext>
                </a:extLst>
              </a:tr>
              <a:tr h="70422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b="1">
                          <a:effectLst/>
                        </a:rPr>
                        <a:t>1</a:t>
                      </a:r>
                    </a:p>
                  </a:txBody>
                  <a:tcPr marL="38100" marR="38100" marT="36513" marB="3651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>
                          <a:effectLst/>
                        </a:rPr>
                        <a:t>[5-24]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>
                          <a:effectLst/>
                        </a:rPr>
                        <a:t>[0-4]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970075"/>
                  </a:ext>
                </a:extLst>
              </a:tr>
              <a:tr h="70422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b="1">
                          <a:effectLst/>
                        </a:rPr>
                        <a:t>2</a:t>
                      </a:r>
                    </a:p>
                  </a:txBody>
                  <a:tcPr marL="38100" marR="38100" marT="36513" marB="3651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 dirty="0">
                          <a:effectLst/>
                        </a:rPr>
                        <a:t>[0-4, 10-24]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>
                          <a:effectLst/>
                        </a:rPr>
                        <a:t>[5-9]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39625"/>
                  </a:ext>
                </a:extLst>
              </a:tr>
              <a:tr h="70422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b="1">
                          <a:effectLst/>
                        </a:rPr>
                        <a:t>3</a:t>
                      </a:r>
                    </a:p>
                  </a:txBody>
                  <a:tcPr marL="38100" marR="38100" marT="36513" marB="3651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>
                          <a:effectLst/>
                        </a:rPr>
                        <a:t>[0-9, 15-24]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>
                          <a:effectLst/>
                        </a:rPr>
                        <a:t>[10-14]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069644"/>
                  </a:ext>
                </a:extLst>
              </a:tr>
              <a:tr h="70422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b="1">
                          <a:effectLst/>
                        </a:rPr>
                        <a:t>4</a:t>
                      </a:r>
                    </a:p>
                  </a:txBody>
                  <a:tcPr marL="38100" marR="38100" marT="36513" marB="3651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>
                          <a:effectLst/>
                        </a:rPr>
                        <a:t>[0-14, 20-24]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>
                          <a:effectLst/>
                        </a:rPr>
                        <a:t>[15-19]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51930"/>
                  </a:ext>
                </a:extLst>
              </a:tr>
              <a:tr h="70422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b="1">
                          <a:effectLst/>
                        </a:rPr>
                        <a:t>5</a:t>
                      </a:r>
                    </a:p>
                  </a:txBody>
                  <a:tcPr marL="38100" marR="38100" marT="36513" marB="3651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 dirty="0">
                          <a:effectLst/>
                        </a:rPr>
                        <a:t>[0-19]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50" b="0" dirty="0">
                          <a:effectLst/>
                        </a:rPr>
                        <a:t>[20-24]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41999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B0F204D-4934-3AF1-EA50-ABAED96D2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544" y="5163403"/>
            <a:ext cx="78001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273239"/>
                </a:solidFill>
                <a:latin typeface="Nunito" pitchFamily="2" charset="0"/>
              </a:rPr>
              <a:t>Each iteration uses different subsets for testing and training, ensuring that all data points are used for both training and testing.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515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BD2D3-A128-C6DD-D750-52979A233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90" y="1092967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3. Stratified Cross-Validation (used for classification problems only)</a:t>
            </a:r>
          </a:p>
          <a:p>
            <a:pPr fontAlgn="base"/>
            <a:r>
              <a:rPr lang="en-US" dirty="0"/>
              <a:t>It is a technique that ensures each fold of the cross-validation process has the same class distribution as the full dataset. </a:t>
            </a:r>
          </a:p>
          <a:p>
            <a:pPr fontAlgn="base"/>
            <a:r>
              <a:rPr lang="en-US" dirty="0"/>
              <a:t>This is useful for imbalanced datasets where some classes are underrepresented.</a:t>
            </a:r>
          </a:p>
          <a:p>
            <a:pPr fontAlgn="base"/>
            <a:r>
              <a:rPr lang="en-US" dirty="0"/>
              <a:t>The dataset is divided into k folds, keeping class proportions consistent in each fold.</a:t>
            </a:r>
          </a:p>
          <a:p>
            <a:pPr fontAlgn="base"/>
            <a:r>
              <a:rPr lang="en-US" dirty="0"/>
              <a:t>In each iteration, one fold is used for testing and the remaining folds for training.</a:t>
            </a:r>
          </a:p>
          <a:p>
            <a:pPr fontAlgn="base"/>
            <a:r>
              <a:rPr lang="en-US" dirty="0"/>
              <a:t>This process is repeated k times so that each fold is used once as the test set.</a:t>
            </a:r>
          </a:p>
          <a:p>
            <a:pPr fontAlgn="base"/>
            <a:r>
              <a:rPr lang="en-US" dirty="0"/>
              <a:t>It helps classification models generalize better by maintaining balanced class representation.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4729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Bias-Variance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Bias: Error due to simplifying assumptions; leads to underfitting.</a:t>
            </a:r>
          </a:p>
          <a:p>
            <a:r>
              <a:rPr dirty="0"/>
              <a:t>Variance: Error due to model sensitivity to training data; leads to overfitting.</a:t>
            </a:r>
          </a:p>
          <a:p>
            <a:r>
              <a:rPr dirty="0"/>
              <a:t>Goal: Balance both to minimize total error.</a:t>
            </a:r>
          </a:p>
          <a:p>
            <a:r>
              <a:rPr dirty="0"/>
              <a:t>Visualization: U-shaped curve (x-axis: model complexity, y-axis: error).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5F0D-CB6E-32AD-D712-903B8780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Bias Variance Trade-off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0F9C8-9E8E-A15A-D811-8B586D689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Let us consider the problem of </a:t>
            </a:r>
            <a:r>
              <a:rPr lang="en-IN" b="1" dirty="0"/>
              <a:t>fitting a curve through a given set of points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We consider two models –</a:t>
            </a:r>
          </a:p>
          <a:p>
            <a:pPr marL="0" lvl="0" indent="0">
              <a:buNone/>
            </a:pPr>
            <a:r>
              <a:rPr lang="en-IN" dirty="0"/>
              <a:t>	 a) </a:t>
            </a:r>
            <a:r>
              <a:rPr lang="en-IN" b="1" dirty="0"/>
              <a:t>Simple model of degree 1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cy-GB" b="1" dirty="0"/>
              <a:t>                 ŷ </a:t>
            </a:r>
            <a:r>
              <a:rPr lang="en-IN" b="1" dirty="0"/>
              <a:t>= h(x) = ω</a:t>
            </a:r>
            <a:r>
              <a:rPr lang="en-IN" b="1" baseline="-25000" dirty="0"/>
              <a:t>0</a:t>
            </a:r>
            <a:r>
              <a:rPr lang="en-IN" b="1" dirty="0"/>
              <a:t>​+ω</a:t>
            </a:r>
            <a:r>
              <a:rPr lang="en-IN" b="1" baseline="-25000" dirty="0"/>
              <a:t>1</a:t>
            </a:r>
            <a:r>
              <a:rPr lang="en-IN" b="1" dirty="0"/>
              <a:t>​x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sz="1900" i="1" dirty="0"/>
              <a:t>Randomly drawn dataset of 100 instances</a:t>
            </a:r>
            <a:endParaRPr lang="en-IN" sz="1900" dirty="0"/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C76A150-34CA-47F4-55F1-1AC49DD09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3" b="8164"/>
          <a:stretch>
            <a:fillRect/>
          </a:stretch>
        </p:blipFill>
        <p:spPr bwMode="auto">
          <a:xfrm>
            <a:off x="997143" y="3690257"/>
            <a:ext cx="2323012" cy="197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9581DD-9FD5-BDC1-7AF4-54848566391B}"/>
                  </a:ext>
                </a:extLst>
              </p14:cNvPr>
              <p14:cNvContentPartPr/>
              <p14:nvPr/>
            </p14:nvContentPartPr>
            <p14:xfrm>
              <a:off x="7050487" y="4739598"/>
              <a:ext cx="310320" cy="263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9581DD-9FD5-BDC1-7AF4-5484856639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87847" y="4676958"/>
                <a:ext cx="435960" cy="38916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20030EF-5DE1-3C5E-0F68-6FB101647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638" y="3429000"/>
            <a:ext cx="5047162" cy="320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3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E8448-2F9E-EEC6-52C2-15BFDFD6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407125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b) Complex model of high degree.</a:t>
            </a:r>
          </a:p>
          <a:p>
            <a:endParaRPr lang="en-IN" b="1" baseline="30000" dirty="0"/>
          </a:p>
          <a:p>
            <a:endParaRPr lang="en-IN" b="1" baseline="30000" dirty="0"/>
          </a:p>
          <a:p>
            <a:endParaRPr lang="en-IN" b="1" baseline="30000" dirty="0"/>
          </a:p>
          <a:p>
            <a:endParaRPr lang="en-IN" b="1" baseline="30000" dirty="0"/>
          </a:p>
          <a:p>
            <a:endParaRPr lang="en-IN" b="1" baseline="30000" dirty="0"/>
          </a:p>
          <a:p>
            <a:endParaRPr lang="en-IN" b="1" baseline="30000" dirty="0"/>
          </a:p>
          <a:p>
            <a:endParaRPr lang="en-IN" b="1" baseline="30000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E0765E-3630-ED39-768F-0C3127D4A6E6}"/>
                  </a:ext>
                </a:extLst>
              </p14:cNvPr>
              <p14:cNvContentPartPr/>
              <p14:nvPr/>
            </p14:nvContentPartPr>
            <p14:xfrm>
              <a:off x="-2168794" y="98393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E0765E-3630-ED39-768F-0C3127D4A6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173114" y="97961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3DC5094-D21A-30B1-437C-9BB9B9FA3E0C}"/>
                  </a:ext>
                </a:extLst>
              </p14:cNvPr>
              <p14:cNvContentPartPr/>
              <p14:nvPr/>
            </p14:nvContentPartPr>
            <p14:xfrm>
              <a:off x="-2027314" y="1743531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3DC5094-D21A-30B1-437C-9BB9B9FA3E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33434" y="173741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8CE05CD-83F2-DA47-44A2-C7229D927D74}"/>
                  </a:ext>
                </a:extLst>
              </p14:cNvPr>
              <p14:cNvContentPartPr/>
              <p14:nvPr/>
            </p14:nvContentPartPr>
            <p14:xfrm>
              <a:off x="-514080" y="1524593"/>
              <a:ext cx="4320" cy="4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8CE05CD-83F2-DA47-44A2-C7229D927D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523080" y="1515593"/>
                <a:ext cx="219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C266940-4160-7204-F7E6-22D61AD16CEF}"/>
                  </a:ext>
                </a:extLst>
              </p14:cNvPr>
              <p14:cNvContentPartPr/>
              <p14:nvPr/>
            </p14:nvContentPartPr>
            <p14:xfrm>
              <a:off x="7008120" y="3840113"/>
              <a:ext cx="86040" cy="65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C266940-4160-7204-F7E6-22D61AD16C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99120" y="3831473"/>
                <a:ext cx="103680" cy="82800"/>
              </a:xfrm>
              <a:prstGeom prst="rect">
                <a:avLst/>
              </a:prstGeom>
            </p:spPr>
          </p:pic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BE61305B-0A4F-2EC8-5128-3E11456F84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710" y="1916342"/>
            <a:ext cx="7859222" cy="45345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7B3D266-C3B2-F2D2-B32D-8E112C78AD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2850" y="951366"/>
            <a:ext cx="3210373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57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CD97-B109-24E7-F2E1-3BFFDF7BB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2014516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Consider that the training data consist of 100 data points.</a:t>
            </a:r>
          </a:p>
          <a:p>
            <a:pPr lvl="0"/>
            <a:r>
              <a:rPr lang="en-IN" dirty="0"/>
              <a:t>We sample 25 data points from this training data and train a simple and a complex model.</a:t>
            </a:r>
          </a:p>
          <a:p>
            <a:pPr lvl="0"/>
            <a:r>
              <a:rPr lang="en-IN" dirty="0"/>
              <a:t>We repeat the process k times to train multiple such models.</a:t>
            </a:r>
          </a:p>
          <a:p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3185DC-3C65-8F29-0486-2588BB955C2C}"/>
              </a:ext>
            </a:extLst>
          </p:cNvPr>
          <p:cNvSpPr/>
          <p:nvPr/>
        </p:nvSpPr>
        <p:spPr>
          <a:xfrm>
            <a:off x="235528" y="435099"/>
            <a:ext cx="8229600" cy="14583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Note</a:t>
            </a:r>
            <a:r>
              <a:rPr lang="en-IN" sz="2800" dirty="0"/>
              <a:t> - In both the cases we are making an assumption about how y is related to x, we have </a:t>
            </a:r>
            <a:r>
              <a:rPr lang="en-IN" sz="2800" b="1" dirty="0"/>
              <a:t>no idea about the true relation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0287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40555-C610-A925-13B8-EDEF19C9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Simple vs. Complex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D2971-E39A-25E3-0A3C-05D7CF532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Case 1: Simple models</a:t>
            </a:r>
            <a:endParaRPr lang="en-IN" dirty="0"/>
          </a:p>
          <a:p>
            <a:r>
              <a:rPr lang="en-IN" dirty="0"/>
              <a:t>Simple models trained on different samples of the same data distribution </a:t>
            </a:r>
            <a:r>
              <a:rPr lang="en-IN" b="1" u="sng" dirty="0"/>
              <a:t>do not differ much </a:t>
            </a:r>
            <a:r>
              <a:rPr lang="en-IN" dirty="0"/>
              <a:t>from each other; however they are far away from the true sinusoidal curve.</a:t>
            </a:r>
          </a:p>
          <a:p>
            <a:r>
              <a:rPr lang="en-IN" b="1" dirty="0"/>
              <a:t>Underfitting         High Bias</a:t>
            </a:r>
          </a:p>
          <a:p>
            <a:pPr marL="0" indent="0">
              <a:buNone/>
            </a:pPr>
            <a:r>
              <a:rPr lang="en-IN" b="1" dirty="0"/>
              <a:t>Case 2: Complex models</a:t>
            </a:r>
            <a:endParaRPr lang="en-IN" dirty="0"/>
          </a:p>
          <a:p>
            <a:r>
              <a:rPr lang="en-IN" dirty="0"/>
              <a:t>On the other hand, complex models trained on different sets of same data distribution are </a:t>
            </a:r>
            <a:r>
              <a:rPr lang="en-IN" b="1" u="sng" dirty="0"/>
              <a:t>very different </a:t>
            </a:r>
            <a:r>
              <a:rPr lang="en-IN" dirty="0"/>
              <a:t>from each other, however they are very close to the true data distribution.</a:t>
            </a:r>
          </a:p>
          <a:p>
            <a:r>
              <a:rPr lang="en-IN" b="1" dirty="0"/>
              <a:t>Overfitting 	High Variance</a:t>
            </a:r>
          </a:p>
          <a:p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2EEAE3-9F2C-7D6B-D9A9-C60F5680CE49}"/>
              </a:ext>
            </a:extLst>
          </p:cNvPr>
          <p:cNvCxnSpPr>
            <a:cxnSpLocks/>
          </p:cNvCxnSpPr>
          <p:nvPr/>
        </p:nvCxnSpPr>
        <p:spPr>
          <a:xfrm>
            <a:off x="2760616" y="3631474"/>
            <a:ext cx="470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7B62BA-B84F-EA09-5940-8C81D0254238}"/>
              </a:ext>
            </a:extLst>
          </p:cNvPr>
          <p:cNvCxnSpPr>
            <a:cxnSpLocks/>
          </p:cNvCxnSpPr>
          <p:nvPr/>
        </p:nvCxnSpPr>
        <p:spPr>
          <a:xfrm>
            <a:off x="2447108" y="5830388"/>
            <a:ext cx="3831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443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CBCC37-9DE6-0A76-36A2-CFD5305C6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9478" y="3640138"/>
            <a:ext cx="4686300" cy="29432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ECDF0C-C0CD-F44D-A135-028E0FDDD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55" y="414172"/>
            <a:ext cx="5658640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18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8AF7-83AF-20C9-7DE1-B66407A2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WAYS TO REDUCE HIGH BIAS: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43A7F-F503-7E39-629F-82C07A1D9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800" dirty="0"/>
          </a:p>
          <a:p>
            <a:pPr lvl="0"/>
            <a:r>
              <a:rPr lang="en-IN" sz="2800" dirty="0"/>
              <a:t>Use a </a:t>
            </a:r>
            <a:r>
              <a:rPr lang="en-IN" sz="2800" b="1" dirty="0"/>
              <a:t>more complex model</a:t>
            </a:r>
            <a:r>
              <a:rPr lang="en-IN" sz="2800" dirty="0"/>
              <a:t> (degree of polynomial increase). (or no. of </a:t>
            </a:r>
            <a:r>
              <a:rPr lang="en-IN" sz="2800" dirty="0" err="1"/>
              <a:t>i</a:t>
            </a:r>
            <a:r>
              <a:rPr lang="en-IN" sz="2800" dirty="0"/>
              <a:t>/p features inc. )</a:t>
            </a:r>
          </a:p>
          <a:p>
            <a:pPr lvl="0"/>
            <a:r>
              <a:rPr lang="en-IN" sz="2800" dirty="0"/>
              <a:t>Reduce </a:t>
            </a:r>
            <a:r>
              <a:rPr lang="en-IN" sz="2800" b="1" dirty="0"/>
              <a:t>regularization</a:t>
            </a:r>
            <a:r>
              <a:rPr lang="en-IN" sz="2800" dirty="0"/>
              <a:t> of the model.</a:t>
            </a:r>
          </a:p>
          <a:p>
            <a:pPr lvl="0"/>
            <a:r>
              <a:rPr lang="en-IN" sz="2800" b="1" dirty="0"/>
              <a:t>Increase the size of training dataset</a:t>
            </a:r>
            <a:r>
              <a:rPr lang="en-IN" sz="2800" dirty="0"/>
              <a:t> (may/may not work).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70493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6842-0EE6-26E1-C494-C231453C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WAYS TO REDUCE HIGH VARIANCE: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267A2-3CFC-AE52-B545-21E807195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7" y="1341120"/>
            <a:ext cx="9257210" cy="4785043"/>
          </a:xfrm>
        </p:spPr>
        <p:txBody>
          <a:bodyPr>
            <a:noAutofit/>
          </a:bodyPr>
          <a:lstStyle/>
          <a:p>
            <a:pPr lvl="0"/>
            <a:r>
              <a:rPr lang="en-IN" sz="2800" dirty="0"/>
              <a:t>Use a </a:t>
            </a:r>
            <a:r>
              <a:rPr lang="en-IN" sz="2800" b="1" dirty="0"/>
              <a:t>less complex model</a:t>
            </a:r>
            <a:r>
              <a:rPr lang="en-IN" sz="2800" dirty="0"/>
              <a:t>.</a:t>
            </a:r>
          </a:p>
          <a:p>
            <a:pPr lvl="0"/>
            <a:r>
              <a:rPr lang="en-IN" sz="2800" dirty="0"/>
              <a:t>Use </a:t>
            </a:r>
            <a:r>
              <a:rPr lang="en-IN" sz="2800" b="1" dirty="0"/>
              <a:t>Cross-validation techniques</a:t>
            </a:r>
            <a:r>
              <a:rPr lang="en-IN" sz="2800" dirty="0"/>
              <a:t>.</a:t>
            </a:r>
          </a:p>
          <a:p>
            <a:pPr lvl="0"/>
            <a:r>
              <a:rPr lang="en-IN" sz="2800" b="1" dirty="0"/>
              <a:t>Feature selection</a:t>
            </a:r>
            <a:r>
              <a:rPr lang="en-IN" sz="2800" dirty="0"/>
              <a:t> (select most significant features, drop least significant features).</a:t>
            </a:r>
          </a:p>
          <a:p>
            <a:pPr lvl="0"/>
            <a:r>
              <a:rPr lang="en-IN" sz="2800" b="1" dirty="0"/>
              <a:t>Regularization techniques:</a:t>
            </a:r>
            <a:endParaRPr lang="en-IN" sz="2800" dirty="0"/>
          </a:p>
          <a:p>
            <a:pPr lvl="1"/>
            <a:r>
              <a:rPr lang="en-IN" b="1" dirty="0"/>
              <a:t>Lasso</a:t>
            </a:r>
            <a:endParaRPr lang="en-IN" dirty="0"/>
          </a:p>
          <a:p>
            <a:pPr lvl="1"/>
            <a:r>
              <a:rPr lang="en-IN" b="1" dirty="0"/>
              <a:t>Ridge</a:t>
            </a:r>
            <a:endParaRPr lang="en-IN" dirty="0"/>
          </a:p>
          <a:p>
            <a:pPr lvl="0"/>
            <a:r>
              <a:rPr lang="en-IN" sz="2800" b="1" dirty="0"/>
              <a:t>Ensemble methods</a:t>
            </a:r>
            <a:r>
              <a:rPr lang="en-IN" sz="2800" dirty="0"/>
              <a:t> (make various models for the same task and then take a stable/pure output/decision by considering all o/p).</a:t>
            </a:r>
          </a:p>
          <a:p>
            <a:pPr lvl="0"/>
            <a:r>
              <a:rPr lang="en-IN" sz="2800" b="1" dirty="0"/>
              <a:t>Early stopping</a:t>
            </a:r>
            <a:r>
              <a:rPr lang="en-IN" sz="2800" dirty="0"/>
              <a:t> (can be used here, in neural networks, etc.).</a:t>
            </a:r>
          </a:p>
        </p:txBody>
      </p:sp>
    </p:spTree>
    <p:extLst>
      <p:ext uri="{BB962C8B-B14F-4D97-AF65-F5344CB8AC3E}">
        <p14:creationId xmlns:p14="http://schemas.microsoft.com/office/powerpoint/2010/main" val="2974627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 and Bias-Variance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Low k (e.g., 2-fold): High bias, low variance → fast but less accurate.</a:t>
            </a:r>
          </a:p>
          <a:p>
            <a:r>
              <a:rPr dirty="0"/>
              <a:t>High k (e.g., 10-fold): Low bias, high variance → more accurate but costly.</a:t>
            </a:r>
          </a:p>
          <a:p>
            <a:r>
              <a:rPr dirty="0"/>
              <a:t>Common choice: k = 5 or 10.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CV for Model Selection?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Estimates Generalization Performance</a:t>
            </a:r>
            <a:r>
              <a:rPr lang="en-US" dirty="0"/>
              <a:t>: </a:t>
            </a:r>
          </a:p>
          <a:p>
            <a:r>
              <a:rPr lang="en-US" dirty="0"/>
              <a:t>CV provides a more reliable estimate of how well a model will perform on new, unseen data, rather than just on the training data.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Prevents Overfitting</a:t>
            </a:r>
            <a:r>
              <a:rPr lang="en-US" dirty="0"/>
              <a:t>: </a:t>
            </a:r>
          </a:p>
          <a:p>
            <a:r>
              <a:rPr lang="en-US" dirty="0"/>
              <a:t>By using different parts of the data for training and testing in multiple iterations, CV helps to identify and prevent overfitting, where a model becomes too specialized to the training data and performs poorly on new data.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Provides a Robust Evaluation</a:t>
            </a:r>
            <a:r>
              <a:rPr lang="en-US" dirty="0"/>
              <a:t>: </a:t>
            </a:r>
          </a:p>
          <a:p>
            <a:r>
              <a:rPr lang="en-US" dirty="0"/>
              <a:t>Averaging the scores from multiple folds reduces the impact of any single data split, leading to a more stable and trustworthy assessment of the model's capabilities.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r>
              <a:rPr dirty="0"/>
              <a:t> Generalization measures performance on unseen data.</a:t>
            </a:r>
          </a:p>
          <a:p>
            <a:r>
              <a:rPr dirty="0"/>
              <a:t>Cross-validation gives stable performance estimates.</a:t>
            </a:r>
          </a:p>
          <a:p>
            <a:r>
              <a:rPr dirty="0"/>
              <a:t> k-fold CV balances training &amp; validation.</a:t>
            </a:r>
          </a:p>
          <a:p>
            <a:r>
              <a:rPr dirty="0"/>
              <a:t>Bias-Variance trade-off defines model complexity.</a:t>
            </a:r>
          </a:p>
          <a:p>
            <a:r>
              <a:rPr dirty="0"/>
              <a:t>Use CV scores for reliable model selection.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3553</TotalTime>
  <Words>1364</Words>
  <Application>Microsoft Office PowerPoint</Application>
  <PresentationFormat>On-screen Show (4:3)</PresentationFormat>
  <Paragraphs>154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Nunito</vt:lpstr>
      <vt:lpstr>Office Theme</vt:lpstr>
      <vt:lpstr>Cross-Validation &amp; Generalization</vt:lpstr>
      <vt:lpstr>What is Generalization?</vt:lpstr>
      <vt:lpstr>Measuring Generalization</vt:lpstr>
      <vt:lpstr>PowerPoint Presentation</vt:lpstr>
      <vt:lpstr>How to judge overfitting and underfitting</vt:lpstr>
      <vt:lpstr>Cross-Validation (CV)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Bias-Variance Trade-off</vt:lpstr>
      <vt:lpstr>Bias Variance Trade-off</vt:lpstr>
      <vt:lpstr>PowerPoint Presentation</vt:lpstr>
      <vt:lpstr>PowerPoint Presentation</vt:lpstr>
      <vt:lpstr>Simple vs. Complex Models</vt:lpstr>
      <vt:lpstr>PowerPoint Presentation</vt:lpstr>
      <vt:lpstr>WAYS TO REDUCE HIGH BIAS:</vt:lpstr>
      <vt:lpstr>WAYS TO REDUCE HIGH VARIANCE:</vt:lpstr>
      <vt:lpstr>CV and Bias-Variance</vt:lpstr>
      <vt:lpstr>Why Use CV for Model Selection?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Sidharth Sharma</cp:lastModifiedBy>
  <cp:revision>30</cp:revision>
  <dcterms:created xsi:type="dcterms:W3CDTF">2013-01-27T09:14:16Z</dcterms:created>
  <dcterms:modified xsi:type="dcterms:W3CDTF">2025-10-13T14:30:43Z</dcterms:modified>
  <cp:category/>
</cp:coreProperties>
</file>