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8" r:id="rId3"/>
    <p:sldId id="257" r:id="rId4"/>
    <p:sldId id="270" r:id="rId5"/>
    <p:sldId id="269" r:id="rId6"/>
    <p:sldId id="258" r:id="rId7"/>
    <p:sldId id="271" r:id="rId8"/>
    <p:sldId id="273" r:id="rId9"/>
    <p:sldId id="274" r:id="rId10"/>
    <p:sldId id="283" r:id="rId11"/>
    <p:sldId id="278" r:id="rId12"/>
    <p:sldId id="277" r:id="rId13"/>
    <p:sldId id="279" r:id="rId14"/>
    <p:sldId id="280" r:id="rId15"/>
    <p:sldId id="282" r:id="rId16"/>
    <p:sldId id="281" r:id="rId17"/>
    <p:sldId id="291" r:id="rId18"/>
    <p:sldId id="292" r:id="rId19"/>
    <p:sldId id="275" r:id="rId20"/>
    <p:sldId id="293" r:id="rId21"/>
    <p:sldId id="259" r:id="rId22"/>
    <p:sldId id="276" r:id="rId23"/>
    <p:sldId id="284" r:id="rId24"/>
    <p:sldId id="260" r:id="rId25"/>
    <p:sldId id="289" r:id="rId26"/>
    <p:sldId id="290" r:id="rId27"/>
    <p:sldId id="261" r:id="rId28"/>
    <p:sldId id="288" r:id="rId29"/>
    <p:sldId id="285" r:id="rId30"/>
    <p:sldId id="286" r:id="rId31"/>
    <p:sldId id="262" r:id="rId32"/>
    <p:sldId id="263" r:id="rId33"/>
    <p:sldId id="287" r:id="rId34"/>
    <p:sldId id="264" r:id="rId35"/>
    <p:sldId id="265" r:id="rId36"/>
    <p:sldId id="267"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4660"/>
  </p:normalViewPr>
  <p:slideViewPr>
    <p:cSldViewPr snapToGrid="0" snapToObjects="1">
      <p:cViewPr varScale="1">
        <p:scale>
          <a:sx n="100" d="100"/>
          <a:sy n="100" d="100"/>
        </p:scale>
        <p:origin x="1224"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11/3/2025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64"/>
            <a:ext cx="8229600" cy="1143000"/>
          </a:xfrm>
        </p:spPr>
        <p:txBody>
          <a:bodyPr/>
          <a:lstStyle/>
          <a:p>
            <a:r>
              <a:rPr dirty="0"/>
              <a:t>Decision Trees &amp; Random Forests</a:t>
            </a:r>
          </a:p>
        </p:txBody>
      </p:sp>
      <p:sp>
        <p:nvSpPr>
          <p:cNvPr id="3" name="Content Placeholder 2"/>
          <p:cNvSpPr>
            <a:spLocks noGrp="1"/>
          </p:cNvSpPr>
          <p:nvPr>
            <p:ph idx="1"/>
          </p:nvPr>
        </p:nvSpPr>
        <p:spPr>
          <a:xfrm>
            <a:off x="1136142" y="3301302"/>
            <a:ext cx="7054596" cy="2002219"/>
          </a:xfrm>
        </p:spPr>
        <p:txBody>
          <a:bodyPr/>
          <a:lstStyle/>
          <a:p>
            <a:pPr marL="0" indent="0" algn="ctr">
              <a:buNone/>
            </a:pPr>
            <a:r>
              <a:rPr dirty="0">
                <a:solidFill>
                  <a:schemeClr val="tx1">
                    <a:lumMod val="50000"/>
                    <a:lumOff val="50000"/>
                  </a:schemeClr>
                </a:solidFill>
              </a:rPr>
              <a:t>Splitting Criteria, Pruning, and Ensembles for Accuracy &amp; Robustness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EA32C-DFFE-57EA-9868-015C8DF9332E}"/>
              </a:ext>
            </a:extLst>
          </p:cNvPr>
          <p:cNvSpPr>
            <a:spLocks noGrp="1"/>
          </p:cNvSpPr>
          <p:nvPr>
            <p:ph type="title"/>
          </p:nvPr>
        </p:nvSpPr>
        <p:spPr/>
        <p:txBody>
          <a:bodyPr/>
          <a:lstStyle/>
          <a:p>
            <a:r>
              <a:rPr lang="en-IN" dirty="0"/>
              <a:t>What is Decision Tree?</a:t>
            </a:r>
          </a:p>
        </p:txBody>
      </p:sp>
      <p:sp>
        <p:nvSpPr>
          <p:cNvPr id="3" name="Content Placeholder 2">
            <a:extLst>
              <a:ext uri="{FF2B5EF4-FFF2-40B4-BE49-F238E27FC236}">
                <a16:creationId xmlns:a16="http://schemas.microsoft.com/office/drawing/2014/main" id="{181E63F5-AB87-2355-93B9-9D8ABBD16065}"/>
              </a:ext>
            </a:extLst>
          </p:cNvPr>
          <p:cNvSpPr>
            <a:spLocks noGrp="1"/>
          </p:cNvSpPr>
          <p:nvPr>
            <p:ph idx="1"/>
          </p:nvPr>
        </p:nvSpPr>
        <p:spPr/>
        <p:txBody>
          <a:bodyPr/>
          <a:lstStyle/>
          <a:p>
            <a:r>
              <a:rPr lang="en-US" dirty="0"/>
              <a:t>A supervised learning algorithm for classification &amp; regression</a:t>
            </a:r>
          </a:p>
          <a:p>
            <a:r>
              <a:rPr lang="en-US" dirty="0"/>
              <a:t>Structure:</a:t>
            </a:r>
          </a:p>
          <a:p>
            <a:pPr lvl="1"/>
            <a:r>
              <a:rPr lang="en-US" dirty="0"/>
              <a:t>Root node</a:t>
            </a:r>
          </a:p>
          <a:p>
            <a:pPr lvl="1"/>
            <a:r>
              <a:rPr lang="en-US" dirty="0"/>
              <a:t>Branches</a:t>
            </a:r>
          </a:p>
          <a:p>
            <a:pPr lvl="1"/>
            <a:r>
              <a:rPr lang="en-US" dirty="0"/>
              <a:t>Internal nodes (attribute tests)</a:t>
            </a:r>
          </a:p>
          <a:p>
            <a:pPr lvl="1"/>
            <a:r>
              <a:rPr lang="en-US" dirty="0"/>
              <a:t>Leaf nodes (final decision/prediction)</a:t>
            </a:r>
          </a:p>
          <a:p>
            <a:r>
              <a:rPr lang="en-US" dirty="0"/>
              <a:t>Works like a flowchart for decisions</a:t>
            </a:r>
          </a:p>
          <a:p>
            <a:endParaRPr lang="en-IN" dirty="0"/>
          </a:p>
        </p:txBody>
      </p:sp>
    </p:spTree>
    <p:extLst>
      <p:ext uri="{BB962C8B-B14F-4D97-AF65-F5344CB8AC3E}">
        <p14:creationId xmlns:p14="http://schemas.microsoft.com/office/powerpoint/2010/main" val="3268930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Introduction to Decision Trees</a:t>
            </a:r>
          </a:p>
        </p:txBody>
      </p:sp>
      <p:sp>
        <p:nvSpPr>
          <p:cNvPr id="3" name="Content Placeholder 2"/>
          <p:cNvSpPr>
            <a:spLocks noGrp="1"/>
          </p:cNvSpPr>
          <p:nvPr>
            <p:ph idx="1"/>
          </p:nvPr>
        </p:nvSpPr>
        <p:spPr/>
        <p:txBody>
          <a:bodyPr/>
          <a:lstStyle/>
          <a:p>
            <a:r>
              <a:rPr dirty="0"/>
              <a:t> Supervised learning algorithm (used for classification &amp; regression)</a:t>
            </a:r>
          </a:p>
          <a:p>
            <a:r>
              <a:rPr dirty="0"/>
              <a:t> Tree-like structure of decisions → from root to leaf</a:t>
            </a:r>
          </a:p>
          <a:p>
            <a:r>
              <a:rPr dirty="0"/>
              <a:t> Mimics human decision-making process</a:t>
            </a:r>
          </a:p>
          <a:p>
            <a:r>
              <a:rPr dirty="0"/>
              <a:t> Each internal node: a feature test</a:t>
            </a:r>
          </a:p>
          <a:p>
            <a:r>
              <a:rPr dirty="0"/>
              <a:t> Each branch: outcome of the test</a:t>
            </a:r>
          </a:p>
          <a:p>
            <a:r>
              <a:rPr dirty="0"/>
              <a:t> Each leaf: class label (or numeric value)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8335B1-33C4-722B-12E4-D2FBE5ACD1B7}"/>
              </a:ext>
            </a:extLst>
          </p:cNvPr>
          <p:cNvSpPr>
            <a:spLocks noGrp="1"/>
          </p:cNvSpPr>
          <p:nvPr>
            <p:ph idx="1"/>
          </p:nvPr>
        </p:nvSpPr>
        <p:spPr>
          <a:xfrm>
            <a:off x="457200" y="1314519"/>
            <a:ext cx="8229600" cy="4525963"/>
          </a:xfrm>
        </p:spPr>
        <p:txBody>
          <a:bodyPr/>
          <a:lstStyle/>
          <a:p>
            <a:r>
              <a:rPr lang="en-US" dirty="0"/>
              <a:t>Splits dataset based on feature values</a:t>
            </a:r>
          </a:p>
          <a:p>
            <a:r>
              <a:rPr lang="en-US" dirty="0"/>
              <a:t>Creates pure subsets (ideally, same class in a group)</a:t>
            </a:r>
          </a:p>
          <a:p>
            <a:r>
              <a:rPr lang="en-US" dirty="0"/>
              <a:t>Leaf: final class label or prediction</a:t>
            </a:r>
          </a:p>
          <a:p>
            <a:r>
              <a:rPr lang="en-US" dirty="0"/>
              <a:t>Internal node: feature-based test</a:t>
            </a:r>
          </a:p>
          <a:p>
            <a:endParaRPr lang="en-IN" dirty="0"/>
          </a:p>
        </p:txBody>
      </p:sp>
      <p:sp>
        <p:nvSpPr>
          <p:cNvPr id="2" name="Title 1">
            <a:extLst>
              <a:ext uri="{FF2B5EF4-FFF2-40B4-BE49-F238E27FC236}">
                <a16:creationId xmlns:a16="http://schemas.microsoft.com/office/drawing/2014/main" id="{CEE5B926-3893-E34C-CC5C-08B4F84B7641}"/>
              </a:ext>
            </a:extLst>
          </p:cNvPr>
          <p:cNvSpPr>
            <a:spLocks noGrp="1"/>
          </p:cNvSpPr>
          <p:nvPr>
            <p:ph type="title"/>
          </p:nvPr>
        </p:nvSpPr>
        <p:spPr>
          <a:xfrm>
            <a:off x="457200" y="274638"/>
            <a:ext cx="8229600" cy="1143000"/>
          </a:xfrm>
        </p:spPr>
        <p:txBody>
          <a:bodyPr/>
          <a:lstStyle/>
          <a:p>
            <a:r>
              <a:rPr dirty="0"/>
              <a:t>Decision Tree Work</a:t>
            </a:r>
            <a:r>
              <a:rPr lang="en-IN" dirty="0" err="1"/>
              <a:t>ing</a:t>
            </a:r>
            <a:r>
              <a:rPr lang="en-IN" dirty="0"/>
              <a:t> Process</a:t>
            </a:r>
            <a:endParaRPr dirty="0"/>
          </a:p>
        </p:txBody>
      </p:sp>
    </p:spTree>
    <p:extLst>
      <p:ext uri="{BB962C8B-B14F-4D97-AF65-F5344CB8AC3E}">
        <p14:creationId xmlns:p14="http://schemas.microsoft.com/office/powerpoint/2010/main" val="3161195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4D2BA-70CC-CFE9-6368-B3BC66FDC168}"/>
              </a:ext>
            </a:extLst>
          </p:cNvPr>
          <p:cNvSpPr>
            <a:spLocks noGrp="1"/>
          </p:cNvSpPr>
          <p:nvPr>
            <p:ph type="title"/>
          </p:nvPr>
        </p:nvSpPr>
        <p:spPr/>
        <p:txBody>
          <a:bodyPr>
            <a:normAutofit/>
          </a:bodyPr>
          <a:lstStyle/>
          <a:p>
            <a:r>
              <a:rPr lang="en-US" dirty="0"/>
              <a:t>Why Use Decision Trees?</a:t>
            </a:r>
            <a:endParaRPr lang="en-IN" dirty="0"/>
          </a:p>
        </p:txBody>
      </p:sp>
      <p:sp>
        <p:nvSpPr>
          <p:cNvPr id="3" name="Content Placeholder 2">
            <a:extLst>
              <a:ext uri="{FF2B5EF4-FFF2-40B4-BE49-F238E27FC236}">
                <a16:creationId xmlns:a16="http://schemas.microsoft.com/office/drawing/2014/main" id="{35148D17-B2CF-6BA9-3CD5-6B00B01FACBD}"/>
              </a:ext>
            </a:extLst>
          </p:cNvPr>
          <p:cNvSpPr>
            <a:spLocks noGrp="1"/>
          </p:cNvSpPr>
          <p:nvPr>
            <p:ph idx="1"/>
          </p:nvPr>
        </p:nvSpPr>
        <p:spPr/>
        <p:txBody>
          <a:bodyPr/>
          <a:lstStyle/>
          <a:p>
            <a:r>
              <a:rPr lang="en-US" dirty="0"/>
              <a:t>Interpretability</a:t>
            </a:r>
          </a:p>
          <a:p>
            <a:r>
              <a:rPr lang="en-US" dirty="0"/>
              <a:t>Flexibility</a:t>
            </a:r>
          </a:p>
          <a:p>
            <a:r>
              <a:rPr lang="en-US" dirty="0"/>
              <a:t>Low data preprocessing needs</a:t>
            </a:r>
          </a:p>
          <a:p>
            <a:endParaRPr lang="en-IN" dirty="0"/>
          </a:p>
        </p:txBody>
      </p:sp>
    </p:spTree>
    <p:extLst>
      <p:ext uri="{BB962C8B-B14F-4D97-AF65-F5344CB8AC3E}">
        <p14:creationId xmlns:p14="http://schemas.microsoft.com/office/powerpoint/2010/main" val="690588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How Decision Trees Work</a:t>
            </a:r>
          </a:p>
        </p:txBody>
      </p:sp>
      <p:sp>
        <p:nvSpPr>
          <p:cNvPr id="3" name="Content Placeholder 2"/>
          <p:cNvSpPr>
            <a:spLocks noGrp="1"/>
          </p:cNvSpPr>
          <p:nvPr>
            <p:ph idx="1"/>
          </p:nvPr>
        </p:nvSpPr>
        <p:spPr/>
        <p:txBody>
          <a:bodyPr/>
          <a:lstStyle/>
          <a:p>
            <a:pPr marL="0" indent="0">
              <a:buNone/>
            </a:pPr>
            <a:r>
              <a:rPr dirty="0"/>
              <a:t>1. Select the best feature to split data</a:t>
            </a:r>
          </a:p>
          <a:p>
            <a:pPr marL="0" indent="0">
              <a:buNone/>
            </a:pPr>
            <a:r>
              <a:rPr dirty="0"/>
              <a:t>2. Divide dataset based on the selected feature</a:t>
            </a:r>
          </a:p>
          <a:p>
            <a:pPr marL="0" indent="0">
              <a:buNone/>
            </a:pPr>
            <a:r>
              <a:rPr dirty="0"/>
              <a:t>3. Recursively repeat on each subset until:</a:t>
            </a:r>
          </a:p>
          <a:p>
            <a:pPr marL="0" indent="0">
              <a:buNone/>
            </a:pPr>
            <a:r>
              <a:rPr dirty="0"/>
              <a:t>   - All records belong to one class, or</a:t>
            </a:r>
          </a:p>
          <a:p>
            <a:pPr marL="0" indent="0">
              <a:buNone/>
            </a:pPr>
            <a:r>
              <a:rPr dirty="0"/>
              <a:t>   - Maximum depth / minimum samples reached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9111A-F145-86F8-EA5A-6E59B51D61FC}"/>
              </a:ext>
            </a:extLst>
          </p:cNvPr>
          <p:cNvSpPr>
            <a:spLocks noGrp="1"/>
          </p:cNvSpPr>
          <p:nvPr>
            <p:ph type="title"/>
          </p:nvPr>
        </p:nvSpPr>
        <p:spPr/>
        <p:txBody>
          <a:bodyPr>
            <a:normAutofit fontScale="90000"/>
          </a:bodyPr>
          <a:lstStyle/>
          <a:p>
            <a:r>
              <a:rPr lang="en-US" dirty="0"/>
              <a:t>Example - Will a Customer Buy a Product?</a:t>
            </a:r>
            <a:endParaRPr lang="en-IN" dirty="0"/>
          </a:p>
        </p:txBody>
      </p:sp>
      <p:sp>
        <p:nvSpPr>
          <p:cNvPr id="3" name="Content Placeholder 2">
            <a:extLst>
              <a:ext uri="{FF2B5EF4-FFF2-40B4-BE49-F238E27FC236}">
                <a16:creationId xmlns:a16="http://schemas.microsoft.com/office/drawing/2014/main" id="{9D8AFE2E-9E9F-38D3-65E5-2BEEC1B695B4}"/>
              </a:ext>
            </a:extLst>
          </p:cNvPr>
          <p:cNvSpPr>
            <a:spLocks noGrp="1"/>
          </p:cNvSpPr>
          <p:nvPr>
            <p:ph idx="1"/>
          </p:nvPr>
        </p:nvSpPr>
        <p:spPr/>
        <p:txBody>
          <a:bodyPr>
            <a:normAutofit lnSpcReduction="10000"/>
          </a:bodyPr>
          <a:lstStyle/>
          <a:p>
            <a:r>
              <a:rPr lang="en-US" dirty="0"/>
              <a:t>Root Node: Income (Rs.50,000)</a:t>
            </a:r>
          </a:p>
          <a:p>
            <a:pPr lvl="1"/>
            <a:r>
              <a:rPr lang="en-US" dirty="0"/>
              <a:t>If Yes → Next question</a:t>
            </a:r>
          </a:p>
          <a:p>
            <a:pPr lvl="1"/>
            <a:r>
              <a:rPr lang="en-US" dirty="0"/>
              <a:t>If No → "No Purchase"</a:t>
            </a:r>
          </a:p>
          <a:p>
            <a:r>
              <a:rPr lang="en-US" dirty="0"/>
              <a:t>Internal Node: Age (above 30?)</a:t>
            </a:r>
          </a:p>
          <a:p>
            <a:pPr lvl="1"/>
            <a:r>
              <a:rPr lang="en-US" dirty="0"/>
              <a:t>If Yes → Next question</a:t>
            </a:r>
          </a:p>
          <a:p>
            <a:pPr lvl="1"/>
            <a:r>
              <a:rPr lang="en-US" dirty="0"/>
              <a:t>If No → "No Purchase"</a:t>
            </a:r>
          </a:p>
          <a:p>
            <a:r>
              <a:rPr lang="en-US" dirty="0"/>
              <a:t>Previous Purchases</a:t>
            </a:r>
          </a:p>
          <a:p>
            <a:pPr lvl="1"/>
            <a:r>
              <a:rPr lang="en-US" dirty="0"/>
              <a:t>If Yes → "Purchase"</a:t>
            </a:r>
          </a:p>
          <a:p>
            <a:pPr lvl="1"/>
            <a:r>
              <a:rPr lang="en-US" dirty="0"/>
              <a:t>If No → "No Purchase"</a:t>
            </a:r>
          </a:p>
          <a:p>
            <a:endParaRPr lang="en-IN" dirty="0"/>
          </a:p>
        </p:txBody>
      </p:sp>
    </p:spTree>
    <p:extLst>
      <p:ext uri="{BB962C8B-B14F-4D97-AF65-F5344CB8AC3E}">
        <p14:creationId xmlns:p14="http://schemas.microsoft.com/office/powerpoint/2010/main" val="843976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EDD4E-5B5D-2427-5DAE-66D252CA4557}"/>
              </a:ext>
            </a:extLst>
          </p:cNvPr>
          <p:cNvSpPr>
            <a:spLocks noGrp="1"/>
          </p:cNvSpPr>
          <p:nvPr>
            <p:ph type="title"/>
          </p:nvPr>
        </p:nvSpPr>
        <p:spPr/>
        <p:txBody>
          <a:bodyPr>
            <a:normAutofit/>
          </a:bodyPr>
          <a:lstStyle/>
          <a:p>
            <a:r>
              <a:rPr lang="en-US" dirty="0"/>
              <a:t>Attribute Selection Measures</a:t>
            </a:r>
            <a:endParaRPr lang="en-IN" dirty="0"/>
          </a:p>
        </p:txBody>
      </p:sp>
      <p:sp>
        <p:nvSpPr>
          <p:cNvPr id="3" name="Content Placeholder 2">
            <a:extLst>
              <a:ext uri="{FF2B5EF4-FFF2-40B4-BE49-F238E27FC236}">
                <a16:creationId xmlns:a16="http://schemas.microsoft.com/office/drawing/2014/main" id="{0283DD2E-67D4-75C3-7B8D-7AE3B4FF1A28}"/>
              </a:ext>
            </a:extLst>
          </p:cNvPr>
          <p:cNvSpPr>
            <a:spLocks noGrp="1"/>
          </p:cNvSpPr>
          <p:nvPr>
            <p:ph idx="1"/>
          </p:nvPr>
        </p:nvSpPr>
        <p:spPr/>
        <p:txBody>
          <a:bodyPr/>
          <a:lstStyle/>
          <a:p>
            <a:r>
              <a:rPr lang="en-US" dirty="0"/>
              <a:t>Information Gain</a:t>
            </a:r>
          </a:p>
          <a:p>
            <a:pPr lvl="1"/>
            <a:r>
              <a:rPr lang="en-US" dirty="0"/>
              <a:t>Measures feature usefulness for splits</a:t>
            </a:r>
          </a:p>
          <a:p>
            <a:r>
              <a:rPr lang="en-US" dirty="0"/>
              <a:t>Gini Index</a:t>
            </a:r>
          </a:p>
          <a:p>
            <a:pPr lvl="1"/>
            <a:r>
              <a:rPr lang="en-US" dirty="0"/>
              <a:t>Measures probability of incorrect classification</a:t>
            </a:r>
          </a:p>
          <a:p>
            <a:pPr lvl="1"/>
            <a:r>
              <a:rPr lang="en-US" dirty="0"/>
              <a:t>Lower Gini Index preferred</a:t>
            </a:r>
          </a:p>
          <a:p>
            <a:endParaRPr lang="en-IN" dirty="0"/>
          </a:p>
        </p:txBody>
      </p:sp>
    </p:spTree>
    <p:extLst>
      <p:ext uri="{BB962C8B-B14F-4D97-AF65-F5344CB8AC3E}">
        <p14:creationId xmlns:p14="http://schemas.microsoft.com/office/powerpoint/2010/main" val="344127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D3EDF-AAE7-02D0-D53A-4A80AACFEC5F}"/>
              </a:ext>
            </a:extLst>
          </p:cNvPr>
          <p:cNvSpPr>
            <a:spLocks noGrp="1"/>
          </p:cNvSpPr>
          <p:nvPr>
            <p:ph type="title"/>
          </p:nvPr>
        </p:nvSpPr>
        <p:spPr>
          <a:xfrm>
            <a:off x="457200" y="76200"/>
            <a:ext cx="8229600" cy="1143000"/>
          </a:xfrm>
        </p:spPr>
        <p:txBody>
          <a:bodyPr>
            <a:normAutofit/>
          </a:bodyPr>
          <a:lstStyle/>
          <a:p>
            <a:r>
              <a:rPr lang="en-IN" dirty="0"/>
              <a:t>Information Gain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7D10A4-1E9A-5E5D-F1BD-A270F75D7D0B}"/>
                  </a:ext>
                </a:extLst>
              </p:cNvPr>
              <p:cNvSpPr>
                <a:spLocks noGrp="1"/>
              </p:cNvSpPr>
              <p:nvPr>
                <p:ph idx="1"/>
              </p:nvPr>
            </p:nvSpPr>
            <p:spPr>
              <a:xfrm>
                <a:off x="240145" y="1219200"/>
                <a:ext cx="8811491" cy="5560291"/>
              </a:xfrm>
            </p:spPr>
            <p:txBody>
              <a:bodyPr>
                <a:normAutofit/>
              </a:bodyPr>
              <a:lstStyle/>
              <a:p>
                <a:r>
                  <a:rPr lang="en-US" dirty="0"/>
                  <a:t>Suppose </a:t>
                </a:r>
                <a14:m>
                  <m:oMath xmlns:m="http://schemas.openxmlformats.org/officeDocument/2006/math">
                    <m:r>
                      <a:rPr lang="en-US" i="1">
                        <a:latin typeface="Cambria Math" panose="02040503050406030204" pitchFamily="18" charset="0"/>
                      </a:rPr>
                      <m:t>𝑆</m:t>
                    </m:r>
                  </m:oMath>
                </a14:m>
                <a:r>
                  <a:rPr lang="en-US" dirty="0"/>
                  <a:t> is a set of instances </a:t>
                </a:r>
                <a14:m>
                  <m:oMath xmlns:m="http://schemas.openxmlformats.org/officeDocument/2006/math">
                    <m:r>
                      <a:rPr lang="en-US" i="1">
                        <a:latin typeface="Cambria Math" panose="02040503050406030204" pitchFamily="18" charset="0"/>
                      </a:rPr>
                      <m:t>𝐴</m:t>
                    </m:r>
                  </m:oMath>
                </a14:m>
                <a:r>
                  <a:rPr lang="en-US" dirty="0"/>
                  <a:t> is an attribute, </a:t>
                </a:r>
                <a14:m>
                  <m:oMath xmlns:m="http://schemas.openxmlformats.org/officeDocument/2006/math">
                    <m:r>
                      <a:rPr lang="en-US" i="1">
                        <a:latin typeface="Cambria Math" panose="02040503050406030204" pitchFamily="18" charset="0"/>
                      </a:rPr>
                      <m:t>𝑆𝑣</m:t>
                    </m:r>
                  </m:oMath>
                </a14:m>
                <a:r>
                  <a:rPr lang="en-US" dirty="0"/>
                  <a:t> is the subset of </a:t>
                </a:r>
                <a14:m>
                  <m:oMath xmlns:m="http://schemas.openxmlformats.org/officeDocument/2006/math">
                    <m:r>
                      <a:rPr lang="en-US" i="1">
                        <a:latin typeface="Cambria Math" panose="02040503050406030204" pitchFamily="18" charset="0"/>
                      </a:rPr>
                      <m:t>𝑆</m:t>
                    </m:r>
                  </m:oMath>
                </a14:m>
                <a:r>
                  <a:rPr lang="en-US" i="1" dirty="0"/>
                  <a:t>, </a:t>
                </a:r>
                <a14:m>
                  <m:oMath xmlns:m="http://schemas.openxmlformats.org/officeDocument/2006/math">
                    <m:r>
                      <a:rPr lang="en-US" i="1">
                        <a:latin typeface="Cambria Math" panose="02040503050406030204" pitchFamily="18" charset="0"/>
                      </a:rPr>
                      <m:t>𝑣</m:t>
                    </m:r>
                  </m:oMath>
                </a14:m>
                <a:r>
                  <a:rPr lang="en-US" dirty="0"/>
                  <a:t> represents an individual value that the attribute </a:t>
                </a:r>
                <a14:m>
                  <m:oMath xmlns:m="http://schemas.openxmlformats.org/officeDocument/2006/math">
                    <m:r>
                      <a:rPr lang="en-US" i="1">
                        <a:latin typeface="Cambria Math" panose="02040503050406030204" pitchFamily="18" charset="0"/>
                      </a:rPr>
                      <m:t>𝐴</m:t>
                    </m:r>
                  </m:oMath>
                </a14:m>
                <a:r>
                  <a:rPr lang="en-US" dirty="0"/>
                  <a:t> can take and Values (</a:t>
                </a:r>
                <a14:m>
                  <m:oMath xmlns:m="http://schemas.openxmlformats.org/officeDocument/2006/math">
                    <m:r>
                      <a:rPr lang="en-US" i="1">
                        <a:latin typeface="Cambria Math" panose="02040503050406030204" pitchFamily="18" charset="0"/>
                      </a:rPr>
                      <m:t>𝐴</m:t>
                    </m:r>
                  </m:oMath>
                </a14:m>
                <a:r>
                  <a:rPr lang="en-US" dirty="0"/>
                  <a:t>) is the set of all possible values of </a:t>
                </a:r>
                <a14:m>
                  <m:oMath xmlns:m="http://schemas.openxmlformats.org/officeDocument/2006/math">
                    <m:r>
                      <a:rPr lang="en-US" i="1">
                        <a:latin typeface="Cambria Math" panose="02040503050406030204" pitchFamily="18" charset="0"/>
                      </a:rPr>
                      <m:t>𝐴</m:t>
                    </m:r>
                  </m:oMath>
                </a14:m>
                <a:r>
                  <a:rPr lang="en-US" dirty="0"/>
                  <a:t> then</a:t>
                </a:r>
              </a:p>
              <a:p>
                <a:endParaRPr lang="en-IN" b="0" dirty="0"/>
              </a:p>
              <a:p>
                <a14:m>
                  <m:oMath xmlns:m="http://schemas.openxmlformats.org/officeDocument/2006/math">
                    <m:r>
                      <m:rPr>
                        <m:nor/>
                      </m:rPr>
                      <a:rPr lang="en-IN" b="0"/>
                      <m:t>Gain</m:t>
                    </m:r>
                    <m:r>
                      <a:rPr lang="en-IN" b="0" i="0" smtClean="0">
                        <a:latin typeface="Cambria Math" panose="02040503050406030204" pitchFamily="18" charset="0"/>
                      </a:rPr>
                      <m:t>(</m:t>
                    </m:r>
                    <m:r>
                      <m:rPr>
                        <m:sty m:val="p"/>
                      </m:rPr>
                      <a:rPr lang="en-IN" b="0" i="0" smtClean="0">
                        <a:latin typeface="Cambria Math" panose="02040503050406030204" pitchFamily="18" charset="0"/>
                      </a:rPr>
                      <m:t>S</m:t>
                    </m:r>
                    <m:r>
                      <a:rPr lang="en-IN" b="0" i="0" smtClean="0">
                        <a:latin typeface="Cambria Math" panose="02040503050406030204" pitchFamily="18" charset="0"/>
                      </a:rPr>
                      <m:t>,</m:t>
                    </m:r>
                    <m:r>
                      <m:rPr>
                        <m:sty m:val="p"/>
                      </m:rPr>
                      <a:rPr lang="en-IN" b="0" i="0" smtClean="0">
                        <a:latin typeface="Cambria Math" panose="02040503050406030204" pitchFamily="18" charset="0"/>
                      </a:rPr>
                      <m:t>A</m:t>
                    </m:r>
                    <m:r>
                      <a:rPr lang="en-IN" b="0" i="0" smtClean="0">
                        <a:latin typeface="Cambria Math" panose="02040503050406030204" pitchFamily="18" charset="0"/>
                      </a:rPr>
                      <m:t>)=</m:t>
                    </m:r>
                  </m:oMath>
                </a14:m>
                <a:endParaRPr lang="en-IN" dirty="0"/>
              </a:p>
              <a:p>
                <a:pPr marL="0" indent="0">
                  <a:buNone/>
                </a:pPr>
                <a14:m>
                  <m:oMathPara xmlns:m="http://schemas.openxmlformats.org/officeDocument/2006/math">
                    <m:oMathParaPr>
                      <m:jc m:val="centerGroup"/>
                    </m:oMathParaPr>
                    <m:oMath xmlns:m="http://schemas.openxmlformats.org/officeDocument/2006/math">
                      <m:r>
                        <m:rPr>
                          <m:nor/>
                        </m:rPr>
                        <a:rPr lang="en-IN" sz="2000" i="1"/>
                        <m:t>Entropy</m:t>
                      </m:r>
                      <m:d>
                        <m:dPr>
                          <m:ctrlPr>
                            <a:rPr lang="ar-AE" sz="2000" i="1">
                              <a:latin typeface="Cambria Math" panose="02040503050406030204" pitchFamily="18" charset="0"/>
                            </a:rPr>
                          </m:ctrlPr>
                        </m:dPr>
                        <m:e>
                          <m:r>
                            <a:rPr lang="ar-AE" sz="2000" i="1">
                              <a:latin typeface="Cambria Math" panose="02040503050406030204" pitchFamily="18" charset="0"/>
                            </a:rPr>
                            <m:t>𝑆</m:t>
                          </m:r>
                        </m:e>
                      </m:d>
                      <m:r>
                        <a:rPr lang="ar-AE" sz="2000">
                          <a:latin typeface="Cambria Math" panose="02040503050406030204" pitchFamily="18" charset="0"/>
                        </a:rPr>
                        <m:t>−</m:t>
                      </m:r>
                      <m:nary>
                        <m:naryPr>
                          <m:chr m:val="∑"/>
                          <m:grow m:val="on"/>
                          <m:supHide m:val="on"/>
                          <m:ctrlPr>
                            <a:rPr lang="ar-AE" sz="2000" i="1">
                              <a:latin typeface="Cambria Math" panose="02040503050406030204" pitchFamily="18" charset="0"/>
                            </a:rPr>
                          </m:ctrlPr>
                        </m:naryPr>
                        <m:sub>
                          <m:r>
                            <a:rPr lang="ar-AE" sz="2000" i="1">
                              <a:latin typeface="Cambria Math" panose="02040503050406030204" pitchFamily="18" charset="0"/>
                            </a:rPr>
                            <m:t>𝑣</m:t>
                          </m:r>
                          <m:r>
                            <a:rPr lang="ar-AE" sz="2000">
                              <a:latin typeface="Cambria Math" panose="02040503050406030204" pitchFamily="18" charset="0"/>
                            </a:rPr>
                            <m:t>∈</m:t>
                          </m:r>
                          <m:r>
                            <m:rPr>
                              <m:nor/>
                            </m:rPr>
                            <a:rPr lang="en-IN" sz="2000" i="1"/>
                            <m:t>Values</m:t>
                          </m:r>
                          <m:d>
                            <m:dPr>
                              <m:ctrlPr>
                                <a:rPr lang="ar-AE" sz="2000" i="1">
                                  <a:latin typeface="Cambria Math" panose="02040503050406030204" pitchFamily="18" charset="0"/>
                                </a:rPr>
                              </m:ctrlPr>
                            </m:dPr>
                            <m:e>
                              <m:r>
                                <a:rPr lang="ar-AE" sz="2000" i="1">
                                  <a:latin typeface="Cambria Math" panose="02040503050406030204" pitchFamily="18" charset="0"/>
                                </a:rPr>
                                <m:t>𝐴</m:t>
                              </m:r>
                            </m:e>
                          </m:d>
                        </m:sub>
                        <m:sup/>
                        <m:e>
                          <m:f>
                            <m:fPr>
                              <m:ctrlPr>
                                <a:rPr lang="ar-AE" sz="2000" i="1">
                                  <a:latin typeface="Cambria Math" panose="02040503050406030204" pitchFamily="18" charset="0"/>
                                </a:rPr>
                              </m:ctrlPr>
                            </m:fPr>
                            <m:num>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𝑆</m:t>
                                  </m:r>
                                </m:e>
                                <m:sub>
                                  <m:r>
                                    <a:rPr lang="ar-AE" sz="2000" i="1">
                                      <a:latin typeface="Cambria Math" panose="02040503050406030204" pitchFamily="18" charset="0"/>
                                    </a:rPr>
                                    <m:t>𝑣</m:t>
                                  </m:r>
                                </m:sub>
                              </m:sSub>
                              <m:r>
                                <a:rPr lang="ar-AE" sz="2000">
                                  <a:latin typeface="Cambria Math" panose="02040503050406030204" pitchFamily="18" charset="0"/>
                                </a:rPr>
                                <m:t>∣</m:t>
                              </m:r>
                            </m:num>
                            <m:den>
                              <m:r>
                                <a:rPr lang="ar-AE" sz="2000">
                                  <a:latin typeface="Cambria Math" panose="02040503050406030204" pitchFamily="18" charset="0"/>
                                </a:rPr>
                                <m:t>∣</m:t>
                              </m:r>
                              <m:r>
                                <a:rPr lang="ar-AE" sz="2000" i="1">
                                  <a:latin typeface="Cambria Math" panose="02040503050406030204" pitchFamily="18" charset="0"/>
                                </a:rPr>
                                <m:t>𝑆</m:t>
                              </m:r>
                              <m:r>
                                <a:rPr lang="ar-AE" sz="2000">
                                  <a:latin typeface="Cambria Math" panose="02040503050406030204" pitchFamily="18" charset="0"/>
                                </a:rPr>
                                <m:t>∣</m:t>
                              </m:r>
                            </m:den>
                          </m:f>
                        </m:e>
                      </m:nary>
                      <m:r>
                        <m:rPr>
                          <m:nor/>
                        </m:rPr>
                        <a:rPr lang="en-IN" sz="2000" i="1"/>
                        <m:t>Entropy</m:t>
                      </m:r>
                      <m:d>
                        <m:dPr>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𝑆</m:t>
                              </m:r>
                            </m:e>
                            <m:sub>
                              <m:r>
                                <a:rPr lang="ar-AE" sz="2000" i="1">
                                  <a:latin typeface="Cambria Math" panose="02040503050406030204" pitchFamily="18" charset="0"/>
                                </a:rPr>
                                <m:t>𝑣</m:t>
                              </m:r>
                            </m:sub>
                          </m:sSub>
                        </m:e>
                      </m:d>
                    </m:oMath>
                  </m:oMathPara>
                </a14:m>
                <a:endParaRPr lang="ar-AE" sz="2000" b="0" dirty="0"/>
              </a:p>
            </p:txBody>
          </p:sp>
        </mc:Choice>
        <mc:Fallback xmlns="">
          <p:sp>
            <p:nvSpPr>
              <p:cNvPr id="3" name="Content Placeholder 2">
                <a:extLst>
                  <a:ext uri="{FF2B5EF4-FFF2-40B4-BE49-F238E27FC236}">
                    <a16:creationId xmlns:a16="http://schemas.microsoft.com/office/drawing/2014/main" id="{3F7D10A4-1E9A-5E5D-F1BD-A270F75D7D0B}"/>
                  </a:ext>
                </a:extLst>
              </p:cNvPr>
              <p:cNvSpPr>
                <a:spLocks noGrp="1" noRot="1" noChangeAspect="1" noMove="1" noResize="1" noEditPoints="1" noAdjustHandles="1" noChangeArrowheads="1" noChangeShapeType="1" noTextEdit="1"/>
              </p:cNvSpPr>
              <p:nvPr>
                <p:ph idx="1"/>
              </p:nvPr>
            </p:nvSpPr>
            <p:spPr>
              <a:xfrm>
                <a:off x="240145" y="1219200"/>
                <a:ext cx="8811491" cy="5560291"/>
              </a:xfrm>
              <a:blipFill>
                <a:blip r:embed="rId2"/>
                <a:stretch>
                  <a:fillRect l="-1591" t="-1316" r="-484"/>
                </a:stretch>
              </a:blipFill>
            </p:spPr>
            <p:txBody>
              <a:bodyPr/>
              <a:lstStyle/>
              <a:p>
                <a:r>
                  <a:rPr lang="en-IN">
                    <a:noFill/>
                  </a:rPr>
                  <a:t> </a:t>
                </a:r>
              </a:p>
            </p:txBody>
          </p:sp>
        </mc:Fallback>
      </mc:AlternateContent>
    </p:spTree>
    <p:extLst>
      <p:ext uri="{BB962C8B-B14F-4D97-AF65-F5344CB8AC3E}">
        <p14:creationId xmlns:p14="http://schemas.microsoft.com/office/powerpoint/2010/main" val="504125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A8651-1128-7D20-EE2D-EC2EC0EE5857}"/>
              </a:ext>
            </a:extLst>
          </p:cNvPr>
          <p:cNvSpPr>
            <a:spLocks noGrp="1"/>
          </p:cNvSpPr>
          <p:nvPr>
            <p:ph type="title"/>
          </p:nvPr>
        </p:nvSpPr>
        <p:spPr/>
        <p:txBody>
          <a:bodyPr/>
          <a:lstStyle/>
          <a:p>
            <a:r>
              <a:rPr lang="en-IN" dirty="0"/>
              <a:t>Entropy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A9A9546-A74E-E893-9B89-BA688D6732F5}"/>
                  </a:ext>
                </a:extLst>
              </p:cNvPr>
              <p:cNvSpPr>
                <a:spLocks noGrp="1"/>
              </p:cNvSpPr>
              <p:nvPr>
                <p:ph idx="1"/>
              </p:nvPr>
            </p:nvSpPr>
            <p:spPr/>
            <p:txBody>
              <a:bodyPr>
                <a:normAutofit fontScale="85000" lnSpcReduction="20000"/>
              </a:bodyPr>
              <a:lstStyle/>
              <a:p>
                <a:r>
                  <a:rPr lang="en-IN" dirty="0"/>
                  <a:t>Entropy is a measure of uncertainty or impurity in a dataset. </a:t>
                </a:r>
              </a:p>
              <a:p>
                <a:r>
                  <a:rPr lang="en-IN" dirty="0"/>
                  <a:t>In decision trees, entropy helps decide which feature to split on by quantifying how mixed a group is.</a:t>
                </a:r>
              </a:p>
              <a:p>
                <a:r>
                  <a:rPr lang="en-IN" dirty="0"/>
                  <a:t>Formula:</a:t>
                </a:r>
              </a:p>
              <a:p>
                <a14:m>
                  <m:oMath xmlns:m="http://schemas.openxmlformats.org/officeDocument/2006/math">
                    <m:r>
                      <a:rPr lang="en-IN" i="1">
                        <a:latin typeface="Cambria Math" panose="02040503050406030204" pitchFamily="18" charset="0"/>
                      </a:rPr>
                      <m:t>𝐻</m:t>
                    </m:r>
                    <m:d>
                      <m:dPr>
                        <m:ctrlPr>
                          <a:rPr lang="ar-AE" i="1">
                            <a:latin typeface="Cambria Math" panose="02040503050406030204" pitchFamily="18" charset="0"/>
                          </a:rPr>
                        </m:ctrlPr>
                      </m:dPr>
                      <m:e>
                        <m:r>
                          <a:rPr lang="ar-AE" i="1">
                            <a:latin typeface="Cambria Math" panose="02040503050406030204" pitchFamily="18" charset="0"/>
                          </a:rPr>
                          <m:t>𝑆</m:t>
                        </m:r>
                      </m:e>
                    </m:d>
                    <m:r>
                      <a:rPr lang="ar-AE">
                        <a:latin typeface="Cambria Math" panose="02040503050406030204" pitchFamily="18" charset="0"/>
                      </a:rPr>
                      <m:t>=−</m:t>
                    </m:r>
                    <m:nary>
                      <m:naryPr>
                        <m:chr m:val="∑"/>
                        <m:grow m:val="on"/>
                        <m:ctrlPr>
                          <a:rPr lang="ar-AE" i="1">
                            <a:latin typeface="Cambria Math" panose="02040503050406030204" pitchFamily="18" charset="0"/>
                          </a:rPr>
                        </m:ctrlPr>
                      </m:naryPr>
                      <m:sub>
                        <m:r>
                          <a:rPr lang="ar-AE" i="1">
                            <a:latin typeface="Cambria Math" panose="02040503050406030204" pitchFamily="18" charset="0"/>
                          </a:rPr>
                          <m:t>𝑖</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𝑐</m:t>
                        </m:r>
                      </m:sup>
                      <m:e>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𝑖</m:t>
                            </m:r>
                          </m:sub>
                        </m:sSub>
                      </m:e>
                    </m:nary>
                    <m:r>
                      <a:rPr lang="en-IN" b="0" i="1" smtClean="0">
                        <a:latin typeface="Cambria Math" panose="02040503050406030204" pitchFamily="18" charset="0"/>
                      </a:rPr>
                      <m:t>𝑙𝑜𝑔</m:t>
                    </m:r>
                    <m:r>
                      <a:rPr lang="en-IN" b="0" i="1" baseline="-25000" smtClean="0">
                        <a:latin typeface="Cambria Math" panose="02040503050406030204" pitchFamily="18" charset="0"/>
                      </a:rPr>
                      <m:t>2</m:t>
                    </m:r>
                    <m:r>
                      <a:rPr lang="en-US" b="0" i="1" baseline="-25000" smtClean="0">
                        <a:latin typeface="Cambria Math" panose="02040503050406030204" pitchFamily="18" charset="0"/>
                      </a:rPr>
                      <m:t> </m:t>
                    </m:r>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𝑖</m:t>
                        </m:r>
                      </m:sub>
                    </m:sSub>
                  </m:oMath>
                </a14:m>
                <a:endParaRPr lang="ar-AE" dirty="0"/>
              </a:p>
              <a:p>
                <a:r>
                  <a:rPr lang="en-IN" dirty="0"/>
                  <a:t>where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𝑖</m:t>
                        </m:r>
                      </m:sub>
                    </m:sSub>
                  </m:oMath>
                </a14:m>
                <a:r>
                  <a:rPr lang="ar-AE" dirty="0"/>
                  <a:t> </a:t>
                </a:r>
                <a:r>
                  <a:rPr lang="en-IN" dirty="0"/>
                  <a:t>is the proportion of class </a:t>
                </a:r>
                <a14:m>
                  <m:oMath xmlns:m="http://schemas.openxmlformats.org/officeDocument/2006/math">
                    <m:r>
                      <a:rPr lang="en-IN" i="1">
                        <a:latin typeface="Cambria Math" panose="02040503050406030204" pitchFamily="18" charset="0"/>
                      </a:rPr>
                      <m:t>𝑖</m:t>
                    </m:r>
                  </m:oMath>
                </a14:m>
                <a:r>
                  <a:rPr lang="en-IN" dirty="0"/>
                  <a:t> in subset </a:t>
                </a:r>
                <a14:m>
                  <m:oMath xmlns:m="http://schemas.openxmlformats.org/officeDocument/2006/math">
                    <m:r>
                      <a:rPr lang="en-IN" i="1">
                        <a:latin typeface="Cambria Math" panose="02040503050406030204" pitchFamily="18" charset="0"/>
                      </a:rPr>
                      <m:t>𝑆</m:t>
                    </m:r>
                  </m:oMath>
                </a14:m>
                <a:r>
                  <a:rPr lang="en-IN" dirty="0"/>
                  <a:t>.</a:t>
                </a:r>
              </a:p>
              <a:p>
                <a:r>
                  <a:rPr lang="en-IN" dirty="0"/>
                  <a:t>For binary classification:</a:t>
                </a:r>
              </a:p>
              <a:p>
                <a14:m>
                  <m:oMath xmlns:m="http://schemas.openxmlformats.org/officeDocument/2006/math">
                    <m:r>
                      <a:rPr lang="en-IN" i="1">
                        <a:latin typeface="Cambria Math" panose="02040503050406030204" pitchFamily="18" charset="0"/>
                      </a:rPr>
                      <m:t>𝐻</m:t>
                    </m:r>
                    <m:d>
                      <m:dPr>
                        <m:ctrlPr>
                          <a:rPr lang="ar-AE" i="1">
                            <a:latin typeface="Cambria Math" panose="02040503050406030204" pitchFamily="18" charset="0"/>
                          </a:rPr>
                        </m:ctrlPr>
                      </m:dPr>
                      <m:e>
                        <m:r>
                          <a:rPr lang="ar-AE" i="1">
                            <a:latin typeface="Cambria Math" panose="02040503050406030204" pitchFamily="18" charset="0"/>
                          </a:rPr>
                          <m:t>𝑆</m:t>
                        </m:r>
                      </m:e>
                    </m:d>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a:latin typeface="Cambria Math" panose="02040503050406030204" pitchFamily="18" charset="0"/>
                          </a:rPr>
                          <m:t>+</m:t>
                        </m:r>
                      </m:sub>
                    </m:sSub>
                    <m:r>
                      <a:rPr lang="en-IN" i="1">
                        <a:latin typeface="Cambria Math" panose="02040503050406030204" pitchFamily="18" charset="0"/>
                      </a:rPr>
                      <m:t>𝑙𝑜𝑔</m:t>
                    </m:r>
                    <m:r>
                      <a:rPr lang="en-IN" i="1" baseline="-25000">
                        <a:latin typeface="Cambria Math" panose="02040503050406030204" pitchFamily="18" charset="0"/>
                      </a:rPr>
                      <m:t>2</m:t>
                    </m:r>
                    <m:sSub>
                      <m:sSubPr>
                        <m:ctrlPr>
                          <a:rPr lang="ar-AE" i="1">
                            <a:latin typeface="Cambria Math" panose="02040503050406030204" pitchFamily="18" charset="0"/>
                          </a:rPr>
                        </m:ctrlPr>
                      </m:sSubPr>
                      <m:e>
                        <m:r>
                          <a:rPr lang="ar-AE" i="1">
                            <a:latin typeface="Cambria Math" panose="02040503050406030204" pitchFamily="18" charset="0"/>
                          </a:rPr>
                          <m:t>𝑝</m:t>
                        </m:r>
                      </m:e>
                      <m:sub>
                        <m:r>
                          <a:rPr lang="en-IN" b="0" i="1" smtClean="0">
                            <a:latin typeface="Cambria Math" panose="02040503050406030204" pitchFamily="18" charset="0"/>
                          </a:rPr>
                          <m:t>+</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a:latin typeface="Cambria Math" panose="02040503050406030204" pitchFamily="18" charset="0"/>
                          </a:rPr>
                          <m:t>−</m:t>
                        </m:r>
                      </m:sub>
                    </m:sSub>
                    <m:r>
                      <a:rPr lang="en-IN" i="1">
                        <a:latin typeface="Cambria Math" panose="02040503050406030204" pitchFamily="18" charset="0"/>
                      </a:rPr>
                      <m:t>𝑙𝑜𝑔</m:t>
                    </m:r>
                    <m:r>
                      <a:rPr lang="en-IN" i="1" baseline="-25000">
                        <a:latin typeface="Cambria Math" panose="02040503050406030204" pitchFamily="18" charset="0"/>
                      </a:rPr>
                      <m:t>2</m:t>
                    </m:r>
                    <m:sSub>
                      <m:sSubPr>
                        <m:ctrlPr>
                          <a:rPr lang="ar-AE" i="1">
                            <a:latin typeface="Cambria Math" panose="02040503050406030204" pitchFamily="18" charset="0"/>
                          </a:rPr>
                        </m:ctrlPr>
                      </m:sSubPr>
                      <m:e>
                        <m:r>
                          <a:rPr lang="ar-AE" i="1">
                            <a:latin typeface="Cambria Math" panose="02040503050406030204" pitchFamily="18" charset="0"/>
                          </a:rPr>
                          <m:t>𝑝</m:t>
                        </m:r>
                      </m:e>
                      <m:sub>
                        <m:r>
                          <a:rPr lang="en-IN" b="0" i="1" smtClean="0">
                            <a:latin typeface="Cambria Math" panose="02040503050406030204" pitchFamily="18" charset="0"/>
                          </a:rPr>
                          <m:t>−</m:t>
                        </m:r>
                      </m:sub>
                    </m:sSub>
                  </m:oMath>
                </a14:m>
                <a:endParaRPr lang="ar-AE" dirty="0"/>
              </a:p>
              <a:p>
                <a:r>
                  <a:rPr lang="en-IN" dirty="0"/>
                  <a:t>Where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a:latin typeface="Cambria Math" panose="02040503050406030204" pitchFamily="18" charset="0"/>
                          </a:rPr>
                          <m:t>+</m:t>
                        </m:r>
                      </m:sub>
                    </m:sSub>
                  </m:oMath>
                </a14:m>
                <a:r>
                  <a:rPr lang="ar-AE" dirty="0"/>
                  <a:t> </a:t>
                </a:r>
                <a:r>
                  <a:rPr lang="en-IN" dirty="0"/>
                  <a:t>is the proportion of positive examples,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a:latin typeface="Cambria Math" panose="02040503050406030204" pitchFamily="18" charset="0"/>
                          </a:rPr>
                          <m:t>−</m:t>
                        </m:r>
                      </m:sub>
                    </m:sSub>
                  </m:oMath>
                </a14:m>
                <a:r>
                  <a:rPr lang="ar-AE" dirty="0"/>
                  <a:t> </a:t>
                </a:r>
                <a:r>
                  <a:rPr lang="en-IN" dirty="0"/>
                  <a:t>for negative.</a:t>
                </a:r>
              </a:p>
              <a:p>
                <a:endParaRPr lang="en-IN" dirty="0"/>
              </a:p>
            </p:txBody>
          </p:sp>
        </mc:Choice>
        <mc:Fallback>
          <p:sp>
            <p:nvSpPr>
              <p:cNvPr id="3" name="Content Placeholder 2">
                <a:extLst>
                  <a:ext uri="{FF2B5EF4-FFF2-40B4-BE49-F238E27FC236}">
                    <a16:creationId xmlns:a16="http://schemas.microsoft.com/office/drawing/2014/main" id="{8A9A9546-A74E-E893-9B89-BA688D6732F5}"/>
                  </a:ext>
                </a:extLst>
              </p:cNvPr>
              <p:cNvSpPr>
                <a:spLocks noGrp="1" noRot="1" noChangeAspect="1" noMove="1" noResize="1" noEditPoints="1" noAdjustHandles="1" noChangeArrowheads="1" noChangeShapeType="1" noTextEdit="1"/>
              </p:cNvSpPr>
              <p:nvPr>
                <p:ph idx="1"/>
              </p:nvPr>
            </p:nvSpPr>
            <p:spPr>
              <a:blipFill>
                <a:blip r:embed="rId2"/>
                <a:stretch>
                  <a:fillRect l="-1259" t="-2830" r="-2222" b="-2156"/>
                </a:stretch>
              </a:blipFill>
            </p:spPr>
            <p:txBody>
              <a:bodyPr/>
              <a:lstStyle/>
              <a:p>
                <a:r>
                  <a:rPr lang="en-US">
                    <a:noFill/>
                  </a:rPr>
                  <a:t> </a:t>
                </a:r>
              </a:p>
            </p:txBody>
          </p:sp>
        </mc:Fallback>
      </mc:AlternateContent>
    </p:spTree>
    <p:extLst>
      <p:ext uri="{BB962C8B-B14F-4D97-AF65-F5344CB8AC3E}">
        <p14:creationId xmlns:p14="http://schemas.microsoft.com/office/powerpoint/2010/main" val="2609624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DDE9B-B84B-C13F-AEA2-DD2C37124B55}"/>
              </a:ext>
            </a:extLst>
          </p:cNvPr>
          <p:cNvSpPr>
            <a:spLocks noGrp="1"/>
          </p:cNvSpPr>
          <p:nvPr>
            <p:ph type="title"/>
          </p:nvPr>
        </p:nvSpPr>
        <p:spPr/>
        <p:txBody>
          <a:bodyPr/>
          <a:lstStyle/>
          <a:p>
            <a:r>
              <a:rPr lang="en-IN" dirty="0"/>
              <a:t>Example: Entropy Calculation</a:t>
            </a:r>
          </a:p>
        </p:txBody>
      </p:sp>
      <p:sp>
        <p:nvSpPr>
          <p:cNvPr id="3" name="Content Placeholder 2">
            <a:extLst>
              <a:ext uri="{FF2B5EF4-FFF2-40B4-BE49-F238E27FC236}">
                <a16:creationId xmlns:a16="http://schemas.microsoft.com/office/drawing/2014/main" id="{1C524AF3-2B5E-ED16-C618-0BBC25C078B7}"/>
              </a:ext>
            </a:extLst>
          </p:cNvPr>
          <p:cNvSpPr>
            <a:spLocks noGrp="1"/>
          </p:cNvSpPr>
          <p:nvPr>
            <p:ph idx="1"/>
          </p:nvPr>
        </p:nvSpPr>
        <p:spPr/>
        <p:txBody>
          <a:bodyPr>
            <a:normAutofit/>
          </a:bodyPr>
          <a:lstStyle/>
          <a:p>
            <a:r>
              <a:rPr lang="en-US" sz="2800" i="1" dirty="0"/>
              <a:t>For the set X = {a,a,a,b,b,b,b,b}</a:t>
            </a:r>
            <a:br>
              <a:rPr lang="en-US" sz="2800" dirty="0"/>
            </a:br>
            <a:r>
              <a:rPr lang="en-US" sz="2800" i="1" dirty="0"/>
              <a:t>Total instances: 8</a:t>
            </a:r>
            <a:br>
              <a:rPr lang="en-US" sz="2800" dirty="0"/>
            </a:br>
            <a:r>
              <a:rPr lang="en-US" sz="2800" i="1" dirty="0"/>
              <a:t>Instances of b: 5</a:t>
            </a:r>
            <a:br>
              <a:rPr lang="en-US" sz="2800" dirty="0"/>
            </a:br>
            <a:r>
              <a:rPr lang="en-US" sz="2800" i="1" dirty="0"/>
              <a:t>Instances of a: 3</a:t>
            </a:r>
          </a:p>
          <a:p>
            <a:pPr fontAlgn="base"/>
            <a:r>
              <a:rPr lang="en-IN" sz="2800" i="1" dirty="0"/>
              <a:t>Entropy H(X)​=[(3/8​)log</a:t>
            </a:r>
            <a:r>
              <a:rPr lang="en-IN" sz="2800" i="1" baseline="-25000" dirty="0"/>
              <a:t>2</a:t>
            </a:r>
            <a:r>
              <a:rPr lang="en-IN" sz="2800" i="1" dirty="0"/>
              <a:t>​(3/8)​+(5/8​)log</a:t>
            </a:r>
            <a:r>
              <a:rPr lang="en-IN" sz="2800" i="1" baseline="-25000" dirty="0"/>
              <a:t>2</a:t>
            </a:r>
            <a:r>
              <a:rPr lang="en-IN" sz="2800" i="1" dirty="0"/>
              <a:t>​(5/8)​]</a:t>
            </a:r>
          </a:p>
          <a:p>
            <a:pPr marL="0" indent="0" fontAlgn="base">
              <a:buNone/>
            </a:pPr>
            <a:r>
              <a:rPr lang="en-IN" sz="2800" i="1" dirty="0"/>
              <a:t>	=−[0.375(−1.415)+0.625(−0.678)]</a:t>
            </a:r>
          </a:p>
          <a:p>
            <a:pPr marL="0" indent="0" fontAlgn="base">
              <a:buNone/>
            </a:pPr>
            <a:r>
              <a:rPr lang="en-IN" sz="2800" i="1" dirty="0"/>
              <a:t>	=−(−0.53−0.424)</a:t>
            </a:r>
          </a:p>
          <a:p>
            <a:pPr marL="0" indent="0" fontAlgn="base">
              <a:buNone/>
            </a:pPr>
            <a:r>
              <a:rPr lang="en-IN" sz="2800" i="1" dirty="0"/>
              <a:t>	=0.954</a:t>
            </a:r>
          </a:p>
        </p:txBody>
      </p:sp>
    </p:spTree>
    <p:extLst>
      <p:ext uri="{BB962C8B-B14F-4D97-AF65-F5344CB8AC3E}">
        <p14:creationId xmlns:p14="http://schemas.microsoft.com/office/powerpoint/2010/main" val="777952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136E4-7A98-BE03-FF28-90CA8702193B}"/>
              </a:ext>
            </a:extLst>
          </p:cNvPr>
          <p:cNvSpPr>
            <a:spLocks noGrp="1"/>
          </p:cNvSpPr>
          <p:nvPr>
            <p:ph type="title"/>
          </p:nvPr>
        </p:nvSpPr>
        <p:spPr/>
        <p:txBody>
          <a:bodyPr/>
          <a:lstStyle/>
          <a:p>
            <a:r>
              <a:rPr lang="en-IN" dirty="0"/>
              <a:t>Examples</a:t>
            </a:r>
          </a:p>
        </p:txBody>
      </p:sp>
      <p:sp>
        <p:nvSpPr>
          <p:cNvPr id="3" name="Content Placeholder 2">
            <a:extLst>
              <a:ext uri="{FF2B5EF4-FFF2-40B4-BE49-F238E27FC236}">
                <a16:creationId xmlns:a16="http://schemas.microsoft.com/office/drawing/2014/main" id="{10FFE11D-8B0A-DE3E-0ADA-CC86C7AC06D3}"/>
              </a:ext>
            </a:extLst>
          </p:cNvPr>
          <p:cNvSpPr>
            <a:spLocks noGrp="1"/>
          </p:cNvSpPr>
          <p:nvPr>
            <p:ph idx="1"/>
          </p:nvPr>
        </p:nvSpPr>
        <p:spPr/>
        <p:txBody>
          <a:bodyPr/>
          <a:lstStyle/>
          <a:p>
            <a:r>
              <a:rPr lang="en-IN" dirty="0"/>
              <a:t>Example calculation, feature selection</a:t>
            </a:r>
          </a:p>
          <a:p>
            <a:r>
              <a:rPr lang="en-US" dirty="0"/>
              <a:t>For example : If we split a dataset of people into "Young" and "Old" based on age and all young people bought the product while all old people did not, the Information Gain would be high because the split perfectly separates the two groups with no uncertainty left</a:t>
            </a:r>
            <a:endParaRPr lang="en-IN" dirty="0"/>
          </a:p>
        </p:txBody>
      </p:sp>
    </p:spTree>
    <p:extLst>
      <p:ext uri="{BB962C8B-B14F-4D97-AF65-F5344CB8AC3E}">
        <p14:creationId xmlns:p14="http://schemas.microsoft.com/office/powerpoint/2010/main" val="3424149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755EB73-65E7-AFF4-A014-3BF567C78B64}"/>
              </a:ext>
            </a:extLst>
          </p:cNvPr>
          <p:cNvGraphicFramePr>
            <a:graphicFrameLocks noGrp="1"/>
          </p:cNvGraphicFramePr>
          <p:nvPr>
            <p:ph idx="1"/>
            <p:extLst>
              <p:ext uri="{D42A27DB-BD31-4B8C-83A1-F6EECF244321}">
                <p14:modId xmlns:p14="http://schemas.microsoft.com/office/powerpoint/2010/main" val="3270633925"/>
              </p:ext>
            </p:extLst>
          </p:nvPr>
        </p:nvGraphicFramePr>
        <p:xfrm>
          <a:off x="457200" y="1604779"/>
          <a:ext cx="8229600" cy="1879600"/>
        </p:xfrm>
        <a:graphic>
          <a:graphicData uri="http://schemas.openxmlformats.org/drawingml/2006/table">
            <a:tbl>
              <a:tblPr/>
              <a:tblGrid>
                <a:gridCol w="2057400">
                  <a:extLst>
                    <a:ext uri="{9D8B030D-6E8A-4147-A177-3AD203B41FA5}">
                      <a16:colId xmlns:a16="http://schemas.microsoft.com/office/drawing/2014/main" val="2335087327"/>
                    </a:ext>
                  </a:extLst>
                </a:gridCol>
                <a:gridCol w="2057400">
                  <a:extLst>
                    <a:ext uri="{9D8B030D-6E8A-4147-A177-3AD203B41FA5}">
                      <a16:colId xmlns:a16="http://schemas.microsoft.com/office/drawing/2014/main" val="2943581202"/>
                    </a:ext>
                  </a:extLst>
                </a:gridCol>
                <a:gridCol w="2057400">
                  <a:extLst>
                    <a:ext uri="{9D8B030D-6E8A-4147-A177-3AD203B41FA5}">
                      <a16:colId xmlns:a16="http://schemas.microsoft.com/office/drawing/2014/main" val="3442515633"/>
                    </a:ext>
                  </a:extLst>
                </a:gridCol>
                <a:gridCol w="2057400">
                  <a:extLst>
                    <a:ext uri="{9D8B030D-6E8A-4147-A177-3AD203B41FA5}">
                      <a16:colId xmlns:a16="http://schemas.microsoft.com/office/drawing/2014/main" val="3185238293"/>
                    </a:ext>
                  </a:extLst>
                </a:gridCol>
              </a:tblGrid>
              <a:tr h="0">
                <a:tc>
                  <a:txBody>
                    <a:bodyPr/>
                    <a:lstStyle/>
                    <a:p>
                      <a:pPr algn="l">
                        <a:buNone/>
                      </a:pPr>
                      <a:r>
                        <a:rPr lang="en-IN" b="1" dirty="0">
                          <a:effectLst/>
                        </a:rPr>
                        <a:t>X</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b="1" dirty="0">
                          <a:effectLst/>
                        </a:rPr>
                        <a:t>Y</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b="1" dirty="0">
                          <a:effectLst/>
                        </a:rPr>
                        <a:t>Z</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b="1" dirty="0">
                          <a:effectLst/>
                        </a:rPr>
                        <a:t>C</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5904059"/>
                  </a:ext>
                </a:extLst>
              </a:tr>
              <a:tr h="0">
                <a:tc>
                  <a:txBody>
                    <a:bodyPr/>
                    <a:lstStyle/>
                    <a:p>
                      <a:pPr algn="l">
                        <a:buNone/>
                      </a:pPr>
                      <a:r>
                        <a:rPr lang="en-IN" dirty="0">
                          <a:effectLst/>
                        </a:rPr>
                        <a:t>1</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dirty="0">
                          <a:effectLst/>
                        </a:rPr>
                        <a:t>1</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dirty="0">
                          <a:effectLst/>
                        </a:rPr>
                        <a:t>1</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dirty="0">
                          <a:effectLst/>
                        </a:rPr>
                        <a:t>I</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147665594"/>
                  </a:ext>
                </a:extLst>
              </a:tr>
              <a:tr h="0">
                <a:tc>
                  <a:txBody>
                    <a:bodyPr/>
                    <a:lstStyle/>
                    <a:p>
                      <a:pPr algn="l">
                        <a:buNone/>
                      </a:pPr>
                      <a:r>
                        <a:rPr lang="en-IN" dirty="0">
                          <a:effectLst/>
                        </a:rPr>
                        <a:t>1</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dirty="0">
                          <a:effectLst/>
                        </a:rPr>
                        <a:t>1</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dirty="0">
                          <a:effectLst/>
                        </a:rPr>
                        <a:t>0</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dirty="0">
                          <a:effectLst/>
                        </a:rPr>
                        <a:t>I</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368340221"/>
                  </a:ext>
                </a:extLst>
              </a:tr>
              <a:tr h="0">
                <a:tc>
                  <a:txBody>
                    <a:bodyPr/>
                    <a:lstStyle/>
                    <a:p>
                      <a:pPr algn="l">
                        <a:buNone/>
                      </a:pPr>
                      <a:r>
                        <a:rPr lang="en-IN" dirty="0">
                          <a:effectLst/>
                        </a:rPr>
                        <a:t>0</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dirty="0">
                          <a:effectLst/>
                        </a:rPr>
                        <a:t>0</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dirty="0">
                          <a:effectLst/>
                        </a:rPr>
                        <a:t>1</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dirty="0">
                          <a:effectLst/>
                        </a:rPr>
                        <a:t>II</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617990303"/>
                  </a:ext>
                </a:extLst>
              </a:tr>
              <a:tr h="0">
                <a:tc>
                  <a:txBody>
                    <a:bodyPr/>
                    <a:lstStyle/>
                    <a:p>
                      <a:pPr algn="l">
                        <a:buNone/>
                      </a:pPr>
                      <a:r>
                        <a:rPr lang="en-IN" dirty="0">
                          <a:effectLst/>
                        </a:rPr>
                        <a:t>1</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dirty="0">
                          <a:effectLst/>
                        </a:rPr>
                        <a:t>0</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dirty="0">
                          <a:effectLst/>
                        </a:rPr>
                        <a:t>0</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dirty="0">
                          <a:effectLst/>
                        </a:rPr>
                        <a:t>II</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013429547"/>
                  </a:ext>
                </a:extLst>
              </a:tr>
            </a:tbl>
          </a:graphicData>
        </a:graphic>
      </p:graphicFrame>
      <p:sp>
        <p:nvSpPr>
          <p:cNvPr id="6" name="TextBox 5">
            <a:extLst>
              <a:ext uri="{FF2B5EF4-FFF2-40B4-BE49-F238E27FC236}">
                <a16:creationId xmlns:a16="http://schemas.microsoft.com/office/drawing/2014/main" id="{6E265A5A-5C00-7A03-52C1-B395BE7F61B8}"/>
              </a:ext>
            </a:extLst>
          </p:cNvPr>
          <p:cNvSpPr txBox="1"/>
          <p:nvPr/>
        </p:nvSpPr>
        <p:spPr>
          <a:xfrm>
            <a:off x="457200" y="4160905"/>
            <a:ext cx="8229600" cy="830997"/>
          </a:xfrm>
          <a:prstGeom prst="rect">
            <a:avLst/>
          </a:prstGeom>
          <a:noFill/>
        </p:spPr>
        <p:txBody>
          <a:bodyPr wrap="square">
            <a:spAutoFit/>
          </a:bodyPr>
          <a:lstStyle/>
          <a:p>
            <a:pPr algn="l">
              <a:buFont typeface="Arial" panose="020B0604020202020204" pitchFamily="34" charset="0"/>
              <a:buChar char="•"/>
            </a:pPr>
            <a:r>
              <a:rPr lang="en-US" sz="2400" b="0" i="0" dirty="0">
                <a:effectLst/>
                <a:latin typeface="fkGroteskNeue"/>
              </a:rPr>
              <a:t>There are 3 features (X, Y, Z) and 2 output classes (I, II).</a:t>
            </a:r>
          </a:p>
          <a:p>
            <a:pPr algn="l">
              <a:buFont typeface="Arial" panose="020B0604020202020204" pitchFamily="34" charset="0"/>
              <a:buChar char="•"/>
            </a:pPr>
            <a:r>
              <a:rPr lang="en-US" sz="2400" b="0" i="0" dirty="0">
                <a:effectLst/>
                <a:latin typeface="fkGroteskNeue"/>
              </a:rPr>
              <a:t>Calculate the information gain for each feature.</a:t>
            </a:r>
          </a:p>
        </p:txBody>
      </p:sp>
      <p:sp>
        <p:nvSpPr>
          <p:cNvPr id="10" name="Title 1">
            <a:extLst>
              <a:ext uri="{FF2B5EF4-FFF2-40B4-BE49-F238E27FC236}">
                <a16:creationId xmlns:a16="http://schemas.microsoft.com/office/drawing/2014/main" id="{90EAD5EF-D894-00BC-53DF-34C3230EDAF3}"/>
              </a:ext>
            </a:extLst>
          </p:cNvPr>
          <p:cNvSpPr>
            <a:spLocks noGrp="1"/>
          </p:cNvSpPr>
          <p:nvPr>
            <p:ph type="title"/>
          </p:nvPr>
        </p:nvSpPr>
        <p:spPr>
          <a:xfrm>
            <a:off x="457200" y="274638"/>
            <a:ext cx="8229600" cy="1143000"/>
          </a:xfrm>
        </p:spPr>
        <p:txBody>
          <a:bodyPr>
            <a:normAutofit fontScale="90000"/>
          </a:bodyPr>
          <a:lstStyle/>
          <a:p>
            <a:r>
              <a:rPr lang="en-US" dirty="0"/>
              <a:t>Splitting and Final Tree Construction:</a:t>
            </a:r>
            <a:endParaRPr lang="en-IN" dirty="0"/>
          </a:p>
        </p:txBody>
      </p:sp>
    </p:spTree>
    <p:extLst>
      <p:ext uri="{BB962C8B-B14F-4D97-AF65-F5344CB8AC3E}">
        <p14:creationId xmlns:p14="http://schemas.microsoft.com/office/powerpoint/2010/main" val="80190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501DA7-DFCE-8083-5B0F-050E03369CC4}"/>
              </a:ext>
            </a:extLst>
          </p:cNvPr>
          <p:cNvSpPr>
            <a:spLocks noGrp="1"/>
          </p:cNvSpPr>
          <p:nvPr>
            <p:ph idx="1"/>
          </p:nvPr>
        </p:nvSpPr>
        <p:spPr>
          <a:xfrm>
            <a:off x="240147" y="318381"/>
            <a:ext cx="8903853" cy="5440362"/>
          </a:xfrm>
        </p:spPr>
        <p:txBody>
          <a:bodyPr>
            <a:normAutofit/>
          </a:bodyPr>
          <a:lstStyle/>
          <a:p>
            <a:r>
              <a:rPr lang="en-IN" noProof="0" dirty="0"/>
              <a:t>Split on attribute X : Partition dataset based on X=1 and X=0</a:t>
            </a:r>
          </a:p>
          <a:p>
            <a:endParaRPr lang="en-IN" noProof="0" dirty="0"/>
          </a:p>
          <a:p>
            <a:endParaRPr lang="en-IN" noProof="0" dirty="0"/>
          </a:p>
          <a:p>
            <a:endParaRPr lang="en-IN" noProof="0" dirty="0"/>
          </a:p>
          <a:p>
            <a:r>
              <a:rPr lang="en-IN" noProof="0" dirty="0"/>
              <a:t>Split on attribute Y : Partition dataset based on Y=1 and Y=0</a:t>
            </a:r>
          </a:p>
          <a:p>
            <a:pPr marL="0" indent="0">
              <a:buNone/>
            </a:pPr>
            <a:endParaRPr lang="en-IN" noProof="0" dirty="0"/>
          </a:p>
          <a:p>
            <a:endParaRPr lang="en-IN" noProof="0" dirty="0"/>
          </a:p>
        </p:txBody>
      </p:sp>
      <p:pic>
        <p:nvPicPr>
          <p:cNvPr id="7" name="Picture 6">
            <a:extLst>
              <a:ext uri="{FF2B5EF4-FFF2-40B4-BE49-F238E27FC236}">
                <a16:creationId xmlns:a16="http://schemas.microsoft.com/office/drawing/2014/main" id="{BAC2D7C6-0BA0-FFEC-06FD-A25A1DFF161E}"/>
              </a:ext>
            </a:extLst>
          </p:cNvPr>
          <p:cNvPicPr>
            <a:picLocks noChangeAspect="1"/>
          </p:cNvPicPr>
          <p:nvPr/>
        </p:nvPicPr>
        <p:blipFill>
          <a:blip r:embed="rId2"/>
          <a:stretch>
            <a:fillRect/>
          </a:stretch>
        </p:blipFill>
        <p:spPr>
          <a:xfrm>
            <a:off x="3111177" y="1177806"/>
            <a:ext cx="3844200" cy="1755251"/>
          </a:xfrm>
          <a:prstGeom prst="rect">
            <a:avLst/>
          </a:prstGeom>
        </p:spPr>
      </p:pic>
      <p:pic>
        <p:nvPicPr>
          <p:cNvPr id="9" name="Picture 8">
            <a:extLst>
              <a:ext uri="{FF2B5EF4-FFF2-40B4-BE49-F238E27FC236}">
                <a16:creationId xmlns:a16="http://schemas.microsoft.com/office/drawing/2014/main" id="{E176567F-637A-31C4-F1E7-3B6656D40879}"/>
              </a:ext>
            </a:extLst>
          </p:cNvPr>
          <p:cNvPicPr>
            <a:picLocks noChangeAspect="1"/>
          </p:cNvPicPr>
          <p:nvPr/>
        </p:nvPicPr>
        <p:blipFill>
          <a:blip r:embed="rId3"/>
          <a:stretch>
            <a:fillRect/>
          </a:stretch>
        </p:blipFill>
        <p:spPr>
          <a:xfrm>
            <a:off x="3044059" y="4217352"/>
            <a:ext cx="3765014" cy="1856851"/>
          </a:xfrm>
          <a:prstGeom prst="rect">
            <a:avLst/>
          </a:prstGeom>
        </p:spPr>
      </p:pic>
    </p:spTree>
    <p:extLst>
      <p:ext uri="{BB962C8B-B14F-4D97-AF65-F5344CB8AC3E}">
        <p14:creationId xmlns:p14="http://schemas.microsoft.com/office/powerpoint/2010/main" val="968491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EEF8FE-96B5-D08E-3BFC-1A042509864D}"/>
              </a:ext>
            </a:extLst>
          </p:cNvPr>
          <p:cNvSpPr>
            <a:spLocks noGrp="1"/>
          </p:cNvSpPr>
          <p:nvPr>
            <p:ph idx="1"/>
          </p:nvPr>
        </p:nvSpPr>
        <p:spPr>
          <a:xfrm>
            <a:off x="531091" y="898236"/>
            <a:ext cx="8229600" cy="4525963"/>
          </a:xfrm>
        </p:spPr>
        <p:txBody>
          <a:bodyPr/>
          <a:lstStyle/>
          <a:p>
            <a:r>
              <a:rPr lang="en-US" dirty="0"/>
              <a:t>Split on attribute Z : Partition dataset based on Z=1 and Z=0</a:t>
            </a:r>
          </a:p>
          <a:p>
            <a:endParaRPr lang="en-US" dirty="0"/>
          </a:p>
          <a:p>
            <a:endParaRPr lang="en-US" dirty="0"/>
          </a:p>
          <a:p>
            <a:endParaRPr lang="en-US" dirty="0"/>
          </a:p>
          <a:p>
            <a:endParaRPr lang="en-US" dirty="0"/>
          </a:p>
          <a:p>
            <a:r>
              <a:rPr lang="en-US" dirty="0"/>
              <a:t>Interpretation: Check resulting groups for purity (all I or II?)</a:t>
            </a:r>
          </a:p>
          <a:p>
            <a:endParaRPr lang="en-IN" dirty="0"/>
          </a:p>
        </p:txBody>
      </p:sp>
      <p:pic>
        <p:nvPicPr>
          <p:cNvPr id="5" name="Picture 4">
            <a:extLst>
              <a:ext uri="{FF2B5EF4-FFF2-40B4-BE49-F238E27FC236}">
                <a16:creationId xmlns:a16="http://schemas.microsoft.com/office/drawing/2014/main" id="{40162299-178F-2F39-B980-550EE5731D18}"/>
              </a:ext>
            </a:extLst>
          </p:cNvPr>
          <p:cNvPicPr>
            <a:picLocks noChangeAspect="1"/>
          </p:cNvPicPr>
          <p:nvPr/>
        </p:nvPicPr>
        <p:blipFill>
          <a:blip r:embed="rId2"/>
          <a:stretch>
            <a:fillRect/>
          </a:stretch>
        </p:blipFill>
        <p:spPr>
          <a:xfrm>
            <a:off x="3657598" y="1833355"/>
            <a:ext cx="4572001" cy="2242192"/>
          </a:xfrm>
          <a:prstGeom prst="rect">
            <a:avLst/>
          </a:prstGeom>
        </p:spPr>
      </p:pic>
    </p:spTree>
    <p:extLst>
      <p:ext uri="{BB962C8B-B14F-4D97-AF65-F5344CB8AC3E}">
        <p14:creationId xmlns:p14="http://schemas.microsoft.com/office/powerpoint/2010/main" val="257186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C61F6C-8CB9-19AC-A337-22E0077985BF}"/>
              </a:ext>
            </a:extLst>
          </p:cNvPr>
          <p:cNvSpPr>
            <a:spLocks noGrp="1"/>
          </p:cNvSpPr>
          <p:nvPr>
            <p:ph idx="1"/>
          </p:nvPr>
        </p:nvSpPr>
        <p:spPr>
          <a:xfrm>
            <a:off x="457200" y="722745"/>
            <a:ext cx="8229600" cy="4525963"/>
          </a:xfrm>
        </p:spPr>
        <p:txBody>
          <a:bodyPr/>
          <a:lstStyle/>
          <a:p>
            <a:r>
              <a:rPr lang="en-US" dirty="0"/>
              <a:t>Information gain is maximum for feature Y.</a:t>
            </a:r>
          </a:p>
          <a:p>
            <a:r>
              <a:rPr lang="en-US" dirty="0"/>
              <a:t>So, feature Y is chosen as the root node.</a:t>
            </a:r>
          </a:p>
          <a:p>
            <a:r>
              <a:rPr lang="en-US" dirty="0"/>
              <a:t>After splitting by Y, each child is a pure subset (all I or all II) – no further split needed.</a:t>
            </a:r>
          </a:p>
          <a:p>
            <a:r>
              <a:rPr lang="en-US" dirty="0"/>
              <a:t>Final Tree:</a:t>
            </a:r>
          </a:p>
          <a:p>
            <a:endParaRPr lang="en-IN" dirty="0"/>
          </a:p>
        </p:txBody>
      </p:sp>
      <p:sp>
        <p:nvSpPr>
          <p:cNvPr id="5" name="TextBox 4">
            <a:extLst>
              <a:ext uri="{FF2B5EF4-FFF2-40B4-BE49-F238E27FC236}">
                <a16:creationId xmlns:a16="http://schemas.microsoft.com/office/drawing/2014/main" id="{33CDA798-F994-AC22-12CB-B2F832491CC9}"/>
              </a:ext>
            </a:extLst>
          </p:cNvPr>
          <p:cNvSpPr txBox="1"/>
          <p:nvPr/>
        </p:nvSpPr>
        <p:spPr>
          <a:xfrm>
            <a:off x="1466273" y="3613926"/>
            <a:ext cx="1270000" cy="1200329"/>
          </a:xfrm>
          <a:prstGeom prst="rect">
            <a:avLst/>
          </a:prstGeom>
          <a:noFill/>
        </p:spPr>
        <p:txBody>
          <a:bodyPr wrap="square">
            <a:spAutoFit/>
          </a:bodyPr>
          <a:lstStyle/>
          <a:p>
            <a:r>
              <a:rPr lang="en-IN" dirty="0"/>
              <a:t>            Y</a:t>
            </a:r>
          </a:p>
          <a:p>
            <a:r>
              <a:rPr lang="en-IN" dirty="0"/>
              <a:t>           / \</a:t>
            </a:r>
          </a:p>
          <a:p>
            <a:r>
              <a:rPr lang="en-IN" dirty="0"/>
              <a:t>        1     0</a:t>
            </a:r>
          </a:p>
          <a:p>
            <a:r>
              <a:rPr lang="en-IN" dirty="0"/>
              <a:t>       (I)   (II)</a:t>
            </a:r>
          </a:p>
        </p:txBody>
      </p:sp>
    </p:spTree>
    <p:extLst>
      <p:ext uri="{BB962C8B-B14F-4D97-AF65-F5344CB8AC3E}">
        <p14:creationId xmlns:p14="http://schemas.microsoft.com/office/powerpoint/2010/main" val="2347276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59824-D32D-6B9C-5310-7B6F0B4031C5}"/>
              </a:ext>
            </a:extLst>
          </p:cNvPr>
          <p:cNvSpPr>
            <a:spLocks noGrp="1"/>
          </p:cNvSpPr>
          <p:nvPr>
            <p:ph type="title"/>
          </p:nvPr>
        </p:nvSpPr>
        <p:spPr/>
        <p:txBody>
          <a:bodyPr>
            <a:normAutofit fontScale="90000"/>
          </a:bodyPr>
          <a:lstStyle/>
          <a:p>
            <a:r>
              <a:rPr lang="en-US" dirty="0"/>
              <a:t>Numerical Example: </a:t>
            </a:r>
            <a:r>
              <a:rPr lang="en-US" dirty="0" err="1"/>
              <a:t>Inormation</a:t>
            </a:r>
            <a:r>
              <a:rPr lang="en-US" dirty="0"/>
              <a:t> Gain</a:t>
            </a:r>
          </a:p>
        </p:txBody>
      </p:sp>
      <p:graphicFrame>
        <p:nvGraphicFramePr>
          <p:cNvPr id="9" name="Content Placeholder 8">
            <a:extLst>
              <a:ext uri="{FF2B5EF4-FFF2-40B4-BE49-F238E27FC236}">
                <a16:creationId xmlns:a16="http://schemas.microsoft.com/office/drawing/2014/main" id="{7CEA7F7C-633F-F895-A62D-672232764F3B}"/>
              </a:ext>
            </a:extLst>
          </p:cNvPr>
          <p:cNvGraphicFramePr>
            <a:graphicFrameLocks noGrp="1"/>
          </p:cNvGraphicFramePr>
          <p:nvPr>
            <p:ph idx="1"/>
            <p:extLst>
              <p:ext uri="{D42A27DB-BD31-4B8C-83A1-F6EECF244321}">
                <p14:modId xmlns:p14="http://schemas.microsoft.com/office/powerpoint/2010/main" val="1554827087"/>
              </p:ext>
            </p:extLst>
          </p:nvPr>
        </p:nvGraphicFramePr>
        <p:xfrm>
          <a:off x="457200" y="1737201"/>
          <a:ext cx="8229600" cy="2194560"/>
        </p:xfrm>
        <a:graphic>
          <a:graphicData uri="http://schemas.openxmlformats.org/drawingml/2006/table">
            <a:tbl>
              <a:tblPr/>
              <a:tblGrid>
                <a:gridCol w="2743200">
                  <a:extLst>
                    <a:ext uri="{9D8B030D-6E8A-4147-A177-3AD203B41FA5}">
                      <a16:colId xmlns:a16="http://schemas.microsoft.com/office/drawing/2014/main" val="1388557504"/>
                    </a:ext>
                  </a:extLst>
                </a:gridCol>
                <a:gridCol w="2743200">
                  <a:extLst>
                    <a:ext uri="{9D8B030D-6E8A-4147-A177-3AD203B41FA5}">
                      <a16:colId xmlns:a16="http://schemas.microsoft.com/office/drawing/2014/main" val="180469309"/>
                    </a:ext>
                  </a:extLst>
                </a:gridCol>
                <a:gridCol w="2743200">
                  <a:extLst>
                    <a:ext uri="{9D8B030D-6E8A-4147-A177-3AD203B41FA5}">
                      <a16:colId xmlns:a16="http://schemas.microsoft.com/office/drawing/2014/main" val="2912480575"/>
                    </a:ext>
                  </a:extLst>
                </a:gridCol>
              </a:tblGrid>
              <a:tr h="0">
                <a:tc>
                  <a:txBody>
                    <a:bodyPr/>
                    <a:lstStyle/>
                    <a:p>
                      <a:pPr>
                        <a:buNone/>
                      </a:pPr>
                      <a:r>
                        <a:rPr lang="en-US"/>
                        <a:t>Sample</a:t>
                      </a:r>
                    </a:p>
                  </a:txBody>
                  <a:tcPr anchor="ctr">
                    <a:lnL>
                      <a:noFill/>
                    </a:lnL>
                    <a:lnR>
                      <a:noFill/>
                    </a:lnR>
                    <a:lnT>
                      <a:noFill/>
                    </a:lnT>
                    <a:lnB>
                      <a:noFill/>
                    </a:lnB>
                    <a:noFill/>
                  </a:tcPr>
                </a:tc>
                <a:tc>
                  <a:txBody>
                    <a:bodyPr/>
                    <a:lstStyle/>
                    <a:p>
                      <a:pPr>
                        <a:buNone/>
                      </a:pPr>
                      <a:r>
                        <a:rPr lang="en-US"/>
                        <a:t>Outlook</a:t>
                      </a:r>
                    </a:p>
                  </a:txBody>
                  <a:tcPr anchor="ctr">
                    <a:lnL>
                      <a:noFill/>
                    </a:lnL>
                    <a:lnR>
                      <a:noFill/>
                    </a:lnR>
                    <a:lnT>
                      <a:noFill/>
                    </a:lnT>
                    <a:lnB>
                      <a:noFill/>
                    </a:lnB>
                    <a:noFill/>
                  </a:tcPr>
                </a:tc>
                <a:tc>
                  <a:txBody>
                    <a:bodyPr/>
                    <a:lstStyle/>
                    <a:p>
                      <a:pPr>
                        <a:buNone/>
                      </a:pPr>
                      <a:r>
                        <a:rPr lang="en-US"/>
                        <a:t>Play Tennis</a:t>
                      </a:r>
                    </a:p>
                  </a:txBody>
                  <a:tcPr anchor="ctr">
                    <a:lnL>
                      <a:noFill/>
                    </a:lnL>
                    <a:lnR>
                      <a:noFill/>
                    </a:lnR>
                    <a:lnT>
                      <a:noFill/>
                    </a:lnT>
                    <a:lnB>
                      <a:noFill/>
                    </a:lnB>
                    <a:noFill/>
                  </a:tcPr>
                </a:tc>
                <a:extLst>
                  <a:ext uri="{0D108BD9-81ED-4DB2-BD59-A6C34878D82A}">
                    <a16:rowId xmlns:a16="http://schemas.microsoft.com/office/drawing/2014/main" val="4201321555"/>
                  </a:ext>
                </a:extLst>
              </a:tr>
              <a:tr h="0">
                <a:tc>
                  <a:txBody>
                    <a:bodyPr/>
                    <a:lstStyle/>
                    <a:p>
                      <a:pPr>
                        <a:buNone/>
                      </a:pPr>
                      <a:r>
                        <a:rPr lang="en-US"/>
                        <a:t>1</a:t>
                      </a:r>
                    </a:p>
                  </a:txBody>
                  <a:tcPr anchor="ctr">
                    <a:lnL>
                      <a:noFill/>
                    </a:lnL>
                    <a:lnR>
                      <a:noFill/>
                    </a:lnR>
                    <a:lnT>
                      <a:noFill/>
                    </a:lnT>
                    <a:lnB>
                      <a:noFill/>
                    </a:lnB>
                    <a:noFill/>
                  </a:tcPr>
                </a:tc>
                <a:tc>
                  <a:txBody>
                    <a:bodyPr/>
                    <a:lstStyle/>
                    <a:p>
                      <a:pPr>
                        <a:buNone/>
                      </a:pPr>
                      <a:r>
                        <a:rPr lang="en-US"/>
                        <a:t>Sunny</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extLst>
                  <a:ext uri="{0D108BD9-81ED-4DB2-BD59-A6C34878D82A}">
                    <a16:rowId xmlns:a16="http://schemas.microsoft.com/office/drawing/2014/main" val="1443828815"/>
                  </a:ext>
                </a:extLst>
              </a:tr>
              <a:tr h="0">
                <a:tc>
                  <a:txBody>
                    <a:bodyPr/>
                    <a:lstStyle/>
                    <a:p>
                      <a:pPr>
                        <a:buNone/>
                      </a:pPr>
                      <a:r>
                        <a:rPr lang="en-US"/>
                        <a:t>2</a:t>
                      </a:r>
                    </a:p>
                  </a:txBody>
                  <a:tcPr anchor="ctr">
                    <a:lnL>
                      <a:noFill/>
                    </a:lnL>
                    <a:lnR>
                      <a:noFill/>
                    </a:lnR>
                    <a:lnT>
                      <a:noFill/>
                    </a:lnT>
                    <a:lnB>
                      <a:noFill/>
                    </a:lnB>
                    <a:noFill/>
                  </a:tcPr>
                </a:tc>
                <a:tc>
                  <a:txBody>
                    <a:bodyPr/>
                    <a:lstStyle/>
                    <a:p>
                      <a:pPr>
                        <a:buNone/>
                      </a:pPr>
                      <a:r>
                        <a:rPr lang="en-US"/>
                        <a:t>Sunny</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extLst>
                  <a:ext uri="{0D108BD9-81ED-4DB2-BD59-A6C34878D82A}">
                    <a16:rowId xmlns:a16="http://schemas.microsoft.com/office/drawing/2014/main" val="1724085819"/>
                  </a:ext>
                </a:extLst>
              </a:tr>
              <a:tr h="0">
                <a:tc>
                  <a:txBody>
                    <a:bodyPr/>
                    <a:lstStyle/>
                    <a:p>
                      <a:pPr>
                        <a:buNone/>
                      </a:pPr>
                      <a:r>
                        <a:rPr lang="en-US"/>
                        <a:t>3</a:t>
                      </a:r>
                    </a:p>
                  </a:txBody>
                  <a:tcPr anchor="ctr">
                    <a:lnL>
                      <a:noFill/>
                    </a:lnL>
                    <a:lnR>
                      <a:noFill/>
                    </a:lnR>
                    <a:lnT>
                      <a:noFill/>
                    </a:lnT>
                    <a:lnB>
                      <a:noFill/>
                    </a:lnB>
                    <a:noFill/>
                  </a:tcPr>
                </a:tc>
                <a:tc>
                  <a:txBody>
                    <a:bodyPr/>
                    <a:lstStyle/>
                    <a:p>
                      <a:pPr>
                        <a:buNone/>
                      </a:pPr>
                      <a:r>
                        <a:rPr lang="en-US"/>
                        <a:t>Overcast</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extLst>
                  <a:ext uri="{0D108BD9-81ED-4DB2-BD59-A6C34878D82A}">
                    <a16:rowId xmlns:a16="http://schemas.microsoft.com/office/drawing/2014/main" val="4037101658"/>
                  </a:ext>
                </a:extLst>
              </a:tr>
              <a:tr h="0">
                <a:tc>
                  <a:txBody>
                    <a:bodyPr/>
                    <a:lstStyle/>
                    <a:p>
                      <a:pPr>
                        <a:buNone/>
                      </a:pPr>
                      <a:r>
                        <a:rPr lang="en-US"/>
                        <a:t>4</a:t>
                      </a:r>
                    </a:p>
                  </a:txBody>
                  <a:tcPr anchor="ctr">
                    <a:lnL>
                      <a:noFill/>
                    </a:lnL>
                    <a:lnR>
                      <a:noFill/>
                    </a:lnR>
                    <a:lnT>
                      <a:noFill/>
                    </a:lnT>
                    <a:lnB>
                      <a:noFill/>
                    </a:lnB>
                    <a:noFill/>
                  </a:tcPr>
                </a:tc>
                <a:tc>
                  <a:txBody>
                    <a:bodyPr/>
                    <a:lstStyle/>
                    <a:p>
                      <a:pPr>
                        <a:buNone/>
                      </a:pPr>
                      <a:r>
                        <a:rPr lang="en-US"/>
                        <a:t>Rain</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extLst>
                  <a:ext uri="{0D108BD9-81ED-4DB2-BD59-A6C34878D82A}">
                    <a16:rowId xmlns:a16="http://schemas.microsoft.com/office/drawing/2014/main" val="3838069160"/>
                  </a:ext>
                </a:extLst>
              </a:tr>
              <a:tr h="0">
                <a:tc>
                  <a:txBody>
                    <a:bodyPr/>
                    <a:lstStyle/>
                    <a:p>
                      <a:pPr>
                        <a:buNone/>
                      </a:pPr>
                      <a:r>
                        <a:rPr lang="en-US"/>
                        <a:t>5</a:t>
                      </a:r>
                    </a:p>
                  </a:txBody>
                  <a:tcPr anchor="ctr">
                    <a:lnL>
                      <a:noFill/>
                    </a:lnL>
                    <a:lnR>
                      <a:noFill/>
                    </a:lnR>
                    <a:lnT>
                      <a:noFill/>
                    </a:lnT>
                    <a:lnB>
                      <a:noFill/>
                    </a:lnB>
                    <a:noFill/>
                  </a:tcPr>
                </a:tc>
                <a:tc>
                  <a:txBody>
                    <a:bodyPr/>
                    <a:lstStyle/>
                    <a:p>
                      <a:pPr>
                        <a:buNone/>
                      </a:pPr>
                      <a:r>
                        <a:rPr lang="en-US"/>
                        <a:t>Rain</a:t>
                      </a:r>
                    </a:p>
                  </a:txBody>
                  <a:tcPr anchor="ctr">
                    <a:lnL>
                      <a:noFill/>
                    </a:lnL>
                    <a:lnR>
                      <a:noFill/>
                    </a:lnR>
                    <a:lnT>
                      <a:noFill/>
                    </a:lnT>
                    <a:lnB>
                      <a:noFill/>
                    </a:lnB>
                    <a:noFill/>
                  </a:tcPr>
                </a:tc>
                <a:tc>
                  <a:txBody>
                    <a:bodyPr/>
                    <a:lstStyle/>
                    <a:p>
                      <a:pPr>
                        <a:buNone/>
                      </a:pPr>
                      <a:r>
                        <a:rPr lang="en-US" dirty="0"/>
                        <a:t>No</a:t>
                      </a:r>
                    </a:p>
                  </a:txBody>
                  <a:tcPr anchor="ctr">
                    <a:lnL>
                      <a:noFill/>
                    </a:lnL>
                    <a:lnR>
                      <a:noFill/>
                    </a:lnR>
                    <a:lnT>
                      <a:noFill/>
                    </a:lnT>
                    <a:lnB>
                      <a:noFill/>
                    </a:lnB>
                    <a:noFill/>
                  </a:tcPr>
                </a:tc>
                <a:extLst>
                  <a:ext uri="{0D108BD9-81ED-4DB2-BD59-A6C34878D82A}">
                    <a16:rowId xmlns:a16="http://schemas.microsoft.com/office/drawing/2014/main" val="874668054"/>
                  </a:ext>
                </a:extLst>
              </a:tr>
            </a:tbl>
          </a:graphicData>
        </a:graphic>
      </p:graphicFrame>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1D26D218-A05C-1579-2F4F-717805A151A2}"/>
                  </a:ext>
                </a:extLst>
              </p:cNvPr>
              <p:cNvSpPr txBox="1"/>
              <p:nvPr/>
            </p:nvSpPr>
            <p:spPr>
              <a:xfrm>
                <a:off x="805543" y="4581874"/>
                <a:ext cx="6923314" cy="1166794"/>
              </a:xfrm>
              <a:prstGeom prst="rect">
                <a:avLst/>
              </a:prstGeom>
              <a:noFill/>
            </p:spPr>
            <p:txBody>
              <a:bodyPr wrap="square">
                <a:spAutoFit/>
              </a:bodyPr>
              <a:lstStyle/>
              <a:p>
                <a:pPr>
                  <a:buNone/>
                </a:pPr>
                <a:r>
                  <a:rPr lang="en-US" b="1" dirty="0"/>
                  <a:t>Entropy of Parent</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d>
                        <m:dPr>
                          <m:ctrlPr>
                            <a:rPr lang="ar-AE" i="1">
                              <a:latin typeface="Cambria Math" panose="02040503050406030204" pitchFamily="18" charset="0"/>
                            </a:rPr>
                          </m:ctrlPr>
                        </m:dPr>
                        <m:e>
                          <m:r>
                            <a:rPr lang="ar-AE" i="1">
                              <a:latin typeface="Cambria Math" panose="02040503050406030204" pitchFamily="18" charset="0"/>
                            </a:rPr>
                            <m:t>𝑆</m:t>
                          </m:r>
                        </m:e>
                      </m:d>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3</m:t>
                          </m:r>
                        </m:num>
                        <m:den>
                          <m:r>
                            <a:rPr lang="ar-AE" i="0">
                              <a:latin typeface="Cambria Math" panose="02040503050406030204" pitchFamily="18" charset="0"/>
                            </a:rPr>
                            <m:t>5</m:t>
                          </m:r>
                        </m:den>
                      </m:f>
                      <m:sSub>
                        <m:sSubPr>
                          <m:ctrlPr>
                            <a:rPr lang="ar-AE" i="1">
                              <a:latin typeface="Cambria Math" panose="02040503050406030204" pitchFamily="18" charset="0"/>
                            </a:rPr>
                          </m:ctrlPr>
                        </m:sSubPr>
                        <m:e>
                          <m:r>
                            <a:rPr lang="en-US" b="0" i="1" smtClean="0">
                              <a:latin typeface="Cambria Math" panose="02040503050406030204" pitchFamily="18" charset="0"/>
                            </a:rPr>
                            <m:t>𝑙𝑜𝑔</m:t>
                          </m:r>
                        </m:e>
                        <m:sub>
                          <m:r>
                            <a:rPr lang="ar-AE" i="0">
                              <a:latin typeface="Cambria Math" panose="02040503050406030204" pitchFamily="18" charset="0"/>
                            </a:rPr>
                            <m:t>2</m:t>
                          </m:r>
                        </m:sub>
                      </m:sSub>
                      <m:f>
                        <m:fPr>
                          <m:ctrlPr>
                            <a:rPr lang="ar-AE" i="1">
                              <a:latin typeface="Cambria Math" panose="02040503050406030204" pitchFamily="18" charset="0"/>
                            </a:rPr>
                          </m:ctrlPr>
                        </m:fPr>
                        <m:num>
                          <m:r>
                            <a:rPr lang="ar-AE" i="0">
                              <a:latin typeface="Cambria Math" panose="02040503050406030204" pitchFamily="18" charset="0"/>
                            </a:rPr>
                            <m:t>3</m:t>
                          </m:r>
                        </m:num>
                        <m:den>
                          <m:r>
                            <a:rPr lang="ar-AE" i="0">
                              <a:latin typeface="Cambria Math" panose="02040503050406030204" pitchFamily="18" charset="0"/>
                            </a:rPr>
                            <m:t>5</m:t>
                          </m:r>
                        </m:den>
                      </m:f>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2</m:t>
                          </m:r>
                        </m:num>
                        <m:den>
                          <m:r>
                            <a:rPr lang="ar-AE" i="0">
                              <a:latin typeface="Cambria Math" panose="02040503050406030204" pitchFamily="18" charset="0"/>
                            </a:rPr>
                            <m:t>5</m:t>
                          </m:r>
                        </m:den>
                      </m:f>
                      <m:sSub>
                        <m:sSubPr>
                          <m:ctrlPr>
                            <a:rPr lang="ar-AE" i="1">
                              <a:latin typeface="Cambria Math" panose="02040503050406030204" pitchFamily="18" charset="0"/>
                            </a:rPr>
                          </m:ctrlPr>
                        </m:sSubPr>
                        <m:e>
                          <m:r>
                            <a:rPr lang="en-US" b="0" i="1" smtClean="0">
                              <a:latin typeface="Cambria Math" panose="02040503050406030204" pitchFamily="18" charset="0"/>
                            </a:rPr>
                            <m:t>𝑙𝑜𝑔</m:t>
                          </m:r>
                        </m:e>
                        <m:sub>
                          <m:r>
                            <a:rPr lang="ar-AE" i="0">
                              <a:latin typeface="Cambria Math" panose="02040503050406030204" pitchFamily="18" charset="0"/>
                            </a:rPr>
                            <m:t>2</m:t>
                          </m:r>
                        </m:sub>
                      </m:sSub>
                      <m:f>
                        <m:fPr>
                          <m:ctrlPr>
                            <a:rPr lang="ar-AE" i="1">
                              <a:latin typeface="Cambria Math" panose="02040503050406030204" pitchFamily="18" charset="0"/>
                            </a:rPr>
                          </m:ctrlPr>
                        </m:fPr>
                        <m:num>
                          <m:r>
                            <a:rPr lang="ar-AE" i="0">
                              <a:latin typeface="Cambria Math" panose="02040503050406030204" pitchFamily="18" charset="0"/>
                            </a:rPr>
                            <m:t>2</m:t>
                          </m:r>
                        </m:num>
                        <m:den>
                          <m:r>
                            <a:rPr lang="ar-AE" i="0">
                              <a:latin typeface="Cambria Math" panose="02040503050406030204" pitchFamily="18" charset="0"/>
                            </a:rPr>
                            <m:t>5</m:t>
                          </m:r>
                        </m:den>
                      </m:f>
                      <m:r>
                        <a:rPr lang="ar-AE" i="0">
                          <a:latin typeface="Cambria Math" panose="02040503050406030204" pitchFamily="18" charset="0"/>
                        </a:rPr>
                        <m:t>)=−</m:t>
                      </m:r>
                      <m:d>
                        <m:dPr>
                          <m:begChr m:val="["/>
                          <m:endChr m:val="]"/>
                          <m:ctrlPr>
                            <a:rPr lang="ar-AE" i="1">
                              <a:latin typeface="Cambria Math" panose="02040503050406030204" pitchFamily="18" charset="0"/>
                            </a:rPr>
                          </m:ctrlPr>
                        </m:dPr>
                        <m:e>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6</m:t>
                          </m:r>
                          <m:d>
                            <m:dPr>
                              <m:ctrlPr>
                                <a:rPr lang="ar-AE" i="1">
                                  <a:latin typeface="Cambria Math" panose="02040503050406030204" pitchFamily="18" charset="0"/>
                                </a:rPr>
                              </m:ctrlPr>
                            </m:dPr>
                            <m:e>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737</m:t>
                              </m:r>
                            </m:e>
                          </m:d>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4</m:t>
                          </m:r>
                          <m:d>
                            <m:dPr>
                              <m:ctrlPr>
                                <a:rPr lang="ar-AE" i="1">
                                  <a:latin typeface="Cambria Math" panose="02040503050406030204" pitchFamily="18" charset="0"/>
                                </a:rPr>
                              </m:ctrlPr>
                            </m:dPr>
                            <m:e>
                              <m:r>
                                <a:rPr lang="ar-AE" i="0">
                                  <a:latin typeface="Cambria Math" panose="02040503050406030204" pitchFamily="18" charset="0"/>
                                </a:rPr>
                                <m:t>−</m:t>
                              </m:r>
                              <m:r>
                                <a:rPr lang="ar-AE" i="0">
                                  <a:latin typeface="Cambria Math" panose="02040503050406030204" pitchFamily="18" charset="0"/>
                                </a:rPr>
                                <m:t>1</m:t>
                              </m:r>
                              <m:r>
                                <a:rPr lang="ar-AE" i="0">
                                  <a:latin typeface="Cambria Math" panose="02040503050406030204" pitchFamily="18" charset="0"/>
                                </a:rPr>
                                <m:t>.</m:t>
                              </m:r>
                              <m:r>
                                <a:rPr lang="ar-AE" i="0">
                                  <a:latin typeface="Cambria Math" panose="02040503050406030204" pitchFamily="18" charset="0"/>
                                </a:rPr>
                                <m:t>322</m:t>
                              </m:r>
                            </m:e>
                          </m:d>
                        </m:e>
                      </m:d>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971</m:t>
                      </m:r>
                    </m:oMath>
                  </m:oMathPara>
                </a14:m>
                <a:endParaRPr lang="ar-AE" dirty="0"/>
              </a:p>
            </p:txBody>
          </p:sp>
        </mc:Choice>
        <mc:Fallback>
          <p:sp>
            <p:nvSpPr>
              <p:cNvPr id="11" name="TextBox 10">
                <a:extLst>
                  <a:ext uri="{FF2B5EF4-FFF2-40B4-BE49-F238E27FC236}">
                    <a16:creationId xmlns:a16="http://schemas.microsoft.com/office/drawing/2014/main" id="{1D26D218-A05C-1579-2F4F-717805A151A2}"/>
                  </a:ext>
                </a:extLst>
              </p:cNvPr>
              <p:cNvSpPr txBox="1">
                <a:spLocks noRot="1" noChangeAspect="1" noMove="1" noResize="1" noEditPoints="1" noAdjustHandles="1" noChangeArrowheads="1" noChangeShapeType="1" noTextEdit="1"/>
              </p:cNvSpPr>
              <p:nvPr/>
            </p:nvSpPr>
            <p:spPr>
              <a:xfrm>
                <a:off x="805543" y="4581874"/>
                <a:ext cx="6923314" cy="1166794"/>
              </a:xfrm>
              <a:prstGeom prst="rect">
                <a:avLst/>
              </a:prstGeom>
              <a:blipFill>
                <a:blip r:embed="rId2"/>
                <a:stretch>
                  <a:fillRect l="-704" t="-3141"/>
                </a:stretch>
              </a:blipFill>
            </p:spPr>
            <p:txBody>
              <a:bodyPr/>
              <a:lstStyle/>
              <a:p>
                <a:r>
                  <a:rPr lang="en-US">
                    <a:noFill/>
                  </a:rPr>
                  <a:t> </a:t>
                </a:r>
              </a:p>
            </p:txBody>
          </p:sp>
        </mc:Fallback>
      </mc:AlternateContent>
    </p:spTree>
    <p:extLst>
      <p:ext uri="{BB962C8B-B14F-4D97-AF65-F5344CB8AC3E}">
        <p14:creationId xmlns:p14="http://schemas.microsoft.com/office/powerpoint/2010/main" val="4041134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09BC0-FB65-9FE9-530C-9C80D27BADC2}"/>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5C415949-DA35-981E-824A-610BC6E05105}"/>
              </a:ext>
            </a:extLst>
          </p:cNvPr>
          <p:cNvGraphicFramePr>
            <a:graphicFrameLocks noGrp="1"/>
          </p:cNvGraphicFramePr>
          <p:nvPr>
            <p:ph idx="1"/>
            <p:extLst>
              <p:ext uri="{D42A27DB-BD31-4B8C-83A1-F6EECF244321}">
                <p14:modId xmlns:p14="http://schemas.microsoft.com/office/powerpoint/2010/main" val="2036279538"/>
              </p:ext>
            </p:extLst>
          </p:nvPr>
        </p:nvGraphicFramePr>
        <p:xfrm>
          <a:off x="457200" y="1672976"/>
          <a:ext cx="8229600" cy="1463040"/>
        </p:xfrm>
        <a:graphic>
          <a:graphicData uri="http://schemas.openxmlformats.org/drawingml/2006/table">
            <a:tbl>
              <a:tblPr/>
              <a:tblGrid>
                <a:gridCol w="2743200">
                  <a:extLst>
                    <a:ext uri="{9D8B030D-6E8A-4147-A177-3AD203B41FA5}">
                      <a16:colId xmlns:a16="http://schemas.microsoft.com/office/drawing/2014/main" val="1046566206"/>
                    </a:ext>
                  </a:extLst>
                </a:gridCol>
                <a:gridCol w="2743200">
                  <a:extLst>
                    <a:ext uri="{9D8B030D-6E8A-4147-A177-3AD203B41FA5}">
                      <a16:colId xmlns:a16="http://schemas.microsoft.com/office/drawing/2014/main" val="1525311673"/>
                    </a:ext>
                  </a:extLst>
                </a:gridCol>
                <a:gridCol w="2743200">
                  <a:extLst>
                    <a:ext uri="{9D8B030D-6E8A-4147-A177-3AD203B41FA5}">
                      <a16:colId xmlns:a16="http://schemas.microsoft.com/office/drawing/2014/main" val="480459401"/>
                    </a:ext>
                  </a:extLst>
                </a:gridCol>
              </a:tblGrid>
              <a:tr h="0">
                <a:tc>
                  <a:txBody>
                    <a:bodyPr/>
                    <a:lstStyle/>
                    <a:p>
                      <a:pPr>
                        <a:buNone/>
                      </a:pPr>
                      <a:r>
                        <a:rPr lang="en-US"/>
                        <a:t>Outlook</a:t>
                      </a:r>
                    </a:p>
                  </a:txBody>
                  <a:tcPr anchor="ctr">
                    <a:lnL>
                      <a:noFill/>
                    </a:lnL>
                    <a:lnR>
                      <a:noFill/>
                    </a:lnR>
                    <a:lnT>
                      <a:noFill/>
                    </a:lnT>
                    <a:lnB>
                      <a:noFill/>
                    </a:lnB>
                    <a:noFill/>
                  </a:tcPr>
                </a:tc>
                <a:tc>
                  <a:txBody>
                    <a:bodyPr/>
                    <a:lstStyle/>
                    <a:p>
                      <a:pPr>
                        <a:buNone/>
                      </a:pPr>
                      <a:r>
                        <a:rPr lang="en-US"/>
                        <a:t>Counts (Yes, No)</a:t>
                      </a:r>
                    </a:p>
                  </a:txBody>
                  <a:tcPr anchor="ctr">
                    <a:lnL>
                      <a:noFill/>
                    </a:lnL>
                    <a:lnR>
                      <a:noFill/>
                    </a:lnR>
                    <a:lnT>
                      <a:noFill/>
                    </a:lnT>
                    <a:lnB>
                      <a:noFill/>
                    </a:lnB>
                    <a:noFill/>
                  </a:tcPr>
                </a:tc>
                <a:tc>
                  <a:txBody>
                    <a:bodyPr/>
                    <a:lstStyle/>
                    <a:p>
                      <a:pPr>
                        <a:buNone/>
                      </a:pPr>
                      <a:r>
                        <a:rPr lang="en-US"/>
                        <a:t>Entropy</a:t>
                      </a:r>
                    </a:p>
                  </a:txBody>
                  <a:tcPr anchor="ctr">
                    <a:lnL>
                      <a:noFill/>
                    </a:lnL>
                    <a:lnR>
                      <a:noFill/>
                    </a:lnR>
                    <a:lnT>
                      <a:noFill/>
                    </a:lnT>
                    <a:lnB>
                      <a:noFill/>
                    </a:lnB>
                    <a:noFill/>
                  </a:tcPr>
                </a:tc>
                <a:extLst>
                  <a:ext uri="{0D108BD9-81ED-4DB2-BD59-A6C34878D82A}">
                    <a16:rowId xmlns:a16="http://schemas.microsoft.com/office/drawing/2014/main" val="4169068522"/>
                  </a:ext>
                </a:extLst>
              </a:tr>
              <a:tr h="0">
                <a:tc>
                  <a:txBody>
                    <a:bodyPr/>
                    <a:lstStyle/>
                    <a:p>
                      <a:pPr>
                        <a:buNone/>
                      </a:pPr>
                      <a:r>
                        <a:rPr lang="en-US"/>
                        <a:t>Sunny</a:t>
                      </a:r>
                    </a:p>
                  </a:txBody>
                  <a:tcPr anchor="ctr">
                    <a:lnL>
                      <a:noFill/>
                    </a:lnL>
                    <a:lnR>
                      <a:noFill/>
                    </a:lnR>
                    <a:lnT>
                      <a:noFill/>
                    </a:lnT>
                    <a:lnB>
                      <a:noFill/>
                    </a:lnB>
                    <a:noFill/>
                  </a:tcPr>
                </a:tc>
                <a:tc>
                  <a:txBody>
                    <a:bodyPr/>
                    <a:lstStyle/>
                    <a:p>
                      <a:pPr>
                        <a:buNone/>
                      </a:pPr>
                      <a:r>
                        <a:rPr lang="en-US"/>
                        <a:t>(0 Yes, 2 No)</a:t>
                      </a:r>
                    </a:p>
                  </a:txBody>
                  <a:tcPr anchor="ctr">
                    <a:lnL>
                      <a:noFill/>
                    </a:lnL>
                    <a:lnR>
                      <a:noFill/>
                    </a:lnR>
                    <a:lnT>
                      <a:noFill/>
                    </a:lnT>
                    <a:lnB>
                      <a:noFill/>
                    </a:lnB>
                    <a:noFill/>
                  </a:tcPr>
                </a:tc>
                <a:tc>
                  <a:txBody>
                    <a:bodyPr/>
                    <a:lstStyle/>
                    <a:p>
                      <a:pPr>
                        <a:buNone/>
                      </a:pPr>
                      <a:r>
                        <a:rPr lang="en-US"/>
                        <a:t>0.0 (pure)</a:t>
                      </a:r>
                    </a:p>
                  </a:txBody>
                  <a:tcPr anchor="ctr">
                    <a:lnL>
                      <a:noFill/>
                    </a:lnL>
                    <a:lnR>
                      <a:noFill/>
                    </a:lnR>
                    <a:lnT>
                      <a:noFill/>
                    </a:lnT>
                    <a:lnB>
                      <a:noFill/>
                    </a:lnB>
                    <a:noFill/>
                  </a:tcPr>
                </a:tc>
                <a:extLst>
                  <a:ext uri="{0D108BD9-81ED-4DB2-BD59-A6C34878D82A}">
                    <a16:rowId xmlns:a16="http://schemas.microsoft.com/office/drawing/2014/main" val="463652739"/>
                  </a:ext>
                </a:extLst>
              </a:tr>
              <a:tr h="0">
                <a:tc>
                  <a:txBody>
                    <a:bodyPr/>
                    <a:lstStyle/>
                    <a:p>
                      <a:pPr>
                        <a:buNone/>
                      </a:pPr>
                      <a:r>
                        <a:rPr lang="en-US"/>
                        <a:t>Overcast</a:t>
                      </a:r>
                    </a:p>
                  </a:txBody>
                  <a:tcPr anchor="ctr">
                    <a:lnL>
                      <a:noFill/>
                    </a:lnL>
                    <a:lnR>
                      <a:noFill/>
                    </a:lnR>
                    <a:lnT>
                      <a:noFill/>
                    </a:lnT>
                    <a:lnB>
                      <a:noFill/>
                    </a:lnB>
                    <a:noFill/>
                  </a:tcPr>
                </a:tc>
                <a:tc>
                  <a:txBody>
                    <a:bodyPr/>
                    <a:lstStyle/>
                    <a:p>
                      <a:pPr>
                        <a:buNone/>
                      </a:pPr>
                      <a:r>
                        <a:rPr lang="en-US"/>
                        <a:t>(1 Yes, 0 No)</a:t>
                      </a:r>
                    </a:p>
                  </a:txBody>
                  <a:tcPr anchor="ctr">
                    <a:lnL>
                      <a:noFill/>
                    </a:lnL>
                    <a:lnR>
                      <a:noFill/>
                    </a:lnR>
                    <a:lnT>
                      <a:noFill/>
                    </a:lnT>
                    <a:lnB>
                      <a:noFill/>
                    </a:lnB>
                    <a:noFill/>
                  </a:tcPr>
                </a:tc>
                <a:tc>
                  <a:txBody>
                    <a:bodyPr/>
                    <a:lstStyle/>
                    <a:p>
                      <a:pPr>
                        <a:buNone/>
                      </a:pPr>
                      <a:r>
                        <a:rPr lang="en-US"/>
                        <a:t>0.0 (pure)</a:t>
                      </a:r>
                    </a:p>
                  </a:txBody>
                  <a:tcPr anchor="ctr">
                    <a:lnL>
                      <a:noFill/>
                    </a:lnL>
                    <a:lnR>
                      <a:noFill/>
                    </a:lnR>
                    <a:lnT>
                      <a:noFill/>
                    </a:lnT>
                    <a:lnB>
                      <a:noFill/>
                    </a:lnB>
                    <a:noFill/>
                  </a:tcPr>
                </a:tc>
                <a:extLst>
                  <a:ext uri="{0D108BD9-81ED-4DB2-BD59-A6C34878D82A}">
                    <a16:rowId xmlns:a16="http://schemas.microsoft.com/office/drawing/2014/main" val="1274704618"/>
                  </a:ext>
                </a:extLst>
              </a:tr>
              <a:tr h="0">
                <a:tc>
                  <a:txBody>
                    <a:bodyPr/>
                    <a:lstStyle/>
                    <a:p>
                      <a:pPr>
                        <a:buNone/>
                      </a:pPr>
                      <a:r>
                        <a:rPr lang="en-US"/>
                        <a:t>Rain</a:t>
                      </a:r>
                    </a:p>
                  </a:txBody>
                  <a:tcPr anchor="ctr">
                    <a:lnL>
                      <a:noFill/>
                    </a:lnL>
                    <a:lnR>
                      <a:noFill/>
                    </a:lnR>
                    <a:lnT>
                      <a:noFill/>
                    </a:lnT>
                    <a:lnB>
                      <a:noFill/>
                    </a:lnB>
                    <a:noFill/>
                  </a:tcPr>
                </a:tc>
                <a:tc>
                  <a:txBody>
                    <a:bodyPr/>
                    <a:lstStyle/>
                    <a:p>
                      <a:pPr>
                        <a:buNone/>
                      </a:pPr>
                      <a:r>
                        <a:rPr lang="en-US"/>
                        <a:t>(1 Yes, 1 No)</a:t>
                      </a:r>
                    </a:p>
                  </a:txBody>
                  <a:tcPr anchor="ctr">
                    <a:lnL>
                      <a:noFill/>
                    </a:lnL>
                    <a:lnR>
                      <a:noFill/>
                    </a:lnR>
                    <a:lnT>
                      <a:noFill/>
                    </a:lnT>
                    <a:lnB>
                      <a:noFill/>
                    </a:lnB>
                    <a:noFill/>
                  </a:tcPr>
                </a:tc>
                <a:tc>
                  <a:txBody>
                    <a:bodyPr/>
                    <a:lstStyle/>
                    <a:p>
                      <a:pPr>
                        <a:buNone/>
                      </a:pPr>
                      <a:r>
                        <a:rPr lang="en-US" dirty="0"/>
                        <a:t>1.0</a:t>
                      </a:r>
                    </a:p>
                  </a:txBody>
                  <a:tcPr anchor="ctr">
                    <a:lnL>
                      <a:noFill/>
                    </a:lnL>
                    <a:lnR>
                      <a:noFill/>
                    </a:lnR>
                    <a:lnT>
                      <a:noFill/>
                    </a:lnT>
                    <a:lnB>
                      <a:noFill/>
                    </a:lnB>
                    <a:noFill/>
                  </a:tcPr>
                </a:tc>
                <a:extLst>
                  <a:ext uri="{0D108BD9-81ED-4DB2-BD59-A6C34878D82A}">
                    <a16:rowId xmlns:a16="http://schemas.microsoft.com/office/drawing/2014/main" val="2140734022"/>
                  </a:ext>
                </a:extLst>
              </a:tr>
            </a:tbl>
          </a:graphicData>
        </a:graphic>
      </p:graphicFrame>
      <p:sp>
        <p:nvSpPr>
          <p:cNvPr id="5" name="Rectangle 1">
            <a:extLst>
              <a:ext uri="{FF2B5EF4-FFF2-40B4-BE49-F238E27FC236}">
                <a16:creationId xmlns:a16="http://schemas.microsoft.com/office/drawing/2014/main" id="{1D0B6107-FF03-C9F2-F726-A2A7BD99B21B}"/>
              </a:ext>
            </a:extLst>
          </p:cNvPr>
          <p:cNvSpPr>
            <a:spLocks noChangeArrowheads="1"/>
          </p:cNvSpPr>
          <p:nvPr/>
        </p:nvSpPr>
        <p:spPr bwMode="auto">
          <a:xfrm>
            <a:off x="0" y="-145868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 b="1" i="0" u="none" strike="noStrike" cap="none" normalizeH="0" baseline="0">
                <a:ln>
                  <a:noFill/>
                </a:ln>
                <a:solidFill>
                  <a:schemeClr val="tx1"/>
                </a:solidFill>
                <a:effectLst/>
                <a:latin typeface="Arial" panose="020B0604020202020204" pitchFamily="34" charset="0"/>
              </a:rPr>
              <a:t>Split on “Outlook” → Children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E7C876B9-EAA3-E7DF-6E77-707E39D18A5E}"/>
                  </a:ext>
                </a:extLst>
              </p:cNvPr>
              <p:cNvSpPr txBox="1"/>
              <p:nvPr/>
            </p:nvSpPr>
            <p:spPr>
              <a:xfrm>
                <a:off x="517072" y="3826328"/>
                <a:ext cx="7990114" cy="2296206"/>
              </a:xfrm>
              <a:prstGeom prst="rect">
                <a:avLst/>
              </a:prstGeom>
              <a:noFill/>
            </p:spPr>
            <p:txBody>
              <a:bodyPr wrap="square">
                <a:spAutoFit/>
              </a:bodyPr>
              <a:lstStyle/>
              <a:p>
                <a:pPr>
                  <a:buNone/>
                </a:pPr>
                <a:r>
                  <a:rPr lang="en-US" b="1" dirty="0"/>
                  <a:t>Weighted Average Entropy after Split</a:t>
                </a: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i="1">
                              <a:latin typeface="Cambria Math" panose="02040503050406030204" pitchFamily="18" charset="0"/>
                            </a:rPr>
                            <m:t>𝑠𝑝𝑙𝑖𝑡</m:t>
                          </m:r>
                        </m:sub>
                      </m:sSub>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2</m:t>
                          </m:r>
                        </m:num>
                        <m:den>
                          <m:r>
                            <a:rPr lang="ar-AE" i="0">
                              <a:latin typeface="Cambria Math" panose="02040503050406030204" pitchFamily="18" charset="0"/>
                            </a:rPr>
                            <m:t>5</m:t>
                          </m:r>
                        </m:den>
                      </m:f>
                      <m:d>
                        <m:dPr>
                          <m:ctrlPr>
                            <a:rPr lang="ar-AE" i="1">
                              <a:latin typeface="Cambria Math" panose="02040503050406030204" pitchFamily="18" charset="0"/>
                            </a:rPr>
                          </m:ctrlPr>
                        </m:dPr>
                        <m:e>
                          <m:r>
                            <a:rPr lang="ar-AE" i="0">
                              <a:latin typeface="Cambria Math" panose="02040503050406030204" pitchFamily="18" charset="0"/>
                            </a:rPr>
                            <m:t>0</m:t>
                          </m:r>
                        </m:e>
                      </m:d>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1</m:t>
                          </m:r>
                        </m:num>
                        <m:den>
                          <m:r>
                            <a:rPr lang="ar-AE" i="0">
                              <a:latin typeface="Cambria Math" panose="02040503050406030204" pitchFamily="18" charset="0"/>
                            </a:rPr>
                            <m:t>5</m:t>
                          </m:r>
                        </m:den>
                      </m:f>
                      <m:d>
                        <m:dPr>
                          <m:ctrlPr>
                            <a:rPr lang="ar-AE" i="1">
                              <a:latin typeface="Cambria Math" panose="02040503050406030204" pitchFamily="18" charset="0"/>
                            </a:rPr>
                          </m:ctrlPr>
                        </m:dPr>
                        <m:e>
                          <m:r>
                            <a:rPr lang="ar-AE" i="0">
                              <a:latin typeface="Cambria Math" panose="02040503050406030204" pitchFamily="18" charset="0"/>
                            </a:rPr>
                            <m:t>0</m:t>
                          </m:r>
                        </m:e>
                      </m:d>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2</m:t>
                          </m:r>
                        </m:num>
                        <m:den>
                          <m:r>
                            <a:rPr lang="ar-AE" i="0">
                              <a:latin typeface="Cambria Math" panose="02040503050406030204" pitchFamily="18" charset="0"/>
                            </a:rPr>
                            <m:t>5</m:t>
                          </m:r>
                        </m:den>
                      </m:f>
                      <m:d>
                        <m:dPr>
                          <m:ctrlPr>
                            <a:rPr lang="ar-AE" i="1">
                              <a:latin typeface="Cambria Math" panose="02040503050406030204" pitchFamily="18" charset="0"/>
                            </a:rPr>
                          </m:ctrlPr>
                        </m:dPr>
                        <m:e>
                          <m:r>
                            <a:rPr lang="ar-AE" i="0">
                              <a:latin typeface="Cambria Math" panose="02040503050406030204" pitchFamily="18" charset="0"/>
                            </a:rPr>
                            <m:t>1</m:t>
                          </m:r>
                          <m:r>
                            <a:rPr lang="ar-AE" i="0">
                              <a:latin typeface="Cambria Math" panose="02040503050406030204" pitchFamily="18" charset="0"/>
                            </a:rPr>
                            <m:t>.</m:t>
                          </m:r>
                          <m:r>
                            <a:rPr lang="ar-AE" i="0">
                              <a:latin typeface="Cambria Math" panose="02040503050406030204" pitchFamily="18" charset="0"/>
                            </a:rPr>
                            <m:t>0</m:t>
                          </m:r>
                        </m:e>
                      </m:d>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4</m:t>
                      </m:r>
                    </m:oMath>
                  </m:oMathPara>
                </a14:m>
                <a:endParaRPr lang="ar-AE" dirty="0"/>
              </a:p>
              <a:p>
                <a:pPr>
                  <a:buNone/>
                </a:pPr>
                <a:r>
                  <a:rPr lang="en-US" b="1" dirty="0"/>
                  <a:t>Information Gain</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𝐼𝐺</m:t>
                      </m:r>
                      <m:r>
                        <a:rPr lang="en-US" i="0">
                          <a:latin typeface="Cambria Math" panose="02040503050406030204" pitchFamily="18" charset="0"/>
                        </a:rPr>
                        <m:t>=</m:t>
                      </m:r>
                      <m:r>
                        <a:rPr lang="en-US" i="1">
                          <a:latin typeface="Cambria Math" panose="02040503050406030204" pitchFamily="18" charset="0"/>
                        </a:rPr>
                        <m:t>𝐻</m:t>
                      </m:r>
                      <m:d>
                        <m:dPr>
                          <m:ctrlPr>
                            <a:rPr lang="ar-AE" i="1">
                              <a:latin typeface="Cambria Math" panose="02040503050406030204" pitchFamily="18" charset="0"/>
                            </a:rPr>
                          </m:ctrlPr>
                        </m:dPr>
                        <m:e>
                          <m:r>
                            <a:rPr lang="ar-AE" i="1">
                              <a:latin typeface="Cambria Math" panose="02040503050406030204" pitchFamily="18" charset="0"/>
                            </a:rPr>
                            <m:t>𝑝𝑎𝑟𝑒𝑛𝑡</m:t>
                          </m:r>
                        </m:e>
                      </m:d>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i="1">
                              <a:latin typeface="Cambria Math" panose="02040503050406030204" pitchFamily="18" charset="0"/>
                            </a:rPr>
                            <m:t>𝑠𝑝𝑙𝑖𝑡</m:t>
                          </m:r>
                        </m:sub>
                      </m:sSub>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971</m:t>
                      </m:r>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4</m:t>
                      </m:r>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571</m:t>
                      </m:r>
                    </m:oMath>
                  </m:oMathPara>
                </a14:m>
                <a:endParaRPr lang="ar-AE" dirty="0"/>
              </a:p>
              <a:p>
                <a:pPr>
                  <a:buNone/>
                </a:pPr>
                <a:r>
                  <a:rPr lang="en-US" b="1" dirty="0"/>
                  <a:t>Interpretation:</a:t>
                </a:r>
                <a:br>
                  <a:rPr lang="en-US" dirty="0"/>
                </a:br>
                <a:r>
                  <a:rPr lang="en-US" dirty="0"/>
                  <a:t>Splitting on </a:t>
                </a:r>
                <a:r>
                  <a:rPr lang="en-US" i="1" dirty="0"/>
                  <a:t>Outlook</a:t>
                </a:r>
                <a:r>
                  <a:rPr lang="en-US" dirty="0"/>
                  <a:t> reduces entropy by 0.571 bits hence it is a fairly informative feature</a:t>
                </a:r>
              </a:p>
            </p:txBody>
          </p:sp>
        </mc:Choice>
        <mc:Fallback>
          <p:sp>
            <p:nvSpPr>
              <p:cNvPr id="7" name="TextBox 6">
                <a:extLst>
                  <a:ext uri="{FF2B5EF4-FFF2-40B4-BE49-F238E27FC236}">
                    <a16:creationId xmlns:a16="http://schemas.microsoft.com/office/drawing/2014/main" id="{E7C876B9-EAA3-E7DF-6E77-707E39D18A5E}"/>
                  </a:ext>
                </a:extLst>
              </p:cNvPr>
              <p:cNvSpPr txBox="1">
                <a:spLocks noRot="1" noChangeAspect="1" noMove="1" noResize="1" noEditPoints="1" noAdjustHandles="1" noChangeArrowheads="1" noChangeShapeType="1" noTextEdit="1"/>
              </p:cNvSpPr>
              <p:nvPr/>
            </p:nvSpPr>
            <p:spPr>
              <a:xfrm>
                <a:off x="517072" y="3826328"/>
                <a:ext cx="7990114" cy="2296206"/>
              </a:xfrm>
              <a:prstGeom prst="rect">
                <a:avLst/>
              </a:prstGeom>
              <a:blipFill>
                <a:blip r:embed="rId2"/>
                <a:stretch>
                  <a:fillRect l="-686" t="-1596" b="-3457"/>
                </a:stretch>
              </a:blipFill>
            </p:spPr>
            <p:txBody>
              <a:bodyPr/>
              <a:lstStyle/>
              <a:p>
                <a:r>
                  <a:rPr lang="en-US">
                    <a:noFill/>
                  </a:rPr>
                  <a:t> </a:t>
                </a:r>
              </a:p>
            </p:txBody>
          </p:sp>
        </mc:Fallback>
      </mc:AlternateContent>
    </p:spTree>
    <p:extLst>
      <p:ext uri="{BB962C8B-B14F-4D97-AF65-F5344CB8AC3E}">
        <p14:creationId xmlns:p14="http://schemas.microsoft.com/office/powerpoint/2010/main" val="2462722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68B7C-6AC8-7F29-9C14-793AD7ECB104}"/>
              </a:ext>
            </a:extLst>
          </p:cNvPr>
          <p:cNvSpPr>
            <a:spLocks noGrp="1"/>
          </p:cNvSpPr>
          <p:nvPr>
            <p:ph type="title"/>
          </p:nvPr>
        </p:nvSpPr>
        <p:spPr/>
        <p:txBody>
          <a:bodyPr>
            <a:normAutofit/>
          </a:bodyPr>
          <a:lstStyle/>
          <a:p>
            <a:r>
              <a:rPr lang="en-IN" dirty="0"/>
              <a:t>Gini Index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F4DFC65-ABD2-0FAD-A7BE-C82FFBE0F81B}"/>
                  </a:ext>
                </a:extLst>
              </p:cNvPr>
              <p:cNvSpPr>
                <a:spLocks noGrp="1"/>
              </p:cNvSpPr>
              <p:nvPr>
                <p:ph idx="1"/>
              </p:nvPr>
            </p:nvSpPr>
            <p:spPr>
              <a:xfrm>
                <a:off x="277091" y="1283856"/>
                <a:ext cx="8793018" cy="5366326"/>
              </a:xfrm>
            </p:spPr>
            <p:txBody>
              <a:bodyPr>
                <a:normAutofit lnSpcReduction="10000"/>
              </a:bodyPr>
              <a:lstStyle/>
              <a:p>
                <a:r>
                  <a:rPr lang="en-IN" dirty="0"/>
                  <a:t> Formula:</a:t>
                </a:r>
              </a:p>
              <a:p>
                <a14:m>
                  <m:oMath xmlns:m="http://schemas.openxmlformats.org/officeDocument/2006/math">
                    <m:r>
                      <m:rPr>
                        <m:nor/>
                      </m:rPr>
                      <a:rPr lang="en-IN" b="0"/>
                      <m:t>Gini</m:t>
                    </m:r>
                    <m:r>
                      <a:rPr lang="en-IN">
                        <a:latin typeface="Cambria Math" panose="02040503050406030204" pitchFamily="18" charset="0"/>
                      </a:rPr>
                      <m:t>=</m:t>
                    </m:r>
                    <m:r>
                      <a:rPr lang="en-IN">
                        <a:latin typeface="Cambria Math" panose="02040503050406030204" pitchFamily="18" charset="0"/>
                      </a:rPr>
                      <m:t>1</m:t>
                    </m:r>
                    <m:r>
                      <a:rPr lang="en-IN">
                        <a:latin typeface="Cambria Math" panose="02040503050406030204" pitchFamily="18" charset="0"/>
                      </a:rPr>
                      <m:t>−</m:t>
                    </m:r>
                    <m:nary>
                      <m:naryPr>
                        <m:chr m:val="∑"/>
                        <m:grow m:val="on"/>
                        <m:ctrlPr>
                          <a:rPr lang="ar-AE" i="1">
                            <a:latin typeface="Cambria Math" panose="02040503050406030204" pitchFamily="18" charset="0"/>
                          </a:rPr>
                        </m:ctrlPr>
                      </m:naryPr>
                      <m:sub>
                        <m:r>
                          <a:rPr lang="ar-AE" i="1">
                            <a:latin typeface="Cambria Math" panose="02040503050406030204" pitchFamily="18" charset="0"/>
                          </a:rPr>
                          <m:t>𝑖</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𝑛</m:t>
                        </m:r>
                      </m:sup>
                      <m:e>
                        <m:sSubSup>
                          <m:sSubSupPr>
                            <m:ctrlPr>
                              <a:rPr lang="ar-AE" i="1">
                                <a:latin typeface="Cambria Math" panose="02040503050406030204" pitchFamily="18" charset="0"/>
                              </a:rPr>
                            </m:ctrlPr>
                          </m:sSubSupPr>
                          <m:e>
                            <m:r>
                              <a:rPr lang="ar-AE" i="1">
                                <a:latin typeface="Cambria Math" panose="02040503050406030204" pitchFamily="18" charset="0"/>
                              </a:rPr>
                              <m:t>𝑝</m:t>
                            </m:r>
                          </m:e>
                          <m:sub>
                            <m:r>
                              <a:rPr lang="ar-AE" i="1">
                                <a:latin typeface="Cambria Math" panose="02040503050406030204" pitchFamily="18" charset="0"/>
                              </a:rPr>
                              <m:t>𝑖</m:t>
                            </m:r>
                          </m:sub>
                          <m:sup>
                            <m:r>
                              <a:rPr lang="ar-AE">
                                <a:latin typeface="Cambria Math" panose="02040503050406030204" pitchFamily="18" charset="0"/>
                              </a:rPr>
                              <m:t>2</m:t>
                            </m:r>
                          </m:sup>
                        </m:sSubSup>
                      </m:e>
                    </m:nary>
                  </m:oMath>
                </a14:m>
                <a:endParaRPr lang="ar-AE" b="0" dirty="0"/>
              </a:p>
              <a:p>
                <a:r>
                  <a:rPr lang="en-IN" dirty="0"/>
                  <a:t>Lower Gini Index = purer split</a:t>
                </a:r>
              </a:p>
              <a:p>
                <a:r>
                  <a:rPr lang="en-IN" dirty="0"/>
                  <a:t>Fast to compute, sensitive to class probabilities</a:t>
                </a:r>
              </a:p>
              <a:p>
                <a:r>
                  <a:rPr lang="en-US" dirty="0"/>
                  <a:t>For example : If we have a group of people where all bought the product (100% "Yes") the Gini Index is 0 indicate perfect purity. </a:t>
                </a:r>
              </a:p>
              <a:p>
                <a:r>
                  <a:rPr lang="en-US" dirty="0"/>
                  <a:t>But if the group has an equal mix of "Yes" and "No" the Gini Index would be 0.5 show high impurity or uncertainty.</a:t>
                </a:r>
                <a:endParaRPr lang="en-IN" dirty="0"/>
              </a:p>
              <a:p>
                <a:endParaRPr lang="en-IN" dirty="0"/>
              </a:p>
            </p:txBody>
          </p:sp>
        </mc:Choice>
        <mc:Fallback>
          <p:sp>
            <p:nvSpPr>
              <p:cNvPr id="3" name="Content Placeholder 2">
                <a:extLst>
                  <a:ext uri="{FF2B5EF4-FFF2-40B4-BE49-F238E27FC236}">
                    <a16:creationId xmlns:a16="http://schemas.microsoft.com/office/drawing/2014/main" id="{4F4DFC65-ABD2-0FAD-A7BE-C82FFBE0F81B}"/>
                  </a:ext>
                </a:extLst>
              </p:cNvPr>
              <p:cNvSpPr>
                <a:spLocks noGrp="1" noRot="1" noChangeAspect="1" noMove="1" noResize="1" noEditPoints="1" noAdjustHandles="1" noChangeArrowheads="1" noChangeShapeType="1" noTextEdit="1"/>
              </p:cNvSpPr>
              <p:nvPr>
                <p:ph idx="1"/>
              </p:nvPr>
            </p:nvSpPr>
            <p:spPr>
              <a:xfrm>
                <a:off x="277091" y="1283856"/>
                <a:ext cx="8793018" cy="5366326"/>
              </a:xfrm>
              <a:blipFill>
                <a:blip r:embed="rId2"/>
                <a:stretch>
                  <a:fillRect l="-1594" t="-2386" r="-1455" b="-795"/>
                </a:stretch>
              </a:blipFill>
            </p:spPr>
            <p:txBody>
              <a:bodyPr/>
              <a:lstStyle/>
              <a:p>
                <a:r>
                  <a:rPr lang="en-US">
                    <a:noFill/>
                  </a:rPr>
                  <a:t> </a:t>
                </a:r>
              </a:p>
            </p:txBody>
          </p:sp>
        </mc:Fallback>
      </mc:AlternateContent>
    </p:spTree>
    <p:extLst>
      <p:ext uri="{BB962C8B-B14F-4D97-AF65-F5344CB8AC3E}">
        <p14:creationId xmlns:p14="http://schemas.microsoft.com/office/powerpoint/2010/main" val="3235771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E0FD0-377D-BA94-2294-16F70303EEDA}"/>
              </a:ext>
            </a:extLst>
          </p:cNvPr>
          <p:cNvSpPr>
            <a:spLocks noGrp="1"/>
          </p:cNvSpPr>
          <p:nvPr>
            <p:ph type="title"/>
          </p:nvPr>
        </p:nvSpPr>
        <p:spPr/>
        <p:txBody>
          <a:bodyPr/>
          <a:lstStyle/>
          <a:p>
            <a:r>
              <a:rPr lang="en-US" dirty="0"/>
              <a:t>Calculating Gini: Tennis 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0470F2D-70E7-579F-D43E-FE6F5EA28F72}"/>
                  </a:ext>
                </a:extLst>
              </p:cNvPr>
              <p:cNvSpPr>
                <a:spLocks noGrp="1"/>
              </p:cNvSpPr>
              <p:nvPr>
                <p:ph idx="1"/>
              </p:nvPr>
            </p:nvSpPr>
            <p:spPr/>
            <p:txBody>
              <a:bodyPr/>
              <a:lstStyle/>
              <a:p>
                <a:r>
                  <a:rPr lang="en-US" dirty="0"/>
                  <a:t>Gini of Parent</a:t>
                </a:r>
              </a:p>
              <a:p>
                <a:pPr marL="457200" lvl="1" indent="0">
                  <a:buNone/>
                </a:pPr>
                <a14:m>
                  <m:oMathPara xmlns:m="http://schemas.openxmlformats.org/officeDocument/2006/math">
                    <m:oMathParaPr>
                      <m:jc m:val="centerGroup"/>
                    </m:oMathParaPr>
                    <m:oMath xmlns:m="http://schemas.openxmlformats.org/officeDocument/2006/math">
                      <m:sSub>
                        <m:sSubPr>
                          <m:ctrlPr>
                            <a:rPr lang="ar-AE"/>
                          </m:ctrlPr>
                        </m:sSubPr>
                        <m:e>
                          <m:r>
                            <a:rPr lang="ar-AE" i="1"/>
                            <m:t>𝐺</m:t>
                          </m:r>
                        </m:e>
                        <m:sub>
                          <m:r>
                            <a:rPr lang="ar-AE" i="1"/>
                            <m:t>𝑝𝑎𝑟𝑒𝑛𝑡</m:t>
                          </m:r>
                        </m:sub>
                      </m:sSub>
                      <m:r>
                        <a:rPr lang="ar-AE"/>
                        <m:t>=</m:t>
                      </m:r>
                      <m:r>
                        <a:rPr lang="ar-AE"/>
                        <m:t>1</m:t>
                      </m:r>
                      <m:r>
                        <a:rPr lang="ar-AE"/>
                        <m:t>−</m:t>
                      </m:r>
                      <m:d>
                        <m:dPr>
                          <m:ctrlPr>
                            <a:rPr lang="ar-AE" i="1"/>
                          </m:ctrlPr>
                        </m:dPr>
                        <m:e>
                          <m:sSup>
                            <m:sSupPr>
                              <m:ctrlPr>
                                <a:rPr lang="ar-AE" i="1"/>
                              </m:ctrlPr>
                            </m:sSupPr>
                            <m:e>
                              <m:r>
                                <a:rPr lang="ar-AE"/>
                                <m:t>0</m:t>
                              </m:r>
                              <m:r>
                                <a:rPr lang="ar-AE"/>
                                <m:t>.</m:t>
                              </m:r>
                              <m:r>
                                <a:rPr lang="ar-AE"/>
                                <m:t>6</m:t>
                              </m:r>
                            </m:e>
                            <m:sup>
                              <m:r>
                                <a:rPr lang="ar-AE"/>
                                <m:t>2</m:t>
                              </m:r>
                            </m:sup>
                          </m:sSup>
                          <m:r>
                            <a:rPr lang="ar-AE"/>
                            <m:t>+</m:t>
                          </m:r>
                          <m:sSup>
                            <m:sSupPr>
                              <m:ctrlPr>
                                <a:rPr lang="ar-AE" i="1"/>
                              </m:ctrlPr>
                            </m:sSupPr>
                            <m:e>
                              <m:r>
                                <a:rPr lang="ar-AE"/>
                                <m:t>0</m:t>
                              </m:r>
                              <m:r>
                                <a:rPr lang="ar-AE"/>
                                <m:t>.</m:t>
                              </m:r>
                              <m:r>
                                <a:rPr lang="ar-AE"/>
                                <m:t>4</m:t>
                              </m:r>
                            </m:e>
                            <m:sup>
                              <m:r>
                                <a:rPr lang="ar-AE"/>
                                <m:t>2</m:t>
                              </m:r>
                            </m:sup>
                          </m:sSup>
                        </m:e>
                      </m:d>
                      <m:r>
                        <a:rPr lang="ar-AE"/>
                        <m:t>=</m:t>
                      </m:r>
                      <m:r>
                        <a:rPr lang="ar-AE"/>
                        <m:t>0</m:t>
                      </m:r>
                      <m:r>
                        <a:rPr lang="ar-AE"/>
                        <m:t>.</m:t>
                      </m:r>
                      <m:r>
                        <a:rPr lang="ar-AE"/>
                        <m:t>48</m:t>
                      </m:r>
                    </m:oMath>
                  </m:oMathPara>
                </a14:m>
                <a:endParaRPr lang="ar-AE" dirty="0"/>
              </a:p>
              <a:p>
                <a:r>
                  <a:rPr lang="en-US" dirty="0"/>
                  <a:t>Gini of children</a:t>
                </a:r>
              </a:p>
              <a:p>
                <a:endParaRPr lang="en-US" dirty="0"/>
              </a:p>
            </p:txBody>
          </p:sp>
        </mc:Choice>
        <mc:Fallback>
          <p:sp>
            <p:nvSpPr>
              <p:cNvPr id="3" name="Content Placeholder 2">
                <a:extLst>
                  <a:ext uri="{FF2B5EF4-FFF2-40B4-BE49-F238E27FC236}">
                    <a16:creationId xmlns:a16="http://schemas.microsoft.com/office/drawing/2014/main" id="{50470F2D-70E7-579F-D43E-FE6F5EA28F72}"/>
                  </a:ext>
                </a:extLst>
              </p:cNvPr>
              <p:cNvSpPr>
                <a:spLocks noGrp="1" noRot="1" noChangeAspect="1" noMove="1" noResize="1" noEditPoints="1" noAdjustHandles="1" noChangeArrowheads="1" noChangeShapeType="1" noTextEdit="1"/>
              </p:cNvSpPr>
              <p:nvPr>
                <p:ph idx="1"/>
              </p:nvPr>
            </p:nvSpPr>
            <p:spPr>
              <a:blipFill>
                <a:blip r:embed="rId2"/>
                <a:stretch>
                  <a:fillRect l="-1704" t="-1752"/>
                </a:stretch>
              </a:blipFill>
            </p:spPr>
            <p:txBody>
              <a:bodyPr/>
              <a:lstStyle/>
              <a:p>
                <a:r>
                  <a:rPr lang="en-US">
                    <a:noFill/>
                  </a:rPr>
                  <a:t> </a:t>
                </a:r>
              </a:p>
            </p:txBody>
          </p:sp>
        </mc:Fallback>
      </mc:AlternateContent>
      <p:graphicFrame>
        <p:nvGraphicFramePr>
          <p:cNvPr id="10" name="Table 9">
            <a:extLst>
              <a:ext uri="{FF2B5EF4-FFF2-40B4-BE49-F238E27FC236}">
                <a16:creationId xmlns:a16="http://schemas.microsoft.com/office/drawing/2014/main" id="{9785D23E-F192-16D4-ED3B-237EC851D079}"/>
              </a:ext>
            </a:extLst>
          </p:cNvPr>
          <p:cNvGraphicFramePr>
            <a:graphicFrameLocks noGrp="1"/>
          </p:cNvGraphicFramePr>
          <p:nvPr>
            <p:extLst>
              <p:ext uri="{D42A27DB-BD31-4B8C-83A1-F6EECF244321}">
                <p14:modId xmlns:p14="http://schemas.microsoft.com/office/powerpoint/2010/main" val="4082815441"/>
              </p:ext>
            </p:extLst>
          </p:nvPr>
        </p:nvGraphicFramePr>
        <p:xfrm>
          <a:off x="604156" y="3379855"/>
          <a:ext cx="8229600" cy="1463040"/>
        </p:xfrm>
        <a:graphic>
          <a:graphicData uri="http://schemas.openxmlformats.org/drawingml/2006/table">
            <a:tbl>
              <a:tblPr/>
              <a:tblGrid>
                <a:gridCol w="2743200">
                  <a:extLst>
                    <a:ext uri="{9D8B030D-6E8A-4147-A177-3AD203B41FA5}">
                      <a16:colId xmlns:a16="http://schemas.microsoft.com/office/drawing/2014/main" val="96565409"/>
                    </a:ext>
                  </a:extLst>
                </a:gridCol>
                <a:gridCol w="2743200">
                  <a:extLst>
                    <a:ext uri="{9D8B030D-6E8A-4147-A177-3AD203B41FA5}">
                      <a16:colId xmlns:a16="http://schemas.microsoft.com/office/drawing/2014/main" val="3267405061"/>
                    </a:ext>
                  </a:extLst>
                </a:gridCol>
                <a:gridCol w="2743200">
                  <a:extLst>
                    <a:ext uri="{9D8B030D-6E8A-4147-A177-3AD203B41FA5}">
                      <a16:colId xmlns:a16="http://schemas.microsoft.com/office/drawing/2014/main" val="3676455152"/>
                    </a:ext>
                  </a:extLst>
                </a:gridCol>
              </a:tblGrid>
              <a:tr h="0">
                <a:tc>
                  <a:txBody>
                    <a:bodyPr/>
                    <a:lstStyle/>
                    <a:p>
                      <a:pPr>
                        <a:buNone/>
                      </a:pPr>
                      <a:r>
                        <a:rPr lang="en-US" dirty="0"/>
                        <a:t>Outlook</a:t>
                      </a:r>
                    </a:p>
                  </a:txBody>
                  <a:tcPr anchor="ctr">
                    <a:lnL>
                      <a:noFill/>
                    </a:lnL>
                    <a:lnR>
                      <a:noFill/>
                    </a:lnR>
                    <a:lnT>
                      <a:noFill/>
                    </a:lnT>
                    <a:lnB>
                      <a:noFill/>
                    </a:lnB>
                    <a:noFill/>
                  </a:tcPr>
                </a:tc>
                <a:tc>
                  <a:txBody>
                    <a:bodyPr/>
                    <a:lstStyle/>
                    <a:p>
                      <a:pPr>
                        <a:buNone/>
                      </a:pPr>
                      <a:r>
                        <a:rPr lang="en-US"/>
                        <a:t>Counts (Yes, No)</a:t>
                      </a:r>
                    </a:p>
                  </a:txBody>
                  <a:tcPr anchor="ctr">
                    <a:lnL>
                      <a:noFill/>
                    </a:lnL>
                    <a:lnR>
                      <a:noFill/>
                    </a:lnR>
                    <a:lnT>
                      <a:noFill/>
                    </a:lnT>
                    <a:lnB>
                      <a:noFill/>
                    </a:lnB>
                    <a:noFill/>
                  </a:tcPr>
                </a:tc>
                <a:tc>
                  <a:txBody>
                    <a:bodyPr/>
                    <a:lstStyle/>
                    <a:p>
                      <a:pPr>
                        <a:buNone/>
                      </a:pPr>
                      <a:r>
                        <a:rPr lang="en-US"/>
                        <a:t>Gini</a:t>
                      </a:r>
                    </a:p>
                  </a:txBody>
                  <a:tcPr anchor="ctr">
                    <a:lnL>
                      <a:noFill/>
                    </a:lnL>
                    <a:lnR>
                      <a:noFill/>
                    </a:lnR>
                    <a:lnT>
                      <a:noFill/>
                    </a:lnT>
                    <a:lnB>
                      <a:noFill/>
                    </a:lnB>
                    <a:noFill/>
                  </a:tcPr>
                </a:tc>
                <a:extLst>
                  <a:ext uri="{0D108BD9-81ED-4DB2-BD59-A6C34878D82A}">
                    <a16:rowId xmlns:a16="http://schemas.microsoft.com/office/drawing/2014/main" val="1219670921"/>
                  </a:ext>
                </a:extLst>
              </a:tr>
              <a:tr h="0">
                <a:tc>
                  <a:txBody>
                    <a:bodyPr/>
                    <a:lstStyle/>
                    <a:p>
                      <a:pPr>
                        <a:buNone/>
                      </a:pPr>
                      <a:r>
                        <a:rPr lang="en-US"/>
                        <a:t>Sunny</a:t>
                      </a:r>
                    </a:p>
                  </a:txBody>
                  <a:tcPr anchor="ctr">
                    <a:lnL>
                      <a:noFill/>
                    </a:lnL>
                    <a:lnR>
                      <a:noFill/>
                    </a:lnR>
                    <a:lnT>
                      <a:noFill/>
                    </a:lnT>
                    <a:lnB>
                      <a:noFill/>
                    </a:lnB>
                    <a:noFill/>
                  </a:tcPr>
                </a:tc>
                <a:tc>
                  <a:txBody>
                    <a:bodyPr/>
                    <a:lstStyle/>
                    <a:p>
                      <a:pPr>
                        <a:buNone/>
                      </a:pPr>
                      <a:r>
                        <a:rPr lang="en-US"/>
                        <a:t>(0, 2)</a:t>
                      </a:r>
                    </a:p>
                  </a:txBody>
                  <a:tcPr anchor="ctr">
                    <a:lnL>
                      <a:noFill/>
                    </a:lnL>
                    <a:lnR>
                      <a:noFill/>
                    </a:lnR>
                    <a:lnT>
                      <a:noFill/>
                    </a:lnT>
                    <a:lnB>
                      <a:noFill/>
                    </a:lnB>
                    <a:noFill/>
                  </a:tcPr>
                </a:tc>
                <a:tc>
                  <a:txBody>
                    <a:bodyPr/>
                    <a:lstStyle/>
                    <a:p>
                      <a:pPr>
                        <a:buNone/>
                      </a:pPr>
                      <a:r>
                        <a:rPr lang="en-US"/>
                        <a:t>0.0</a:t>
                      </a:r>
                    </a:p>
                  </a:txBody>
                  <a:tcPr anchor="ctr">
                    <a:lnL>
                      <a:noFill/>
                    </a:lnL>
                    <a:lnR>
                      <a:noFill/>
                    </a:lnR>
                    <a:lnT>
                      <a:noFill/>
                    </a:lnT>
                    <a:lnB>
                      <a:noFill/>
                    </a:lnB>
                    <a:noFill/>
                  </a:tcPr>
                </a:tc>
                <a:extLst>
                  <a:ext uri="{0D108BD9-81ED-4DB2-BD59-A6C34878D82A}">
                    <a16:rowId xmlns:a16="http://schemas.microsoft.com/office/drawing/2014/main" val="69828918"/>
                  </a:ext>
                </a:extLst>
              </a:tr>
              <a:tr h="0">
                <a:tc>
                  <a:txBody>
                    <a:bodyPr/>
                    <a:lstStyle/>
                    <a:p>
                      <a:pPr>
                        <a:buNone/>
                      </a:pPr>
                      <a:r>
                        <a:rPr lang="en-US" dirty="0"/>
                        <a:t>Overcast</a:t>
                      </a:r>
                    </a:p>
                  </a:txBody>
                  <a:tcPr anchor="ctr">
                    <a:lnL>
                      <a:noFill/>
                    </a:lnL>
                    <a:lnR>
                      <a:noFill/>
                    </a:lnR>
                    <a:lnT>
                      <a:noFill/>
                    </a:lnT>
                    <a:lnB>
                      <a:noFill/>
                    </a:lnB>
                    <a:noFill/>
                  </a:tcPr>
                </a:tc>
                <a:tc>
                  <a:txBody>
                    <a:bodyPr/>
                    <a:lstStyle/>
                    <a:p>
                      <a:pPr>
                        <a:buNone/>
                      </a:pPr>
                      <a:r>
                        <a:rPr lang="en-US"/>
                        <a:t>(1, 0)</a:t>
                      </a:r>
                    </a:p>
                  </a:txBody>
                  <a:tcPr anchor="ctr">
                    <a:lnL>
                      <a:noFill/>
                    </a:lnL>
                    <a:lnR>
                      <a:noFill/>
                    </a:lnR>
                    <a:lnT>
                      <a:noFill/>
                    </a:lnT>
                    <a:lnB>
                      <a:noFill/>
                    </a:lnB>
                    <a:noFill/>
                  </a:tcPr>
                </a:tc>
                <a:tc>
                  <a:txBody>
                    <a:bodyPr/>
                    <a:lstStyle/>
                    <a:p>
                      <a:pPr>
                        <a:buNone/>
                      </a:pPr>
                      <a:r>
                        <a:rPr lang="en-US"/>
                        <a:t>0.0</a:t>
                      </a:r>
                    </a:p>
                  </a:txBody>
                  <a:tcPr anchor="ctr">
                    <a:lnL>
                      <a:noFill/>
                    </a:lnL>
                    <a:lnR>
                      <a:noFill/>
                    </a:lnR>
                    <a:lnT>
                      <a:noFill/>
                    </a:lnT>
                    <a:lnB>
                      <a:noFill/>
                    </a:lnB>
                    <a:noFill/>
                  </a:tcPr>
                </a:tc>
                <a:extLst>
                  <a:ext uri="{0D108BD9-81ED-4DB2-BD59-A6C34878D82A}">
                    <a16:rowId xmlns:a16="http://schemas.microsoft.com/office/drawing/2014/main" val="944648557"/>
                  </a:ext>
                </a:extLst>
              </a:tr>
              <a:tr h="0">
                <a:tc>
                  <a:txBody>
                    <a:bodyPr/>
                    <a:lstStyle/>
                    <a:p>
                      <a:pPr>
                        <a:buNone/>
                      </a:pPr>
                      <a:r>
                        <a:rPr lang="en-US"/>
                        <a:t>Rain</a:t>
                      </a:r>
                    </a:p>
                  </a:txBody>
                  <a:tcPr anchor="ctr">
                    <a:lnL>
                      <a:noFill/>
                    </a:lnL>
                    <a:lnR>
                      <a:noFill/>
                    </a:lnR>
                    <a:lnT>
                      <a:noFill/>
                    </a:lnT>
                    <a:lnB>
                      <a:noFill/>
                    </a:lnB>
                    <a:noFill/>
                  </a:tcPr>
                </a:tc>
                <a:tc>
                  <a:txBody>
                    <a:bodyPr/>
                    <a:lstStyle/>
                    <a:p>
                      <a:pPr>
                        <a:buNone/>
                      </a:pPr>
                      <a:r>
                        <a:rPr lang="en-US" dirty="0"/>
                        <a:t>(1, 1)</a:t>
                      </a:r>
                    </a:p>
                  </a:txBody>
                  <a:tcPr anchor="ctr">
                    <a:lnL>
                      <a:noFill/>
                    </a:lnL>
                    <a:lnR>
                      <a:noFill/>
                    </a:lnR>
                    <a:lnT>
                      <a:noFill/>
                    </a:lnT>
                    <a:lnB>
                      <a:noFill/>
                    </a:lnB>
                    <a:noFill/>
                  </a:tcPr>
                </a:tc>
                <a:tc>
                  <a:txBody>
                    <a:bodyPr/>
                    <a:lstStyle/>
                    <a:p>
                      <a:pPr>
                        <a:buNone/>
                      </a:pPr>
                      <a:r>
                        <a:rPr lang="en-US" dirty="0"/>
                        <a:t>0.5</a:t>
                      </a:r>
                    </a:p>
                  </a:txBody>
                  <a:tcPr anchor="ctr">
                    <a:lnL>
                      <a:noFill/>
                    </a:lnL>
                    <a:lnR>
                      <a:noFill/>
                    </a:lnR>
                    <a:lnT>
                      <a:noFill/>
                    </a:lnT>
                    <a:lnB>
                      <a:noFill/>
                    </a:lnB>
                    <a:noFill/>
                  </a:tcPr>
                </a:tc>
                <a:extLst>
                  <a:ext uri="{0D108BD9-81ED-4DB2-BD59-A6C34878D82A}">
                    <a16:rowId xmlns:a16="http://schemas.microsoft.com/office/drawing/2014/main" val="4119084657"/>
                  </a:ext>
                </a:extLst>
              </a:tr>
            </a:tbl>
          </a:graphicData>
        </a:graphic>
      </p:graphicFrame>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72C19D75-B867-ACEA-B52D-30306F8963D6}"/>
                  </a:ext>
                </a:extLst>
              </p:cNvPr>
              <p:cNvSpPr txBox="1"/>
              <p:nvPr/>
            </p:nvSpPr>
            <p:spPr>
              <a:xfrm>
                <a:off x="544286" y="5154982"/>
                <a:ext cx="4572000" cy="1443793"/>
              </a:xfrm>
              <a:prstGeom prst="rect">
                <a:avLst/>
              </a:prstGeom>
              <a:noFill/>
            </p:spPr>
            <p:txBody>
              <a:bodyPr wrap="square">
                <a:spAutoFit/>
              </a:bodyPr>
              <a:lstStyle/>
              <a:p>
                <a:pPr>
                  <a:buNone/>
                </a:pPr>
                <a:r>
                  <a:rPr lang="en-US" b="1" dirty="0"/>
                  <a:t>Weighted Average Gini</a:t>
                </a: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𝐺</m:t>
                          </m:r>
                        </m:e>
                        <m:sub>
                          <m:r>
                            <a:rPr lang="ar-AE" i="1">
                              <a:latin typeface="Cambria Math" panose="02040503050406030204" pitchFamily="18" charset="0"/>
                            </a:rPr>
                            <m:t>𝑠𝑝𝑙𝑖𝑡</m:t>
                          </m:r>
                        </m:sub>
                      </m:sSub>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2</m:t>
                          </m:r>
                        </m:num>
                        <m:den>
                          <m:r>
                            <a:rPr lang="ar-AE" i="0">
                              <a:latin typeface="Cambria Math" panose="02040503050406030204" pitchFamily="18" charset="0"/>
                            </a:rPr>
                            <m:t>5</m:t>
                          </m:r>
                        </m:den>
                      </m:f>
                      <m:d>
                        <m:dPr>
                          <m:ctrlPr>
                            <a:rPr lang="ar-AE" i="1">
                              <a:latin typeface="Cambria Math" panose="02040503050406030204" pitchFamily="18" charset="0"/>
                            </a:rPr>
                          </m:ctrlPr>
                        </m:dPr>
                        <m:e>
                          <m:r>
                            <a:rPr lang="ar-AE" i="0">
                              <a:latin typeface="Cambria Math" panose="02040503050406030204" pitchFamily="18" charset="0"/>
                            </a:rPr>
                            <m:t>0</m:t>
                          </m:r>
                        </m:e>
                      </m:d>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1</m:t>
                          </m:r>
                        </m:num>
                        <m:den>
                          <m:r>
                            <a:rPr lang="ar-AE" i="0">
                              <a:latin typeface="Cambria Math" panose="02040503050406030204" pitchFamily="18" charset="0"/>
                            </a:rPr>
                            <m:t>5</m:t>
                          </m:r>
                        </m:den>
                      </m:f>
                      <m:d>
                        <m:dPr>
                          <m:ctrlPr>
                            <a:rPr lang="ar-AE" i="1">
                              <a:latin typeface="Cambria Math" panose="02040503050406030204" pitchFamily="18" charset="0"/>
                            </a:rPr>
                          </m:ctrlPr>
                        </m:dPr>
                        <m:e>
                          <m:r>
                            <a:rPr lang="ar-AE" i="0">
                              <a:latin typeface="Cambria Math" panose="02040503050406030204" pitchFamily="18" charset="0"/>
                            </a:rPr>
                            <m:t>0</m:t>
                          </m:r>
                        </m:e>
                      </m:d>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2</m:t>
                          </m:r>
                        </m:num>
                        <m:den>
                          <m:r>
                            <a:rPr lang="ar-AE" i="0">
                              <a:latin typeface="Cambria Math" panose="02040503050406030204" pitchFamily="18" charset="0"/>
                            </a:rPr>
                            <m:t>5</m:t>
                          </m:r>
                        </m:den>
                      </m:f>
                      <m:d>
                        <m:dPr>
                          <m:ctrlPr>
                            <a:rPr lang="ar-AE" i="1">
                              <a:latin typeface="Cambria Math" panose="02040503050406030204" pitchFamily="18" charset="0"/>
                            </a:rPr>
                          </m:ctrlPr>
                        </m:dPr>
                        <m:e>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m:t>
                          </m:r>
                        </m:e>
                      </m:d>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2</m:t>
                      </m:r>
                    </m:oMath>
                  </m:oMathPara>
                </a14:m>
                <a:endParaRPr lang="ar-AE" dirty="0"/>
              </a:p>
              <a:p>
                <a:pPr>
                  <a:buNone/>
                </a:pPr>
                <a:r>
                  <a:rPr lang="en-US" b="1" dirty="0"/>
                  <a:t>Reduction in Gini</a:t>
                </a:r>
              </a:p>
              <a:p>
                <a:pPr>
                  <a:buNone/>
                </a:pPr>
                <a14:m>
                  <m:oMathPara xmlns:m="http://schemas.openxmlformats.org/officeDocument/2006/math">
                    <m:oMathParaPr>
                      <m:jc m:val="centerGroup"/>
                    </m:oMathParaPr>
                    <m:oMath xmlns:m="http://schemas.openxmlformats.org/officeDocument/2006/math">
                      <m:r>
                        <m:rPr>
                          <m:sty m:val="p"/>
                        </m:rPr>
                        <a:rPr lang="el-GR">
                          <a:latin typeface="Cambria Math" panose="02040503050406030204" pitchFamily="18" charset="0"/>
                        </a:rPr>
                        <m:t>Δ</m:t>
                      </m:r>
                      <m:r>
                        <a:rPr lang="el-GR" i="1">
                          <a:latin typeface="Cambria Math" panose="02040503050406030204" pitchFamily="18" charset="0"/>
                        </a:rPr>
                        <m:t>𝐺</m:t>
                      </m:r>
                      <m:r>
                        <a:rPr lang="el-GR" i="0">
                          <a:latin typeface="Cambria Math" panose="02040503050406030204" pitchFamily="18" charset="0"/>
                        </a:rPr>
                        <m:t>=</m:t>
                      </m:r>
                      <m:r>
                        <a:rPr lang="el-GR" i="0">
                          <a:latin typeface="Cambria Math" panose="02040503050406030204" pitchFamily="18" charset="0"/>
                        </a:rPr>
                        <m:t>0</m:t>
                      </m:r>
                      <m:r>
                        <a:rPr lang="el-GR" i="0">
                          <a:latin typeface="Cambria Math" panose="02040503050406030204" pitchFamily="18" charset="0"/>
                        </a:rPr>
                        <m:t>.</m:t>
                      </m:r>
                      <m:r>
                        <a:rPr lang="el-GR" i="0">
                          <a:latin typeface="Cambria Math" panose="02040503050406030204" pitchFamily="18" charset="0"/>
                        </a:rPr>
                        <m:t>48</m:t>
                      </m:r>
                      <m:r>
                        <a:rPr lang="el-GR" i="0">
                          <a:latin typeface="Cambria Math" panose="02040503050406030204" pitchFamily="18" charset="0"/>
                        </a:rPr>
                        <m:t>−</m:t>
                      </m:r>
                      <m:r>
                        <a:rPr lang="el-GR" i="0">
                          <a:latin typeface="Cambria Math" panose="02040503050406030204" pitchFamily="18" charset="0"/>
                        </a:rPr>
                        <m:t>0</m:t>
                      </m:r>
                      <m:r>
                        <a:rPr lang="el-GR" i="0">
                          <a:latin typeface="Cambria Math" panose="02040503050406030204" pitchFamily="18" charset="0"/>
                        </a:rPr>
                        <m:t>.</m:t>
                      </m:r>
                      <m:r>
                        <a:rPr lang="el-GR" i="0">
                          <a:latin typeface="Cambria Math" panose="02040503050406030204" pitchFamily="18" charset="0"/>
                        </a:rPr>
                        <m:t>2</m:t>
                      </m:r>
                      <m:r>
                        <a:rPr lang="el-GR" i="0">
                          <a:latin typeface="Cambria Math" panose="02040503050406030204" pitchFamily="18" charset="0"/>
                        </a:rPr>
                        <m:t>=</m:t>
                      </m:r>
                      <m:r>
                        <a:rPr lang="el-GR" i="0">
                          <a:latin typeface="Cambria Math" panose="02040503050406030204" pitchFamily="18" charset="0"/>
                        </a:rPr>
                        <m:t>0</m:t>
                      </m:r>
                      <m:r>
                        <a:rPr lang="el-GR" i="0">
                          <a:latin typeface="Cambria Math" panose="02040503050406030204" pitchFamily="18" charset="0"/>
                        </a:rPr>
                        <m:t>.</m:t>
                      </m:r>
                      <m:r>
                        <a:rPr lang="el-GR" i="0">
                          <a:latin typeface="Cambria Math" panose="02040503050406030204" pitchFamily="18" charset="0"/>
                        </a:rPr>
                        <m:t>28</m:t>
                      </m:r>
                    </m:oMath>
                  </m:oMathPara>
                </a14:m>
                <a:endParaRPr lang="el-GR" dirty="0"/>
              </a:p>
            </p:txBody>
          </p:sp>
        </mc:Choice>
        <mc:Fallback>
          <p:sp>
            <p:nvSpPr>
              <p:cNvPr id="13" name="TextBox 12">
                <a:extLst>
                  <a:ext uri="{FF2B5EF4-FFF2-40B4-BE49-F238E27FC236}">
                    <a16:creationId xmlns:a16="http://schemas.microsoft.com/office/drawing/2014/main" id="{72C19D75-B867-ACEA-B52D-30306F8963D6}"/>
                  </a:ext>
                </a:extLst>
              </p:cNvPr>
              <p:cNvSpPr txBox="1">
                <a:spLocks noRot="1" noChangeAspect="1" noMove="1" noResize="1" noEditPoints="1" noAdjustHandles="1" noChangeArrowheads="1" noChangeShapeType="1" noTextEdit="1"/>
              </p:cNvSpPr>
              <p:nvPr/>
            </p:nvSpPr>
            <p:spPr>
              <a:xfrm>
                <a:off x="544286" y="5154982"/>
                <a:ext cx="4572000" cy="1443793"/>
              </a:xfrm>
              <a:prstGeom prst="rect">
                <a:avLst/>
              </a:prstGeom>
              <a:blipFill>
                <a:blip r:embed="rId3"/>
                <a:stretch>
                  <a:fillRect l="-1067" t="-2542"/>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20024EC6-691F-9A13-A76D-69BD102139D6}"/>
              </a:ext>
            </a:extLst>
          </p:cNvPr>
          <p:cNvSpPr txBox="1"/>
          <p:nvPr/>
        </p:nvSpPr>
        <p:spPr>
          <a:xfrm>
            <a:off x="5257800" y="5081877"/>
            <a:ext cx="3635829" cy="1200329"/>
          </a:xfrm>
          <a:prstGeom prst="rect">
            <a:avLst/>
          </a:prstGeom>
          <a:noFill/>
        </p:spPr>
        <p:txBody>
          <a:bodyPr wrap="square">
            <a:spAutoFit/>
          </a:bodyPr>
          <a:lstStyle/>
          <a:p>
            <a:r>
              <a:rPr lang="en-US" b="1" dirty="0"/>
              <a:t>Interpretation:</a:t>
            </a:r>
            <a:br>
              <a:rPr lang="en-US" dirty="0"/>
            </a:br>
            <a:r>
              <a:rPr lang="en-US" dirty="0"/>
              <a:t>This feature decreases impurity by 0.28 </a:t>
            </a:r>
          </a:p>
          <a:p>
            <a:r>
              <a:rPr lang="en-US" dirty="0"/>
              <a:t>Hence a strong split.</a:t>
            </a:r>
          </a:p>
        </p:txBody>
      </p:sp>
    </p:spTree>
    <p:extLst>
      <p:ext uri="{BB962C8B-B14F-4D97-AF65-F5344CB8AC3E}">
        <p14:creationId xmlns:p14="http://schemas.microsoft.com/office/powerpoint/2010/main" val="1889657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Splitting Criteria</a:t>
            </a:r>
          </a:p>
        </p:txBody>
      </p:sp>
      <p:sp>
        <p:nvSpPr>
          <p:cNvPr id="3" name="Content Placeholder 2"/>
          <p:cNvSpPr>
            <a:spLocks noGrp="1"/>
          </p:cNvSpPr>
          <p:nvPr>
            <p:ph idx="1"/>
          </p:nvPr>
        </p:nvSpPr>
        <p:spPr/>
        <p:txBody>
          <a:bodyPr>
            <a:normAutofit/>
          </a:bodyPr>
          <a:lstStyle/>
          <a:p>
            <a:pPr marL="0" indent="0">
              <a:buNone/>
            </a:pPr>
            <a:r>
              <a:rPr dirty="0"/>
              <a:t>1. </a:t>
            </a:r>
            <a:r>
              <a:rPr b="1" dirty="0"/>
              <a:t>Information Gain (Entropy)</a:t>
            </a:r>
            <a:r>
              <a:rPr dirty="0"/>
              <a:t>—IG = H(parent) - Σ (nᵢ/n) H(childᵢ)</a:t>
            </a:r>
          </a:p>
          <a:p>
            <a:endParaRPr dirty="0"/>
          </a:p>
          <a:p>
            <a:pPr marL="0" indent="0">
              <a:buNone/>
            </a:pPr>
            <a:r>
              <a:rPr dirty="0"/>
              <a:t>2. </a:t>
            </a:r>
            <a:r>
              <a:rPr b="1" dirty="0"/>
              <a:t>Gini Index</a:t>
            </a:r>
            <a:r>
              <a:rPr dirty="0"/>
              <a:t>—Gini = 1 - Σ pᵢ²</a:t>
            </a:r>
          </a:p>
          <a:p>
            <a:endParaRPr dirty="0"/>
          </a:p>
          <a:p>
            <a:pPr marL="0" indent="0">
              <a:buNone/>
            </a:pPr>
            <a:r>
              <a:rPr dirty="0"/>
              <a:t>3. </a:t>
            </a:r>
            <a:r>
              <a:rPr b="1" dirty="0"/>
              <a:t>Chi-Square</a:t>
            </a:r>
            <a:r>
              <a:rPr dirty="0"/>
              <a:t>— used for categorical data</a:t>
            </a:r>
          </a:p>
          <a:p>
            <a:pPr marL="0" indent="0">
              <a:buNone/>
            </a:pPr>
            <a:r>
              <a:rPr dirty="0"/>
              <a:t>   Statistical test for independence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E87E0-03A7-57E3-F522-7792E34C7FDA}"/>
              </a:ext>
            </a:extLst>
          </p:cNvPr>
          <p:cNvSpPr>
            <a:spLocks noGrp="1"/>
          </p:cNvSpPr>
          <p:nvPr>
            <p:ph type="title"/>
          </p:nvPr>
        </p:nvSpPr>
        <p:spPr/>
        <p:txBody>
          <a:bodyPr>
            <a:normAutofit/>
          </a:bodyPr>
          <a:lstStyle/>
          <a:p>
            <a:r>
              <a:rPr lang="en-US" dirty="0"/>
              <a:t>Decision Trees: All Steps</a:t>
            </a:r>
            <a:endParaRPr lang="en-IN" dirty="0"/>
          </a:p>
        </p:txBody>
      </p:sp>
      <p:sp>
        <p:nvSpPr>
          <p:cNvPr id="3" name="Content Placeholder 2">
            <a:extLst>
              <a:ext uri="{FF2B5EF4-FFF2-40B4-BE49-F238E27FC236}">
                <a16:creationId xmlns:a16="http://schemas.microsoft.com/office/drawing/2014/main" id="{5CE0EC2C-8C29-BAD5-1C4F-374FDBBE8761}"/>
              </a:ext>
            </a:extLst>
          </p:cNvPr>
          <p:cNvSpPr>
            <a:spLocks noGrp="1"/>
          </p:cNvSpPr>
          <p:nvPr>
            <p:ph idx="1"/>
          </p:nvPr>
        </p:nvSpPr>
        <p:spPr>
          <a:xfrm>
            <a:off x="457200" y="1905000"/>
            <a:ext cx="8326582" cy="4846782"/>
          </a:xfrm>
        </p:spPr>
        <p:txBody>
          <a:bodyPr/>
          <a:lstStyle/>
          <a:p>
            <a:r>
              <a:rPr lang="en-US" dirty="0"/>
              <a:t>Step 1: Start with Whole Dataset (root node)</a:t>
            </a:r>
          </a:p>
          <a:p>
            <a:r>
              <a:rPr lang="en-US" dirty="0"/>
              <a:t>Step 2: Choose best question/attribute</a:t>
            </a:r>
          </a:p>
          <a:p>
            <a:r>
              <a:rPr lang="en-US" dirty="0"/>
              <a:t>Step 3: Split dataset (feature values)</a:t>
            </a:r>
          </a:p>
          <a:p>
            <a:r>
              <a:rPr lang="en-US" dirty="0"/>
              <a:t>Step 4: Recursively split further as needed</a:t>
            </a:r>
          </a:p>
          <a:p>
            <a:r>
              <a:rPr lang="en-US" dirty="0"/>
              <a:t>Step 5: Assign final decisions (leaf nodes)</a:t>
            </a:r>
          </a:p>
          <a:p>
            <a:r>
              <a:rPr lang="en-US" dirty="0"/>
              <a:t>Step 6: Use tree for predictions</a:t>
            </a:r>
          </a:p>
          <a:p>
            <a:endParaRPr lang="en-IN" dirty="0"/>
          </a:p>
        </p:txBody>
      </p:sp>
    </p:spTree>
    <p:extLst>
      <p:ext uri="{BB962C8B-B14F-4D97-AF65-F5344CB8AC3E}">
        <p14:creationId xmlns:p14="http://schemas.microsoft.com/office/powerpoint/2010/main" val="1938848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1D914EB-56C8-CE01-6BE7-6F90091E4A6F}"/>
              </a:ext>
            </a:extLst>
          </p:cNvPr>
          <p:cNvPicPr>
            <a:picLocks noGrp="1" noChangeAspect="1"/>
          </p:cNvPicPr>
          <p:nvPr>
            <p:ph idx="1"/>
          </p:nvPr>
        </p:nvPicPr>
        <p:blipFill>
          <a:blip r:embed="rId2"/>
          <a:stretch>
            <a:fillRect/>
          </a:stretch>
        </p:blipFill>
        <p:spPr bwMode="auto">
          <a:xfrm>
            <a:off x="92476" y="459774"/>
            <a:ext cx="8959048" cy="59384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40279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Overfitting &amp; Need for Pruning</a:t>
            </a:r>
          </a:p>
        </p:txBody>
      </p:sp>
      <p:sp>
        <p:nvSpPr>
          <p:cNvPr id="3" name="Content Placeholder 2"/>
          <p:cNvSpPr>
            <a:spLocks noGrp="1"/>
          </p:cNvSpPr>
          <p:nvPr>
            <p:ph idx="1"/>
          </p:nvPr>
        </p:nvSpPr>
        <p:spPr>
          <a:xfrm>
            <a:off x="457200" y="1747981"/>
            <a:ext cx="8229600" cy="4525963"/>
          </a:xfrm>
        </p:spPr>
        <p:txBody>
          <a:bodyPr>
            <a:normAutofit fontScale="92500" lnSpcReduction="10000"/>
          </a:bodyPr>
          <a:lstStyle/>
          <a:p>
            <a:pPr marL="0" indent="0">
              <a:buNone/>
            </a:pPr>
            <a:r>
              <a:rPr dirty="0"/>
              <a:t>- Decision Trees can easily overfit noisy data</a:t>
            </a:r>
          </a:p>
          <a:p>
            <a:pPr marL="0" indent="0">
              <a:buNone/>
            </a:pPr>
            <a:r>
              <a:rPr dirty="0"/>
              <a:t>- Overfitting: High accuracy on training, poor on test data</a:t>
            </a:r>
          </a:p>
          <a:p>
            <a:endParaRPr dirty="0"/>
          </a:p>
          <a:p>
            <a:pPr marL="0" indent="0">
              <a:buNone/>
            </a:pPr>
            <a:r>
              <a:rPr b="1" dirty="0"/>
              <a:t>Solution → Pruning</a:t>
            </a:r>
            <a:endParaRPr dirty="0"/>
          </a:p>
          <a:p>
            <a:endParaRPr dirty="0"/>
          </a:p>
          <a:p>
            <a:pPr marL="0" indent="0">
              <a:buNone/>
            </a:pPr>
            <a:r>
              <a:rPr dirty="0"/>
              <a:t>- Pre-pruning: Stop early (limit depth, min samples)</a:t>
            </a:r>
          </a:p>
          <a:p>
            <a:pPr marL="0" indent="0">
              <a:buNone/>
            </a:pPr>
            <a:r>
              <a:rPr dirty="0"/>
              <a:t>- Post-pruning: Grow full tree then remove weak branches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3FB79-690E-AEBE-87C2-D5404C77BF14}"/>
              </a:ext>
            </a:extLst>
          </p:cNvPr>
          <p:cNvSpPr>
            <a:spLocks noGrp="1"/>
          </p:cNvSpPr>
          <p:nvPr>
            <p:ph type="title"/>
          </p:nvPr>
        </p:nvSpPr>
        <p:spPr/>
        <p:txBody>
          <a:bodyPr>
            <a:normAutofit/>
          </a:bodyPr>
          <a:lstStyle/>
          <a:p>
            <a:r>
              <a:rPr lang="en-US" b="1" dirty="0"/>
              <a:t>Pre-Pruning (Early Stopping)</a:t>
            </a:r>
            <a:endParaRPr lang="en-IN" dirty="0"/>
          </a:p>
        </p:txBody>
      </p:sp>
      <p:sp>
        <p:nvSpPr>
          <p:cNvPr id="3" name="Content Placeholder 2">
            <a:extLst>
              <a:ext uri="{FF2B5EF4-FFF2-40B4-BE49-F238E27FC236}">
                <a16:creationId xmlns:a16="http://schemas.microsoft.com/office/drawing/2014/main" id="{89002074-1850-4663-C4A6-8FA097AAA17A}"/>
              </a:ext>
            </a:extLst>
          </p:cNvPr>
          <p:cNvSpPr>
            <a:spLocks noGrp="1"/>
          </p:cNvSpPr>
          <p:nvPr>
            <p:ph idx="1"/>
          </p:nvPr>
        </p:nvSpPr>
        <p:spPr>
          <a:xfrm>
            <a:off x="374904" y="1417638"/>
            <a:ext cx="8375904" cy="5440362"/>
          </a:xfrm>
        </p:spPr>
        <p:txBody>
          <a:bodyPr>
            <a:normAutofit fontScale="77500" lnSpcReduction="20000"/>
          </a:bodyPr>
          <a:lstStyle/>
          <a:p>
            <a:pPr fontAlgn="base"/>
            <a:r>
              <a:rPr lang="en-US" dirty="0"/>
              <a:t>Sometimes, the growth of the decision tree can be stopped before it gets too complex, this is called pre-pruning. It is important to prevent the overfitting of the training data, which results in a poor performance when exposed to new data.</a:t>
            </a:r>
          </a:p>
          <a:p>
            <a:pPr fontAlgn="base"/>
            <a:r>
              <a:rPr lang="en-US" dirty="0"/>
              <a:t>Some common pre-pruning techniques include:</a:t>
            </a:r>
          </a:p>
          <a:p>
            <a:pPr fontAlgn="base"/>
            <a:r>
              <a:rPr lang="en-US" b="1" dirty="0"/>
              <a:t>Maximum Depth</a:t>
            </a:r>
            <a:r>
              <a:rPr lang="en-US" dirty="0"/>
              <a:t>: It limits the maximum level of depth in a decision tree.</a:t>
            </a:r>
          </a:p>
          <a:p>
            <a:pPr fontAlgn="base"/>
            <a:r>
              <a:rPr lang="en-US" b="1" dirty="0"/>
              <a:t>Minimum Samples per Leaf</a:t>
            </a:r>
            <a:r>
              <a:rPr lang="en-US" dirty="0"/>
              <a:t>: Set a minimum threshold for the number of samples in each leaf node.</a:t>
            </a:r>
          </a:p>
          <a:p>
            <a:pPr fontAlgn="base"/>
            <a:r>
              <a:rPr lang="en-US" b="1" dirty="0"/>
              <a:t>Minimum Samples per Split</a:t>
            </a:r>
            <a:r>
              <a:rPr lang="en-US" dirty="0"/>
              <a:t>: Specify the minimal number of samples needed to break up a node.</a:t>
            </a:r>
          </a:p>
          <a:p>
            <a:pPr fontAlgn="base"/>
            <a:r>
              <a:rPr lang="en-US" b="1" dirty="0"/>
              <a:t>Maximum Features:</a:t>
            </a:r>
            <a:r>
              <a:rPr lang="en-US" dirty="0"/>
              <a:t> Restrict the quantity of features considered for splitting.</a:t>
            </a:r>
          </a:p>
          <a:p>
            <a:pPr fontAlgn="base"/>
            <a:r>
              <a:rPr lang="en-US" dirty="0"/>
              <a:t>By pruning early, we come to be with a simpler tree that is less likely to overfit the training facts.</a:t>
            </a:r>
          </a:p>
          <a:p>
            <a:endParaRPr lang="en-IN" dirty="0"/>
          </a:p>
        </p:txBody>
      </p:sp>
    </p:spTree>
    <p:extLst>
      <p:ext uri="{BB962C8B-B14F-4D97-AF65-F5344CB8AC3E}">
        <p14:creationId xmlns:p14="http://schemas.microsoft.com/office/powerpoint/2010/main" val="12262002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FCB6B-19E9-71BA-BFDD-C2608780B880}"/>
              </a:ext>
            </a:extLst>
          </p:cNvPr>
          <p:cNvSpPr>
            <a:spLocks noGrp="1"/>
          </p:cNvSpPr>
          <p:nvPr>
            <p:ph type="title"/>
          </p:nvPr>
        </p:nvSpPr>
        <p:spPr>
          <a:xfrm>
            <a:off x="448056" y="182880"/>
            <a:ext cx="8229600" cy="1143000"/>
          </a:xfrm>
        </p:spPr>
        <p:txBody>
          <a:bodyPr>
            <a:normAutofit/>
          </a:bodyPr>
          <a:lstStyle/>
          <a:p>
            <a:r>
              <a:rPr lang="en-US" b="1" dirty="0"/>
              <a:t>Post-Pruning (Reducing Nodes)</a:t>
            </a:r>
            <a:endParaRPr lang="en-IN" dirty="0"/>
          </a:p>
        </p:txBody>
      </p:sp>
      <p:sp>
        <p:nvSpPr>
          <p:cNvPr id="3" name="Content Placeholder 2">
            <a:extLst>
              <a:ext uri="{FF2B5EF4-FFF2-40B4-BE49-F238E27FC236}">
                <a16:creationId xmlns:a16="http://schemas.microsoft.com/office/drawing/2014/main" id="{C0B43FE5-1ABF-D0B7-2B7C-25CD29DDA2E9}"/>
              </a:ext>
            </a:extLst>
          </p:cNvPr>
          <p:cNvSpPr>
            <a:spLocks noGrp="1"/>
          </p:cNvSpPr>
          <p:nvPr>
            <p:ph idx="1"/>
          </p:nvPr>
        </p:nvSpPr>
        <p:spPr>
          <a:xfrm>
            <a:off x="374904" y="1325880"/>
            <a:ext cx="8375904" cy="5532120"/>
          </a:xfrm>
        </p:spPr>
        <p:txBody>
          <a:bodyPr>
            <a:normAutofit fontScale="70000" lnSpcReduction="20000"/>
          </a:bodyPr>
          <a:lstStyle/>
          <a:p>
            <a:pPr fontAlgn="base"/>
            <a:r>
              <a:rPr lang="en-US" dirty="0"/>
              <a:t>After the­ tree is fully grown, post-pruning involves re­moving branches or nodes to improve the­ model's ability to generalize­. Some common post-pruning techniques include­:</a:t>
            </a:r>
          </a:p>
          <a:p>
            <a:pPr fontAlgn="base"/>
            <a:r>
              <a:rPr lang="en-US" b="1" dirty="0"/>
              <a:t>Cost-Complexity Pruning (CCP)</a:t>
            </a:r>
            <a:r>
              <a:rPr lang="en-US" dirty="0"/>
              <a:t>: This method assigns a price to each subtre­e primarily based on its accuracy and complexity, the­n selects the subtre­e with the lowest fee.</a:t>
            </a:r>
          </a:p>
          <a:p>
            <a:pPr fontAlgn="base"/>
            <a:r>
              <a:rPr lang="en-US" b="1" dirty="0"/>
              <a:t>Re­duced Error Pruning</a:t>
            </a:r>
            <a:r>
              <a:rPr lang="en-US" dirty="0"/>
              <a:t>: Removes branche­s that do not significantly affect the overall accuracy.</a:t>
            </a:r>
          </a:p>
          <a:p>
            <a:pPr fontAlgn="base"/>
            <a:r>
              <a:rPr lang="en-US" b="1" dirty="0"/>
              <a:t>Minimum Impurity De­crease</a:t>
            </a:r>
            <a:r>
              <a:rPr lang="en-US" dirty="0"/>
              <a:t>: Prunes node­s if the decrease­ in impurity (Gini impurity or entropy) is beneath a ce­rtain threshold.</a:t>
            </a:r>
          </a:p>
          <a:p>
            <a:pPr fontAlgn="base"/>
            <a:r>
              <a:rPr lang="en-US" b="1" dirty="0"/>
              <a:t>Minimum Leaf Size</a:t>
            </a:r>
            <a:r>
              <a:rPr lang="en-US" dirty="0"/>
              <a:t>: Re­moves leaf nodes with fe­wer samples than a specifie­d threshold.</a:t>
            </a:r>
          </a:p>
          <a:p>
            <a:pPr fontAlgn="base"/>
            <a:r>
              <a:rPr lang="en-US" dirty="0"/>
              <a:t>Post-pruning simplifies the tre­e while preserving its Accuracy. Decision tree pruning helps to improve the performance and interpretability of decision trees by reducing their complexity and avoiding overfitting. Proper pruning can lead to simpler and more robust models that generalize better to unseen data.</a:t>
            </a:r>
          </a:p>
          <a:p>
            <a:endParaRPr lang="en-IN" dirty="0"/>
          </a:p>
        </p:txBody>
      </p:sp>
    </p:spTree>
    <p:extLst>
      <p:ext uri="{BB962C8B-B14F-4D97-AF65-F5344CB8AC3E}">
        <p14:creationId xmlns:p14="http://schemas.microsoft.com/office/powerpoint/2010/main" val="3166264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Random Forests </a:t>
            </a:r>
          </a:p>
        </p:txBody>
      </p:sp>
      <p:sp>
        <p:nvSpPr>
          <p:cNvPr id="3" name="Content Placeholder 2"/>
          <p:cNvSpPr>
            <a:spLocks noGrp="1"/>
          </p:cNvSpPr>
          <p:nvPr>
            <p:ph idx="1"/>
          </p:nvPr>
        </p:nvSpPr>
        <p:spPr/>
        <p:txBody>
          <a:bodyPr>
            <a:normAutofit/>
          </a:bodyPr>
          <a:lstStyle/>
          <a:p>
            <a:r>
              <a:rPr lang="en-US" dirty="0"/>
              <a:t>Random Forest is an ensemble learning method that builds multiple decision trees.</a:t>
            </a:r>
          </a:p>
          <a:p>
            <a:r>
              <a:rPr lang="en-US" dirty="0"/>
              <a:t>Each tree looks at random parts of the data.</a:t>
            </a:r>
          </a:p>
          <a:p>
            <a:r>
              <a:rPr lang="en-US" dirty="0"/>
              <a:t>Combines their results by voting (classification) or averaging (regression).</a:t>
            </a:r>
          </a:p>
          <a:p>
            <a:r>
              <a:rPr lang="en-US" dirty="0"/>
              <a:t>Helps improve accuracy and reduce errors.</a:t>
            </a:r>
          </a:p>
          <a:p>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468FCDF-8930-AF78-614E-7E105F48E823}"/>
              </a:ext>
            </a:extLst>
          </p:cNvPr>
          <p:cNvPicPr>
            <a:picLocks noGrp="1" noChangeAspect="1"/>
          </p:cNvPicPr>
          <p:nvPr>
            <p:ph idx="1"/>
          </p:nvPr>
        </p:nvPicPr>
        <p:blipFill>
          <a:blip r:embed="rId2"/>
          <a:stretch>
            <a:fillRect/>
          </a:stretch>
        </p:blipFill>
        <p:spPr>
          <a:xfrm>
            <a:off x="457200" y="969428"/>
            <a:ext cx="8229600" cy="4342755"/>
          </a:xfrm>
          <a:prstGeom prst="rect">
            <a:avLst/>
          </a:prstGeom>
        </p:spPr>
      </p:pic>
    </p:spTree>
    <p:extLst>
      <p:ext uri="{BB962C8B-B14F-4D97-AF65-F5344CB8AC3E}">
        <p14:creationId xmlns:p14="http://schemas.microsoft.com/office/powerpoint/2010/main" val="4272393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851F6-B1CB-4FD0-D675-2616FF19AF58}"/>
              </a:ext>
            </a:extLst>
          </p:cNvPr>
          <p:cNvSpPr>
            <a:spLocks noGrp="1"/>
          </p:cNvSpPr>
          <p:nvPr>
            <p:ph type="title"/>
          </p:nvPr>
        </p:nvSpPr>
        <p:spPr/>
        <p:txBody>
          <a:bodyPr>
            <a:normAutofit/>
          </a:bodyPr>
          <a:lstStyle/>
          <a:p>
            <a:r>
              <a:rPr lang="en-US" dirty="0"/>
              <a:t>How Does Random Forest Work?</a:t>
            </a:r>
            <a:endParaRPr lang="en-IN" dirty="0"/>
          </a:p>
        </p:txBody>
      </p:sp>
      <p:sp>
        <p:nvSpPr>
          <p:cNvPr id="3" name="Content Placeholder 2">
            <a:extLst>
              <a:ext uri="{FF2B5EF4-FFF2-40B4-BE49-F238E27FC236}">
                <a16:creationId xmlns:a16="http://schemas.microsoft.com/office/drawing/2014/main" id="{07F92C4B-5FE8-3FB2-69D5-E2B8B8C3CF49}"/>
              </a:ext>
            </a:extLst>
          </p:cNvPr>
          <p:cNvSpPr>
            <a:spLocks noGrp="1"/>
          </p:cNvSpPr>
          <p:nvPr>
            <p:ph idx="1"/>
          </p:nvPr>
        </p:nvSpPr>
        <p:spPr/>
        <p:txBody>
          <a:bodyPr>
            <a:normAutofit fontScale="92500" lnSpcReduction="10000"/>
          </a:bodyPr>
          <a:lstStyle/>
          <a:p>
            <a:r>
              <a:rPr lang="en-US" dirty="0"/>
              <a:t>Step 1: Create many decision trees using random parts of the data.</a:t>
            </a:r>
          </a:p>
          <a:p>
            <a:r>
              <a:rPr lang="en-US" dirty="0"/>
              <a:t>Step 2: Each tree picks random features (columns) to split data.</a:t>
            </a:r>
          </a:p>
          <a:p>
            <a:r>
              <a:rPr lang="en-US" dirty="0"/>
              <a:t>Step 3: Every tree makes its own prediction.</a:t>
            </a:r>
          </a:p>
          <a:p>
            <a:r>
              <a:rPr lang="en-US" dirty="0"/>
              <a:t>Step 4: Combine predictions: Majority vote for classification, average for regression.</a:t>
            </a:r>
          </a:p>
          <a:p>
            <a:r>
              <a:rPr lang="en-US" dirty="0"/>
              <a:t>Step 5: Using randomness helps avoid overfitting and makes predictions more reliable.</a:t>
            </a:r>
          </a:p>
          <a:p>
            <a:endParaRPr lang="en-IN" dirty="0"/>
          </a:p>
        </p:txBody>
      </p:sp>
    </p:spTree>
    <p:extLst>
      <p:ext uri="{BB962C8B-B14F-4D97-AF65-F5344CB8AC3E}">
        <p14:creationId xmlns:p14="http://schemas.microsoft.com/office/powerpoint/2010/main" val="18037898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C98D7-25CF-3A1B-9683-862D4725D4B2}"/>
              </a:ext>
            </a:extLst>
          </p:cNvPr>
          <p:cNvSpPr>
            <a:spLocks noGrp="1"/>
          </p:cNvSpPr>
          <p:nvPr>
            <p:ph type="title"/>
          </p:nvPr>
        </p:nvSpPr>
        <p:spPr/>
        <p:txBody>
          <a:bodyPr/>
          <a:lstStyle/>
          <a:p>
            <a:r>
              <a:rPr lang="en-US" dirty="0"/>
              <a:t>Key Features of Random Forest</a:t>
            </a:r>
            <a:endParaRPr lang="en-IN" dirty="0"/>
          </a:p>
        </p:txBody>
      </p:sp>
      <p:sp>
        <p:nvSpPr>
          <p:cNvPr id="3" name="Content Placeholder 2">
            <a:extLst>
              <a:ext uri="{FF2B5EF4-FFF2-40B4-BE49-F238E27FC236}">
                <a16:creationId xmlns:a16="http://schemas.microsoft.com/office/drawing/2014/main" id="{DAFD9F68-B130-0A9C-3F93-1E17E7B47C4A}"/>
              </a:ext>
            </a:extLst>
          </p:cNvPr>
          <p:cNvSpPr>
            <a:spLocks noGrp="1"/>
          </p:cNvSpPr>
          <p:nvPr>
            <p:ph idx="1"/>
          </p:nvPr>
        </p:nvSpPr>
        <p:spPr/>
        <p:txBody>
          <a:bodyPr/>
          <a:lstStyle/>
          <a:p>
            <a:endParaRPr lang="en-US" dirty="0"/>
          </a:p>
          <a:p>
            <a:r>
              <a:rPr lang="en-US" dirty="0"/>
              <a:t>Handles missing data well.</a:t>
            </a:r>
          </a:p>
          <a:p>
            <a:r>
              <a:rPr lang="en-US" dirty="0"/>
              <a:t>Shows which features are most important.</a:t>
            </a:r>
          </a:p>
          <a:p>
            <a:r>
              <a:rPr lang="en-US" dirty="0"/>
              <a:t>Works efficiently with big and complex datasets.</a:t>
            </a:r>
          </a:p>
          <a:p>
            <a:r>
              <a:rPr lang="en-US" dirty="0"/>
              <a:t>Used for both classification (labels) and regression (numbers).</a:t>
            </a:r>
          </a:p>
          <a:p>
            <a:endParaRPr lang="en-IN" dirty="0"/>
          </a:p>
        </p:txBody>
      </p:sp>
    </p:spTree>
    <p:extLst>
      <p:ext uri="{BB962C8B-B14F-4D97-AF65-F5344CB8AC3E}">
        <p14:creationId xmlns:p14="http://schemas.microsoft.com/office/powerpoint/2010/main" val="22458880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Random Forests?</a:t>
            </a:r>
          </a:p>
        </p:txBody>
      </p:sp>
      <p:sp>
        <p:nvSpPr>
          <p:cNvPr id="3" name="Content Placeholder 2"/>
          <p:cNvSpPr>
            <a:spLocks noGrp="1"/>
          </p:cNvSpPr>
          <p:nvPr>
            <p:ph idx="1"/>
          </p:nvPr>
        </p:nvSpPr>
        <p:spPr/>
        <p:txBody>
          <a:bodyPr/>
          <a:lstStyle/>
          <a:p>
            <a:r>
              <a:rPr dirty="0"/>
              <a:t> Reduces overfitting (high variance → low variance)</a:t>
            </a:r>
          </a:p>
          <a:p>
            <a:r>
              <a:rPr dirty="0"/>
              <a:t> Handles missing data &amp; large feature sets</a:t>
            </a:r>
          </a:p>
          <a:p>
            <a:r>
              <a:rPr dirty="0"/>
              <a:t> More accurate &amp; robust than single tree</a:t>
            </a:r>
          </a:p>
          <a:p>
            <a:r>
              <a:rPr dirty="0"/>
              <a:t> Can estimate feature importance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Feature Importance in Random Forests</a:t>
            </a:r>
          </a:p>
        </p:txBody>
      </p:sp>
      <p:sp>
        <p:nvSpPr>
          <p:cNvPr id="3" name="Content Placeholder 2"/>
          <p:cNvSpPr>
            <a:spLocks noGrp="1"/>
          </p:cNvSpPr>
          <p:nvPr>
            <p:ph idx="1"/>
          </p:nvPr>
        </p:nvSpPr>
        <p:spPr/>
        <p:txBody>
          <a:bodyPr/>
          <a:lstStyle/>
          <a:p>
            <a:pPr marL="0" indent="0">
              <a:buNone/>
            </a:pPr>
            <a:r>
              <a:rPr dirty="0"/>
              <a:t>- Each split reduces impurity → record total decrease per feature</a:t>
            </a:r>
          </a:p>
          <a:p>
            <a:pPr marL="0" indent="0">
              <a:buNone/>
            </a:pPr>
            <a:r>
              <a:rPr dirty="0"/>
              <a:t>- Average across trees → feature importance score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8CDE4-5E99-B0B0-C55E-0E8548BCCC64}"/>
              </a:ext>
            </a:extLst>
          </p:cNvPr>
          <p:cNvSpPr>
            <a:spLocks noGrp="1"/>
          </p:cNvSpPr>
          <p:nvPr>
            <p:ph type="title"/>
          </p:nvPr>
        </p:nvSpPr>
        <p:spPr/>
        <p:txBody>
          <a:bodyPr/>
          <a:lstStyle/>
          <a:p>
            <a:r>
              <a:rPr lang="en-US" dirty="0"/>
              <a:t>Limitations of Random Forest</a:t>
            </a:r>
            <a:endParaRPr lang="en-IN" dirty="0"/>
          </a:p>
        </p:txBody>
      </p:sp>
      <p:sp>
        <p:nvSpPr>
          <p:cNvPr id="3" name="Content Placeholder 2">
            <a:extLst>
              <a:ext uri="{FF2B5EF4-FFF2-40B4-BE49-F238E27FC236}">
                <a16:creationId xmlns:a16="http://schemas.microsoft.com/office/drawing/2014/main" id="{C0E33D0A-BA55-EA40-487F-17CEE60AFBA5}"/>
              </a:ext>
            </a:extLst>
          </p:cNvPr>
          <p:cNvSpPr>
            <a:spLocks noGrp="1"/>
          </p:cNvSpPr>
          <p:nvPr>
            <p:ph idx="1"/>
          </p:nvPr>
        </p:nvSpPr>
        <p:spPr/>
        <p:txBody>
          <a:bodyPr/>
          <a:lstStyle/>
          <a:p>
            <a:endParaRPr lang="en-US" dirty="0"/>
          </a:p>
          <a:p>
            <a:r>
              <a:rPr lang="en-US" dirty="0"/>
              <a:t>Can be computationally expensive with many trees.</a:t>
            </a:r>
          </a:p>
          <a:p>
            <a:r>
              <a:rPr lang="en-US" dirty="0"/>
              <a:t>Harder to interpret than single decision trees.</a:t>
            </a:r>
          </a:p>
          <a:p>
            <a:endParaRPr lang="en-IN" dirty="0"/>
          </a:p>
        </p:txBody>
      </p:sp>
    </p:spTree>
    <p:extLst>
      <p:ext uri="{BB962C8B-B14F-4D97-AF65-F5344CB8AC3E}">
        <p14:creationId xmlns:p14="http://schemas.microsoft.com/office/powerpoint/2010/main" val="40347766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Comparison Table</a:t>
            </a:r>
          </a:p>
        </p:txBody>
      </p:sp>
      <p:graphicFrame>
        <p:nvGraphicFramePr>
          <p:cNvPr id="4" name="Content Placeholder 3">
            <a:extLst>
              <a:ext uri="{FF2B5EF4-FFF2-40B4-BE49-F238E27FC236}">
                <a16:creationId xmlns:a16="http://schemas.microsoft.com/office/drawing/2014/main" id="{7753404A-BCC0-A129-2661-C6FDE9FD5EF1}"/>
              </a:ext>
            </a:extLst>
          </p:cNvPr>
          <p:cNvGraphicFramePr>
            <a:graphicFrameLocks noGrp="1"/>
          </p:cNvGraphicFramePr>
          <p:nvPr>
            <p:ph idx="1"/>
            <p:extLst>
              <p:ext uri="{D42A27DB-BD31-4B8C-83A1-F6EECF244321}">
                <p14:modId xmlns:p14="http://schemas.microsoft.com/office/powerpoint/2010/main" val="2979839151"/>
              </p:ext>
            </p:extLst>
          </p:nvPr>
        </p:nvGraphicFramePr>
        <p:xfrm>
          <a:off x="457200" y="1714340"/>
          <a:ext cx="8302752" cy="4558442"/>
        </p:xfrm>
        <a:graphic>
          <a:graphicData uri="http://schemas.openxmlformats.org/drawingml/2006/table">
            <a:tbl>
              <a:tblPr/>
              <a:tblGrid>
                <a:gridCol w="2767584">
                  <a:extLst>
                    <a:ext uri="{9D8B030D-6E8A-4147-A177-3AD203B41FA5}">
                      <a16:colId xmlns:a16="http://schemas.microsoft.com/office/drawing/2014/main" val="2664221304"/>
                    </a:ext>
                  </a:extLst>
                </a:gridCol>
                <a:gridCol w="2767584">
                  <a:extLst>
                    <a:ext uri="{9D8B030D-6E8A-4147-A177-3AD203B41FA5}">
                      <a16:colId xmlns:a16="http://schemas.microsoft.com/office/drawing/2014/main" val="3243817178"/>
                    </a:ext>
                  </a:extLst>
                </a:gridCol>
                <a:gridCol w="2767584">
                  <a:extLst>
                    <a:ext uri="{9D8B030D-6E8A-4147-A177-3AD203B41FA5}">
                      <a16:colId xmlns:a16="http://schemas.microsoft.com/office/drawing/2014/main" val="1842172998"/>
                    </a:ext>
                  </a:extLst>
                </a:gridCol>
              </a:tblGrid>
              <a:tr h="651206">
                <a:tc>
                  <a:txBody>
                    <a:bodyPr/>
                    <a:lstStyle/>
                    <a:p>
                      <a:pPr>
                        <a:buNone/>
                      </a:pPr>
                      <a:r>
                        <a:rPr lang="en-IN" b="1" dirty="0"/>
                        <a:t>Aspect</a:t>
                      </a:r>
                      <a:endParaRPr lang="en-IN" dirty="0"/>
                    </a:p>
                  </a:txBody>
                  <a:tcPr anchor="ctr">
                    <a:lnL>
                      <a:noFill/>
                    </a:lnL>
                    <a:lnR>
                      <a:noFill/>
                    </a:lnR>
                    <a:lnT>
                      <a:noFill/>
                    </a:lnT>
                    <a:lnB>
                      <a:noFill/>
                    </a:lnB>
                    <a:noFill/>
                  </a:tcPr>
                </a:tc>
                <a:tc>
                  <a:txBody>
                    <a:bodyPr/>
                    <a:lstStyle/>
                    <a:p>
                      <a:pPr>
                        <a:buNone/>
                      </a:pPr>
                      <a:r>
                        <a:rPr lang="en-IN" b="1" dirty="0"/>
                        <a:t>Decision Tree</a:t>
                      </a:r>
                      <a:endParaRPr lang="en-IN" dirty="0"/>
                    </a:p>
                  </a:txBody>
                  <a:tcPr anchor="ctr">
                    <a:lnL>
                      <a:noFill/>
                    </a:lnL>
                    <a:lnR>
                      <a:noFill/>
                    </a:lnR>
                    <a:lnT>
                      <a:noFill/>
                    </a:lnT>
                    <a:lnB>
                      <a:noFill/>
                    </a:lnB>
                    <a:noFill/>
                  </a:tcPr>
                </a:tc>
                <a:tc>
                  <a:txBody>
                    <a:bodyPr/>
                    <a:lstStyle/>
                    <a:p>
                      <a:pPr>
                        <a:buNone/>
                      </a:pPr>
                      <a:r>
                        <a:rPr lang="en-IN" b="1" dirty="0"/>
                        <a:t>Random Forest</a:t>
                      </a:r>
                      <a:endParaRPr lang="en-IN" dirty="0"/>
                    </a:p>
                  </a:txBody>
                  <a:tcPr anchor="ctr">
                    <a:lnL>
                      <a:noFill/>
                    </a:lnL>
                    <a:lnR>
                      <a:noFill/>
                    </a:lnR>
                    <a:lnT>
                      <a:noFill/>
                    </a:lnT>
                    <a:lnB>
                      <a:noFill/>
                    </a:lnB>
                    <a:noFill/>
                  </a:tcPr>
                </a:tc>
                <a:extLst>
                  <a:ext uri="{0D108BD9-81ED-4DB2-BD59-A6C34878D82A}">
                    <a16:rowId xmlns:a16="http://schemas.microsoft.com/office/drawing/2014/main" val="3558697743"/>
                  </a:ext>
                </a:extLst>
              </a:tr>
              <a:tr h="651206">
                <a:tc>
                  <a:txBody>
                    <a:bodyPr/>
                    <a:lstStyle/>
                    <a:p>
                      <a:pPr>
                        <a:buNone/>
                      </a:pPr>
                      <a:r>
                        <a:rPr lang="en-IN" b="1" dirty="0"/>
                        <a:t>Model Type</a:t>
                      </a:r>
                      <a:endParaRPr lang="en-IN" dirty="0"/>
                    </a:p>
                  </a:txBody>
                  <a:tcPr anchor="ctr">
                    <a:lnL>
                      <a:noFill/>
                    </a:lnL>
                    <a:lnR>
                      <a:noFill/>
                    </a:lnR>
                    <a:lnT>
                      <a:noFill/>
                    </a:lnT>
                    <a:lnB>
                      <a:noFill/>
                    </a:lnB>
                    <a:noFill/>
                  </a:tcPr>
                </a:tc>
                <a:tc>
                  <a:txBody>
                    <a:bodyPr/>
                    <a:lstStyle/>
                    <a:p>
                      <a:pPr>
                        <a:buNone/>
                      </a:pPr>
                      <a:r>
                        <a:rPr lang="en-IN" dirty="0"/>
                        <a:t>Single model</a:t>
                      </a:r>
                    </a:p>
                  </a:txBody>
                  <a:tcPr anchor="ctr">
                    <a:lnL>
                      <a:noFill/>
                    </a:lnL>
                    <a:lnR>
                      <a:noFill/>
                    </a:lnR>
                    <a:lnT>
                      <a:noFill/>
                    </a:lnT>
                    <a:lnB>
                      <a:noFill/>
                    </a:lnB>
                    <a:noFill/>
                  </a:tcPr>
                </a:tc>
                <a:tc>
                  <a:txBody>
                    <a:bodyPr/>
                    <a:lstStyle/>
                    <a:p>
                      <a:pPr>
                        <a:buNone/>
                      </a:pPr>
                      <a:r>
                        <a:rPr lang="en-IN" dirty="0"/>
                        <a:t>Ensemble of multiple trees</a:t>
                      </a:r>
                    </a:p>
                  </a:txBody>
                  <a:tcPr anchor="ctr">
                    <a:lnL>
                      <a:noFill/>
                    </a:lnL>
                    <a:lnR>
                      <a:noFill/>
                    </a:lnR>
                    <a:lnT>
                      <a:noFill/>
                    </a:lnT>
                    <a:lnB>
                      <a:noFill/>
                    </a:lnB>
                    <a:noFill/>
                  </a:tcPr>
                </a:tc>
                <a:extLst>
                  <a:ext uri="{0D108BD9-81ED-4DB2-BD59-A6C34878D82A}">
                    <a16:rowId xmlns:a16="http://schemas.microsoft.com/office/drawing/2014/main" val="3757499872"/>
                  </a:ext>
                </a:extLst>
              </a:tr>
              <a:tr h="651206">
                <a:tc>
                  <a:txBody>
                    <a:bodyPr/>
                    <a:lstStyle/>
                    <a:p>
                      <a:pPr>
                        <a:buNone/>
                      </a:pPr>
                      <a:r>
                        <a:rPr lang="en-IN" b="1" dirty="0"/>
                        <a:t>Overfitting</a:t>
                      </a:r>
                      <a:endParaRPr lang="en-IN" dirty="0"/>
                    </a:p>
                  </a:txBody>
                  <a:tcPr anchor="ctr">
                    <a:lnL>
                      <a:noFill/>
                    </a:lnL>
                    <a:lnR>
                      <a:noFill/>
                    </a:lnR>
                    <a:lnT>
                      <a:noFill/>
                    </a:lnT>
                    <a:lnB>
                      <a:noFill/>
                    </a:lnB>
                    <a:noFill/>
                  </a:tcPr>
                </a:tc>
                <a:tc>
                  <a:txBody>
                    <a:bodyPr/>
                    <a:lstStyle/>
                    <a:p>
                      <a:pPr>
                        <a:buNone/>
                      </a:pPr>
                      <a:r>
                        <a:rPr lang="en-IN" dirty="0"/>
                        <a:t>High</a:t>
                      </a:r>
                    </a:p>
                  </a:txBody>
                  <a:tcPr anchor="ctr">
                    <a:lnL>
                      <a:noFill/>
                    </a:lnL>
                    <a:lnR>
                      <a:noFill/>
                    </a:lnR>
                    <a:lnT>
                      <a:noFill/>
                    </a:lnT>
                    <a:lnB>
                      <a:noFill/>
                    </a:lnB>
                    <a:noFill/>
                  </a:tcPr>
                </a:tc>
                <a:tc>
                  <a:txBody>
                    <a:bodyPr/>
                    <a:lstStyle/>
                    <a:p>
                      <a:pPr>
                        <a:buNone/>
                      </a:pPr>
                      <a:r>
                        <a:rPr lang="en-IN" dirty="0"/>
                        <a:t>Low</a:t>
                      </a:r>
                    </a:p>
                  </a:txBody>
                  <a:tcPr anchor="ctr">
                    <a:lnL>
                      <a:noFill/>
                    </a:lnL>
                    <a:lnR>
                      <a:noFill/>
                    </a:lnR>
                    <a:lnT>
                      <a:noFill/>
                    </a:lnT>
                    <a:lnB>
                      <a:noFill/>
                    </a:lnB>
                    <a:noFill/>
                  </a:tcPr>
                </a:tc>
                <a:extLst>
                  <a:ext uri="{0D108BD9-81ED-4DB2-BD59-A6C34878D82A}">
                    <a16:rowId xmlns:a16="http://schemas.microsoft.com/office/drawing/2014/main" val="704286054"/>
                  </a:ext>
                </a:extLst>
              </a:tr>
              <a:tr h="651206">
                <a:tc>
                  <a:txBody>
                    <a:bodyPr/>
                    <a:lstStyle/>
                    <a:p>
                      <a:pPr>
                        <a:buNone/>
                      </a:pPr>
                      <a:r>
                        <a:rPr lang="en-IN" b="1" dirty="0"/>
                        <a:t>Accuracy</a:t>
                      </a:r>
                      <a:endParaRPr lang="en-IN" dirty="0"/>
                    </a:p>
                  </a:txBody>
                  <a:tcPr anchor="ctr">
                    <a:lnL>
                      <a:noFill/>
                    </a:lnL>
                    <a:lnR>
                      <a:noFill/>
                    </a:lnR>
                    <a:lnT>
                      <a:noFill/>
                    </a:lnT>
                    <a:lnB>
                      <a:noFill/>
                    </a:lnB>
                    <a:noFill/>
                  </a:tcPr>
                </a:tc>
                <a:tc>
                  <a:txBody>
                    <a:bodyPr/>
                    <a:lstStyle/>
                    <a:p>
                      <a:pPr>
                        <a:buNone/>
                      </a:pPr>
                      <a:r>
                        <a:rPr lang="en-IN" dirty="0"/>
                        <a:t>Moderate</a:t>
                      </a:r>
                    </a:p>
                  </a:txBody>
                  <a:tcPr anchor="ctr">
                    <a:lnL>
                      <a:noFill/>
                    </a:lnL>
                    <a:lnR>
                      <a:noFill/>
                    </a:lnR>
                    <a:lnT>
                      <a:noFill/>
                    </a:lnT>
                    <a:lnB>
                      <a:noFill/>
                    </a:lnB>
                    <a:noFill/>
                  </a:tcPr>
                </a:tc>
                <a:tc>
                  <a:txBody>
                    <a:bodyPr/>
                    <a:lstStyle/>
                    <a:p>
                      <a:pPr>
                        <a:buNone/>
                      </a:pPr>
                      <a:r>
                        <a:rPr lang="en-IN" dirty="0"/>
                        <a:t>High</a:t>
                      </a:r>
                    </a:p>
                  </a:txBody>
                  <a:tcPr anchor="ctr">
                    <a:lnL>
                      <a:noFill/>
                    </a:lnL>
                    <a:lnR>
                      <a:noFill/>
                    </a:lnR>
                    <a:lnT>
                      <a:noFill/>
                    </a:lnT>
                    <a:lnB>
                      <a:noFill/>
                    </a:lnB>
                    <a:noFill/>
                  </a:tcPr>
                </a:tc>
                <a:extLst>
                  <a:ext uri="{0D108BD9-81ED-4DB2-BD59-A6C34878D82A}">
                    <a16:rowId xmlns:a16="http://schemas.microsoft.com/office/drawing/2014/main" val="3714690661"/>
                  </a:ext>
                </a:extLst>
              </a:tr>
              <a:tr h="651206">
                <a:tc>
                  <a:txBody>
                    <a:bodyPr/>
                    <a:lstStyle/>
                    <a:p>
                      <a:pPr>
                        <a:buNone/>
                      </a:pPr>
                      <a:r>
                        <a:rPr lang="en-IN" b="1" dirty="0"/>
                        <a:t>Interpretability</a:t>
                      </a:r>
                      <a:endParaRPr lang="en-IN" dirty="0"/>
                    </a:p>
                  </a:txBody>
                  <a:tcPr anchor="ctr">
                    <a:lnL>
                      <a:noFill/>
                    </a:lnL>
                    <a:lnR>
                      <a:noFill/>
                    </a:lnR>
                    <a:lnT>
                      <a:noFill/>
                    </a:lnT>
                    <a:lnB>
                      <a:noFill/>
                    </a:lnB>
                    <a:noFill/>
                  </a:tcPr>
                </a:tc>
                <a:tc>
                  <a:txBody>
                    <a:bodyPr/>
                    <a:lstStyle/>
                    <a:p>
                      <a:pPr>
                        <a:buNone/>
                      </a:pPr>
                      <a:r>
                        <a:rPr lang="en-IN" dirty="0"/>
                        <a:t>Easy to interpret</a:t>
                      </a:r>
                    </a:p>
                  </a:txBody>
                  <a:tcPr anchor="ctr">
                    <a:lnL>
                      <a:noFill/>
                    </a:lnL>
                    <a:lnR>
                      <a:noFill/>
                    </a:lnR>
                    <a:lnT>
                      <a:noFill/>
                    </a:lnT>
                    <a:lnB>
                      <a:noFill/>
                    </a:lnB>
                    <a:noFill/>
                  </a:tcPr>
                </a:tc>
                <a:tc>
                  <a:txBody>
                    <a:bodyPr/>
                    <a:lstStyle/>
                    <a:p>
                      <a:pPr>
                        <a:buNone/>
                      </a:pPr>
                      <a:r>
                        <a:rPr lang="en-IN" dirty="0"/>
                        <a:t>Harder to interpret</a:t>
                      </a:r>
                    </a:p>
                  </a:txBody>
                  <a:tcPr anchor="ctr">
                    <a:lnL>
                      <a:noFill/>
                    </a:lnL>
                    <a:lnR>
                      <a:noFill/>
                    </a:lnR>
                    <a:lnT>
                      <a:noFill/>
                    </a:lnT>
                    <a:lnB>
                      <a:noFill/>
                    </a:lnB>
                    <a:noFill/>
                  </a:tcPr>
                </a:tc>
                <a:extLst>
                  <a:ext uri="{0D108BD9-81ED-4DB2-BD59-A6C34878D82A}">
                    <a16:rowId xmlns:a16="http://schemas.microsoft.com/office/drawing/2014/main" val="3867781155"/>
                  </a:ext>
                </a:extLst>
              </a:tr>
              <a:tr h="651206">
                <a:tc>
                  <a:txBody>
                    <a:bodyPr/>
                    <a:lstStyle/>
                    <a:p>
                      <a:pPr>
                        <a:buNone/>
                      </a:pPr>
                      <a:r>
                        <a:rPr lang="en-IN" b="1" dirty="0"/>
                        <a:t>Training Time</a:t>
                      </a:r>
                      <a:endParaRPr lang="en-IN" dirty="0"/>
                    </a:p>
                  </a:txBody>
                  <a:tcPr anchor="ctr">
                    <a:lnL>
                      <a:noFill/>
                    </a:lnL>
                    <a:lnR>
                      <a:noFill/>
                    </a:lnR>
                    <a:lnT>
                      <a:noFill/>
                    </a:lnT>
                    <a:lnB>
                      <a:noFill/>
                    </a:lnB>
                    <a:noFill/>
                  </a:tcPr>
                </a:tc>
                <a:tc>
                  <a:txBody>
                    <a:bodyPr/>
                    <a:lstStyle/>
                    <a:p>
                      <a:pPr>
                        <a:buNone/>
                      </a:pPr>
                      <a:r>
                        <a:rPr lang="en-IN" dirty="0"/>
                        <a:t>Fast</a:t>
                      </a:r>
                    </a:p>
                  </a:txBody>
                  <a:tcPr anchor="ctr">
                    <a:lnL>
                      <a:noFill/>
                    </a:lnL>
                    <a:lnR>
                      <a:noFill/>
                    </a:lnR>
                    <a:lnT>
                      <a:noFill/>
                    </a:lnT>
                    <a:lnB>
                      <a:noFill/>
                    </a:lnB>
                    <a:noFill/>
                  </a:tcPr>
                </a:tc>
                <a:tc>
                  <a:txBody>
                    <a:bodyPr/>
                    <a:lstStyle/>
                    <a:p>
                      <a:pPr>
                        <a:buNone/>
                      </a:pPr>
                      <a:r>
                        <a:rPr lang="en-IN" dirty="0"/>
                        <a:t>Slower</a:t>
                      </a:r>
                    </a:p>
                  </a:txBody>
                  <a:tcPr anchor="ctr">
                    <a:lnL>
                      <a:noFill/>
                    </a:lnL>
                    <a:lnR>
                      <a:noFill/>
                    </a:lnR>
                    <a:lnT>
                      <a:noFill/>
                    </a:lnT>
                    <a:lnB>
                      <a:noFill/>
                    </a:lnB>
                    <a:noFill/>
                  </a:tcPr>
                </a:tc>
                <a:extLst>
                  <a:ext uri="{0D108BD9-81ED-4DB2-BD59-A6C34878D82A}">
                    <a16:rowId xmlns:a16="http://schemas.microsoft.com/office/drawing/2014/main" val="1710959081"/>
                  </a:ext>
                </a:extLst>
              </a:tr>
              <a:tr h="651206">
                <a:tc>
                  <a:txBody>
                    <a:bodyPr/>
                    <a:lstStyle/>
                    <a:p>
                      <a:pPr>
                        <a:buNone/>
                      </a:pPr>
                      <a:r>
                        <a:rPr lang="en-IN" b="1" dirty="0"/>
                        <a:t>Robustness</a:t>
                      </a:r>
                      <a:endParaRPr lang="en-IN" dirty="0"/>
                    </a:p>
                  </a:txBody>
                  <a:tcPr anchor="ctr">
                    <a:lnL>
                      <a:noFill/>
                    </a:lnL>
                    <a:lnR>
                      <a:noFill/>
                    </a:lnR>
                    <a:lnT>
                      <a:noFill/>
                    </a:lnT>
                    <a:lnB>
                      <a:noFill/>
                    </a:lnB>
                    <a:noFill/>
                  </a:tcPr>
                </a:tc>
                <a:tc>
                  <a:txBody>
                    <a:bodyPr/>
                    <a:lstStyle/>
                    <a:p>
                      <a:pPr>
                        <a:buNone/>
                      </a:pPr>
                      <a:r>
                        <a:rPr lang="en-IN" dirty="0"/>
                        <a:t>Low</a:t>
                      </a:r>
                    </a:p>
                  </a:txBody>
                  <a:tcPr anchor="ctr">
                    <a:lnL>
                      <a:noFill/>
                    </a:lnL>
                    <a:lnR>
                      <a:noFill/>
                    </a:lnR>
                    <a:lnT>
                      <a:noFill/>
                    </a:lnT>
                    <a:lnB>
                      <a:noFill/>
                    </a:lnB>
                    <a:noFill/>
                  </a:tcPr>
                </a:tc>
                <a:tc>
                  <a:txBody>
                    <a:bodyPr/>
                    <a:lstStyle/>
                    <a:p>
                      <a:pPr>
                        <a:buNone/>
                      </a:pPr>
                      <a:r>
                        <a:rPr lang="en-IN" dirty="0"/>
                        <a:t>High</a:t>
                      </a:r>
                    </a:p>
                  </a:txBody>
                  <a:tcPr anchor="ctr">
                    <a:lnL>
                      <a:noFill/>
                    </a:lnL>
                    <a:lnR>
                      <a:noFill/>
                    </a:lnR>
                    <a:lnT>
                      <a:noFill/>
                    </a:lnT>
                    <a:lnB>
                      <a:noFill/>
                    </a:lnB>
                    <a:noFill/>
                  </a:tcPr>
                </a:tc>
                <a:extLst>
                  <a:ext uri="{0D108BD9-81ED-4DB2-BD59-A6C34878D82A}">
                    <a16:rowId xmlns:a16="http://schemas.microsoft.com/office/drawing/2014/main" val="875716090"/>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Summary</a:t>
            </a:r>
          </a:p>
        </p:txBody>
      </p:sp>
      <p:sp>
        <p:nvSpPr>
          <p:cNvPr id="3" name="Content Placeholder 2"/>
          <p:cNvSpPr>
            <a:spLocks noGrp="1"/>
          </p:cNvSpPr>
          <p:nvPr>
            <p:ph idx="1"/>
          </p:nvPr>
        </p:nvSpPr>
        <p:spPr/>
        <p:txBody>
          <a:bodyPr/>
          <a:lstStyle/>
          <a:p>
            <a:pPr marL="0" indent="0">
              <a:buNone/>
            </a:pPr>
            <a:r>
              <a:rPr dirty="0"/>
              <a:t>- Decision Trees → Simple, interpretable</a:t>
            </a:r>
          </a:p>
          <a:p>
            <a:pPr marL="0" indent="0">
              <a:buNone/>
            </a:pPr>
            <a:r>
              <a:rPr dirty="0"/>
              <a:t>- Splitting criteria → Gini, Entropy, Chi-square</a:t>
            </a:r>
          </a:p>
          <a:p>
            <a:pPr marL="0" indent="0">
              <a:buNone/>
            </a:pPr>
            <a:r>
              <a:rPr dirty="0"/>
              <a:t>- Pruning → Controls complexity</a:t>
            </a:r>
          </a:p>
          <a:p>
            <a:pPr marL="0" indent="0">
              <a:buNone/>
            </a:pPr>
            <a:r>
              <a:rPr dirty="0"/>
              <a:t>- Random Forests → Ensemble for accuracy &amp; robustness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Takeaways</a:t>
            </a:r>
          </a:p>
        </p:txBody>
      </p:sp>
      <p:sp>
        <p:nvSpPr>
          <p:cNvPr id="3" name="Content Placeholder 2"/>
          <p:cNvSpPr>
            <a:spLocks noGrp="1"/>
          </p:cNvSpPr>
          <p:nvPr>
            <p:ph idx="1"/>
          </p:nvPr>
        </p:nvSpPr>
        <p:spPr/>
        <p:txBody>
          <a:bodyPr/>
          <a:lstStyle/>
          <a:p>
            <a:pPr marL="0" indent="0">
              <a:buNone/>
            </a:pPr>
            <a:r>
              <a:rPr dirty="0"/>
              <a:t>🌟 Decision Trees — foundation of many ML algorithms</a:t>
            </a:r>
          </a:p>
          <a:p>
            <a:pPr marL="0" indent="0">
              <a:buNone/>
            </a:pPr>
            <a:r>
              <a:rPr dirty="0"/>
              <a:t>🌟 Random Forest — ensemble for accuracy, robustness</a:t>
            </a:r>
          </a:p>
          <a:p>
            <a:pPr marL="0" indent="0">
              <a:buNone/>
            </a:pPr>
            <a:r>
              <a:rPr lang="en-IN" dirty="0"/>
              <a:t>🌟</a:t>
            </a:r>
            <a:r>
              <a:rPr dirty="0"/>
              <a:t> Use pruning &amp; ensembles to avoid overfitting</a:t>
            </a:r>
          </a:p>
          <a:p>
            <a:pPr marL="0" indent="0">
              <a:buNone/>
            </a:pPr>
            <a:r>
              <a:rPr lang="en-IN" dirty="0"/>
              <a:t>🌟</a:t>
            </a:r>
            <a:r>
              <a:rPr dirty="0"/>
              <a:t> Feature importance helps interpret complex models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3549</TotalTime>
  <Words>1901</Words>
  <Application>Microsoft Office PowerPoint</Application>
  <PresentationFormat>On-screen Show (4:3)</PresentationFormat>
  <Paragraphs>279</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Cambria Math</vt:lpstr>
      <vt:lpstr>fkGroteskNeue</vt:lpstr>
      <vt:lpstr>Office Theme</vt:lpstr>
      <vt:lpstr>Decision Trees &amp; Random Forests</vt:lpstr>
      <vt:lpstr>What is Decision Tree?</vt:lpstr>
      <vt:lpstr>Introduction to Decision Trees</vt:lpstr>
      <vt:lpstr>Decision Tree Working Process</vt:lpstr>
      <vt:lpstr>Why Use Decision Trees?</vt:lpstr>
      <vt:lpstr>How Decision Trees Work</vt:lpstr>
      <vt:lpstr>Example - Will a Customer Buy a Product?</vt:lpstr>
      <vt:lpstr>Attribute Selection Measures</vt:lpstr>
      <vt:lpstr>Information Gain </vt:lpstr>
      <vt:lpstr>Entropy</vt:lpstr>
      <vt:lpstr>Example: Entropy Calculation</vt:lpstr>
      <vt:lpstr>Examples</vt:lpstr>
      <vt:lpstr>Splitting and Final Tree Construction:</vt:lpstr>
      <vt:lpstr>PowerPoint Presentation</vt:lpstr>
      <vt:lpstr>PowerPoint Presentation</vt:lpstr>
      <vt:lpstr>PowerPoint Presentation</vt:lpstr>
      <vt:lpstr>Numerical Example: Inormation Gain</vt:lpstr>
      <vt:lpstr>PowerPoint Presentation</vt:lpstr>
      <vt:lpstr>Gini Index </vt:lpstr>
      <vt:lpstr>Calculating Gini: Tennis Example</vt:lpstr>
      <vt:lpstr>Splitting Criteria</vt:lpstr>
      <vt:lpstr>Decision Trees: All Steps</vt:lpstr>
      <vt:lpstr>PowerPoint Presentation</vt:lpstr>
      <vt:lpstr>Overfitting &amp; Need for Pruning</vt:lpstr>
      <vt:lpstr>Pre-Pruning (Early Stopping)</vt:lpstr>
      <vt:lpstr>Post-Pruning (Reducing Nodes)</vt:lpstr>
      <vt:lpstr>Random Forests </vt:lpstr>
      <vt:lpstr>PowerPoint Presentation</vt:lpstr>
      <vt:lpstr>How Does Random Forest Work?</vt:lpstr>
      <vt:lpstr>Key Features of Random Forest</vt:lpstr>
      <vt:lpstr>Why Random Forests?</vt:lpstr>
      <vt:lpstr>Feature Importance in Random Forests</vt:lpstr>
      <vt:lpstr>Limitations of Random Forest</vt:lpstr>
      <vt:lpstr>Comparison Table</vt:lpstr>
      <vt:lpstr>Summary</vt:lpstr>
      <vt:lpstr>Key Takeaways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Sidharth Sharma</cp:lastModifiedBy>
  <cp:revision>13</cp:revision>
  <dcterms:created xsi:type="dcterms:W3CDTF">2013-01-27T09:14:16Z</dcterms:created>
  <dcterms:modified xsi:type="dcterms:W3CDTF">2025-11-05T15:42:01Z</dcterms:modified>
  <cp:category/>
</cp:coreProperties>
</file>