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71" r:id="rId8"/>
    <p:sldId id="270" r:id="rId9"/>
    <p:sldId id="261" r:id="rId10"/>
    <p:sldId id="273" r:id="rId11"/>
    <p:sldId id="274" r:id="rId12"/>
    <p:sldId id="275" r:id="rId13"/>
    <p:sldId id="276" r:id="rId14"/>
    <p:sldId id="262" r:id="rId15"/>
    <p:sldId id="272" r:id="rId16"/>
    <p:sldId id="269" r:id="rId17"/>
    <p:sldId id="264" r:id="rId18"/>
    <p:sldId id="266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203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Multiple Linear Regression (MLR)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Multicollinearity, Categorical Variables, Adjusted R², Hands-on Example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5400" dirty="0"/>
          </a:p>
          <a:p>
            <a:pPr>
              <a:defRPr sz="2000"/>
            </a:pPr>
            <a:r>
              <a:rPr sz="2800" dirty="0"/>
              <a:t>MLR models relationship between one dependent variable and multiple independent variables.</a:t>
            </a:r>
          </a:p>
          <a:p>
            <a:pPr>
              <a:defRPr sz="2000"/>
            </a:pPr>
            <a:r>
              <a:rPr sz="2800" dirty="0"/>
              <a:t>Equation: Y = β₀ + β₁X₁ + β₂X₂ + ... + β</a:t>
            </a:r>
            <a:r>
              <a:rPr sz="2800" baseline="-25000" dirty="0" err="1"/>
              <a:t>n</a:t>
            </a:r>
            <a:r>
              <a:rPr sz="2800" dirty="0" err="1"/>
              <a:t>X</a:t>
            </a:r>
            <a:r>
              <a:rPr sz="2800" baseline="-25000" dirty="0" err="1"/>
              <a:t>n</a:t>
            </a:r>
            <a:r>
              <a:rPr sz="2800" baseline="-25000" dirty="0"/>
              <a:t> </a:t>
            </a:r>
            <a:r>
              <a:rPr sz="2800" dirty="0"/>
              <a:t>+ ε</a:t>
            </a:r>
          </a:p>
          <a:p>
            <a:pPr>
              <a:defRPr sz="2000"/>
            </a:pPr>
            <a:r>
              <a:rPr sz="2800" dirty="0"/>
              <a:t>Goal: Predict outcomes and understand influence of predictors.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sz="2800" dirty="0"/>
              <a:t>Dependent Variable (Y): outcome to predict.</a:t>
            </a:r>
          </a:p>
          <a:p>
            <a:pPr>
              <a:defRPr sz="2000"/>
            </a:pPr>
            <a:r>
              <a:rPr sz="2800" dirty="0"/>
              <a:t>Independent Variables (X): predictors or features.</a:t>
            </a:r>
          </a:p>
          <a:p>
            <a:pPr>
              <a:defRPr sz="2000"/>
            </a:pPr>
            <a:r>
              <a:rPr sz="2800" dirty="0"/>
              <a:t>Coefficients (β): measure predictor impact.</a:t>
            </a:r>
          </a:p>
          <a:p>
            <a:pPr>
              <a:defRPr sz="2000"/>
            </a:pPr>
            <a:r>
              <a:rPr sz="2800" dirty="0"/>
              <a:t>Error Term (ε): unexplained variability.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Assumptions of MLR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sz="2800" dirty="0"/>
              <a:t>Linearity between predictors and outcome.</a:t>
            </a:r>
          </a:p>
          <a:p>
            <a:pPr>
              <a:defRPr sz="2000"/>
            </a:pPr>
            <a:r>
              <a:rPr sz="2800" dirty="0"/>
              <a:t>Independence of errors.</a:t>
            </a:r>
          </a:p>
          <a:p>
            <a:pPr>
              <a:defRPr sz="2000"/>
            </a:pPr>
            <a:r>
              <a:rPr sz="2800" dirty="0"/>
              <a:t>Homoscedasticity (constant variance of residuals).</a:t>
            </a:r>
          </a:p>
          <a:p>
            <a:pPr>
              <a:defRPr sz="2000"/>
            </a:pPr>
            <a:r>
              <a:rPr sz="2800" dirty="0"/>
              <a:t>No multicollinearity among predictors.</a:t>
            </a:r>
          </a:p>
          <a:p>
            <a:pPr>
              <a:defRPr sz="2000"/>
            </a:pPr>
            <a:r>
              <a:rPr sz="2800" dirty="0"/>
              <a:t>Normality of residuals.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Multicollinearity?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</a:t>
            </a:r>
            <a:r>
              <a:rPr lang="en-US" b="1" dirty="0"/>
              <a:t>Multiple Linear Regression (MLR)</a:t>
            </a:r>
            <a:r>
              <a:rPr lang="en-US" dirty="0"/>
              <a:t>, we assume each predictor (independent variable) gives us </a:t>
            </a:r>
            <a:r>
              <a:rPr lang="en-US" i="1" dirty="0"/>
              <a:t>unique information</a:t>
            </a:r>
            <a:r>
              <a:rPr lang="en-US" dirty="0"/>
              <a:t> about the dependent variable.</a:t>
            </a:r>
          </a:p>
          <a:p>
            <a:r>
              <a:rPr lang="en-US" dirty="0"/>
              <a:t>But if two predictors are </a:t>
            </a:r>
            <a:r>
              <a:rPr lang="en-US" b="1" dirty="0"/>
              <a:t>highly correlated</a:t>
            </a:r>
            <a:r>
              <a:rPr lang="en-US" dirty="0"/>
              <a:t> (e.g., "Size of house in sq ft" and "Number of rooms"), they overlap in the information they provide.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48396-F1F5-70C6-4113-C2F1F9D26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Why is it a problem?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A1E49-E3BB-6561-9565-AF1085063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Makes it </a:t>
            </a:r>
            <a:r>
              <a:rPr lang="en-US" b="1" dirty="0"/>
              <a:t>hard to interpret coefficients</a:t>
            </a:r>
            <a:r>
              <a:rPr lang="en-US" dirty="0"/>
              <a:t> (because the model cannot decide which variable actually explains the change in Y).</a:t>
            </a:r>
          </a:p>
          <a:p>
            <a:r>
              <a:rPr lang="en-US" dirty="0"/>
              <a:t>Leads to </a:t>
            </a:r>
            <a:r>
              <a:rPr lang="en-US" b="1" dirty="0"/>
              <a:t>unstable estimates</a:t>
            </a:r>
            <a:r>
              <a:rPr lang="en-US" dirty="0"/>
              <a:t> (coefficients may flip signs when you add/remove variables).</a:t>
            </a:r>
          </a:p>
          <a:p>
            <a:r>
              <a:rPr lang="en-US" dirty="0"/>
              <a:t>Reduces the </a:t>
            </a:r>
            <a:r>
              <a:rPr lang="en-US" b="1" dirty="0"/>
              <a:t>statistical significance</a:t>
            </a:r>
            <a:r>
              <a:rPr lang="en-US" dirty="0"/>
              <a:t> of predictors.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1716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778DA-842C-35C2-9694-F737D82B2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detect multicollinearity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3CCF2-B8EC-C24F-A4A9-88667C56F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b="1" dirty="0"/>
              <a:t>Correlation matrix: </a:t>
            </a:r>
            <a:r>
              <a:rPr lang="en-US" dirty="0"/>
              <a:t>Calculating a correlation matrix for all independent variables is a basic first step. While this can detect simple pairwise correlations, it may not find more complex relationships.</a:t>
            </a:r>
          </a:p>
          <a:p>
            <a:r>
              <a:rPr lang="en-US" b="1" dirty="0"/>
              <a:t>Variance Inflation Factor (VIF): </a:t>
            </a:r>
            <a:r>
              <a:rPr lang="en-US" dirty="0"/>
              <a:t>A more robust method is to calculate the VIF for each independent variable.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6513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1BB0A-9FD5-2839-3B14-9E2504B5E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How to mitigate multicollinearity?</a:t>
            </a:r>
            <a:endParaRPr lang="en-IN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699EB9-650A-13F9-7915-974AA72ED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Remove a variable:</a:t>
            </a:r>
            <a:r>
              <a:rPr lang="en-US" dirty="0"/>
              <a:t> If two variables are highly correlated, you can remove one of them from the model.</a:t>
            </a:r>
          </a:p>
          <a:p>
            <a:r>
              <a:rPr lang="en-US" b="1" dirty="0"/>
              <a:t>Combine variables:</a:t>
            </a:r>
            <a:r>
              <a:rPr lang="en-US" dirty="0"/>
              <a:t> You can create a composite variable or an index from the correlated variables.</a:t>
            </a:r>
          </a:p>
          <a:p>
            <a:r>
              <a:rPr lang="en-US" b="1" dirty="0"/>
              <a:t>Use regularization methods:</a:t>
            </a:r>
            <a:r>
              <a:rPr lang="en-US" dirty="0"/>
              <a:t> Techniques like Ridge or Lasso regression are designed to handle multicollinearity.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0532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Handling Categorical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Multiple linear regression can incorporate categorical variables by converting them into numerical data using dummy variables. </a:t>
            </a:r>
            <a:endParaRPr dirty="0"/>
          </a:p>
          <a:p>
            <a:pPr>
              <a:defRPr sz="2000"/>
            </a:pPr>
            <a:r>
              <a:rPr sz="2800" dirty="0"/>
              <a:t>Categorical variables must be transformed.</a:t>
            </a:r>
          </a:p>
          <a:p>
            <a:pPr>
              <a:defRPr sz="2000"/>
            </a:pPr>
            <a:r>
              <a:rPr sz="2800" dirty="0"/>
              <a:t>Dummy Variables: convert categories to binary (0/1).</a:t>
            </a:r>
          </a:p>
          <a:p>
            <a:pPr>
              <a:defRPr sz="2000"/>
            </a:pPr>
            <a:r>
              <a:rPr sz="2800" dirty="0"/>
              <a:t>One-hot Encoding: represent each category as a variable.</a:t>
            </a:r>
          </a:p>
          <a:p>
            <a:pPr>
              <a:defRPr sz="2000"/>
            </a:pPr>
            <a:r>
              <a:rPr sz="2800" dirty="0"/>
              <a:t>Example: Gender → Male (0), Female (1).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DD8D-3045-B5AB-B7F1-530AD6889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One Hot Encoding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4EF0D-7BCB-4B56-333B-A7E135A8E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One Hot Encoding</a:t>
            </a:r>
            <a:r>
              <a:rPr lang="en-US" dirty="0"/>
              <a:t> is a </a:t>
            </a:r>
            <a:r>
              <a:rPr lang="en-US" b="1" i="1" dirty="0"/>
              <a:t>method for converting categorical variables into a binary format. </a:t>
            </a:r>
            <a:r>
              <a:rPr lang="en-US" dirty="0"/>
              <a:t>It creates new columns for each category where </a:t>
            </a:r>
            <a:r>
              <a:rPr lang="en-US" b="1" dirty="0"/>
              <a:t>1</a:t>
            </a:r>
            <a:r>
              <a:rPr lang="en-US" dirty="0"/>
              <a:t> means the category is present and </a:t>
            </a:r>
            <a:r>
              <a:rPr lang="en-US" b="1" dirty="0"/>
              <a:t>0</a:t>
            </a:r>
            <a:r>
              <a:rPr lang="en-US" dirty="0"/>
              <a:t> means it is not. The primary purpose of One Hot Encoding is to ensure that categorical data can be effectively used in machine learning models.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9097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B41E3C-D659-3BBD-793D-6125763AE2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6692" y="0"/>
            <a:ext cx="5765671" cy="27981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A5C910-95F5-EDE8-89B1-EFB80CCF0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692" y="3901618"/>
            <a:ext cx="6220172" cy="279720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7650E02-7353-7B0B-41A1-8D7749FE75F5}"/>
              </a:ext>
            </a:extLst>
          </p:cNvPr>
          <p:cNvCxnSpPr>
            <a:stCxn id="5" idx="2"/>
          </p:cNvCxnSpPr>
          <p:nvPr/>
        </p:nvCxnSpPr>
        <p:spPr>
          <a:xfrm flipH="1">
            <a:off x="3769527" y="2798132"/>
            <a:ext cx="1" cy="1247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088B1E9-6D2A-5E41-A6E4-C11BA43C3713}"/>
              </a:ext>
            </a:extLst>
          </p:cNvPr>
          <p:cNvSpPr/>
          <p:nvPr/>
        </p:nvSpPr>
        <p:spPr>
          <a:xfrm>
            <a:off x="3996778" y="3223491"/>
            <a:ext cx="2200822" cy="406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One Hot Encoding</a:t>
            </a:r>
          </a:p>
        </p:txBody>
      </p:sp>
    </p:spTree>
    <p:extLst>
      <p:ext uri="{BB962C8B-B14F-4D97-AF65-F5344CB8AC3E}">
        <p14:creationId xmlns:p14="http://schemas.microsoft.com/office/powerpoint/2010/main" val="2125182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3BA2C-79AC-EA53-D133-352A35CB1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Label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366BD-297E-C7CC-4A0C-3FECFBF19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Label Encoding assigns a unique number to each category but implies an artificial order, while One-Hot Encoding creates a new binary (0/1) column for each category, avoiding ordinality and increasing data dimensionality.</a:t>
            </a:r>
          </a:p>
          <a:p>
            <a:r>
              <a:rPr lang="en-US" i="1" dirty="0"/>
              <a:t>In a dataset with a Fruit column containing "Apple," "Banana," and "Orange," label encoding can map :</a:t>
            </a:r>
            <a:br>
              <a:rPr lang="en-US" dirty="0"/>
            </a:br>
            <a:r>
              <a:rPr lang="en-US" i="1" dirty="0"/>
              <a:t>Apple -&gt; 0 </a:t>
            </a:r>
            <a:br>
              <a:rPr lang="en-US" dirty="0"/>
            </a:br>
            <a:r>
              <a:rPr lang="en-US" i="1" dirty="0"/>
              <a:t>Banana -&gt; 1</a:t>
            </a:r>
            <a:br>
              <a:rPr lang="en-US" dirty="0"/>
            </a:br>
            <a:r>
              <a:rPr lang="en-US" i="1" dirty="0"/>
              <a:t>Orange -&gt; 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0806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726E290-9A1C-6522-17D4-8C2FF8C561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260273"/>
            <a:ext cx="8229600" cy="320581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394D3E-78CC-491E-BCF4-D4403CCBF3F6}"/>
              </a:ext>
            </a:extLst>
          </p:cNvPr>
          <p:cNvSpPr/>
          <p:nvPr/>
        </p:nvSpPr>
        <p:spPr>
          <a:xfrm>
            <a:off x="1191490" y="766618"/>
            <a:ext cx="5098473" cy="9975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Result After Label Encoding</a:t>
            </a:r>
          </a:p>
        </p:txBody>
      </p:sp>
    </p:spTree>
    <p:extLst>
      <p:ext uri="{BB962C8B-B14F-4D97-AF65-F5344CB8AC3E}">
        <p14:creationId xmlns:p14="http://schemas.microsoft.com/office/powerpoint/2010/main" val="3373539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Adjusted R²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coefficient of determination, (R</a:t>
            </a:r>
            <a:r>
              <a:rPr lang="en-US" baseline="30000" dirty="0"/>
              <a:t>2</a:t>
            </a:r>
            <a:r>
              <a:rPr lang="en-US" dirty="0"/>
              <a:t>), measures the proportion of variance in the dependent variable explained by the independent variables.</a:t>
            </a:r>
          </a:p>
          <a:p>
            <a:r>
              <a:rPr lang="en-US" dirty="0"/>
              <a:t> A key limitation of (R</a:t>
            </a:r>
            <a:r>
              <a:rPr lang="en-US" baseline="30000" dirty="0"/>
              <a:t>2</a:t>
            </a:r>
            <a:r>
              <a:rPr lang="en-US" dirty="0"/>
              <a:t>) is that it never decreases as more variables are added to the model, which can lead to overfitting. </a:t>
            </a:r>
            <a:endParaRPr dirty="0"/>
          </a:p>
          <a:p>
            <a:pPr>
              <a:defRPr sz="2000"/>
            </a:pPr>
            <a:r>
              <a:rPr sz="2800" dirty="0"/>
              <a:t>Problem: R² always increases with more variables.</a:t>
            </a:r>
          </a:p>
          <a:p>
            <a:pPr>
              <a:defRPr sz="2000"/>
            </a:pPr>
            <a:r>
              <a:rPr sz="2800" dirty="0"/>
              <a:t>Adjusted R² penalizes irrelevant predictors.</a:t>
            </a:r>
          </a:p>
          <a:p>
            <a:pPr>
              <a:defRPr sz="2000"/>
            </a:pPr>
            <a:r>
              <a:rPr sz="2800" dirty="0"/>
              <a:t>Formula: Adjusted R² = 1 - ((1-R²)(n-1))/(n-k-1).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04404-F235-F161-E6C1-EBD1E3704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adjusted R</a:t>
            </a:r>
            <a:r>
              <a:rPr lang="en-US" baseline="30000" dirty="0"/>
              <a:t>2</a:t>
            </a:r>
            <a:r>
              <a:rPr lang="en-US" dirty="0"/>
              <a:t>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31BE4-EF62-5E4A-1131-BFFE89497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 </a:t>
            </a:r>
            <a:r>
              <a:rPr lang="en-US" b="1" dirty="0"/>
              <a:t>Corrects for overfitting</a:t>
            </a:r>
            <a:r>
              <a:rPr lang="en-US" dirty="0"/>
              <a:t>: Adjusted R</a:t>
            </a:r>
            <a:r>
              <a:rPr lang="en-US" baseline="30000" dirty="0"/>
              <a:t>2</a:t>
            </a:r>
            <a:r>
              <a:rPr lang="en-US" dirty="0"/>
              <a:t> addresses the issue by penalizing the model for each additional independent variable that does not improve the model's explanatory power.</a:t>
            </a:r>
          </a:p>
          <a:p>
            <a:r>
              <a:rPr lang="en-US" b="1" dirty="0"/>
              <a:t>Helps with variable selection: </a:t>
            </a:r>
            <a:r>
              <a:rPr lang="en-US" dirty="0"/>
              <a:t>It provides a better measure of a model's goodness-of-fit, especially when comparing models with different numbers of predictors.</a:t>
            </a:r>
          </a:p>
          <a:p>
            <a:r>
              <a:rPr lang="en-US" b="1" dirty="0"/>
              <a:t>Can decrease: </a:t>
            </a:r>
            <a:r>
              <a:rPr lang="en-US" dirty="0"/>
              <a:t>Unlike R</a:t>
            </a:r>
            <a:r>
              <a:rPr lang="en-US" baseline="30000" dirty="0"/>
              <a:t>2 </a:t>
            </a:r>
            <a:r>
              <a:rPr lang="en-US" dirty="0"/>
              <a:t>, the adjusted R</a:t>
            </a:r>
            <a:r>
              <a:rPr lang="en-US" baseline="30000" dirty="0"/>
              <a:t>2</a:t>
            </a:r>
            <a:r>
              <a:rPr lang="en-US" dirty="0"/>
              <a:t> can decrease if a new variable does not significantly improve the model, providing a more reliable metric.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24965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B143B-0625-45FB-B34E-B81271714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Multivariate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3149C-AD80-1E1D-4653-FFED8011E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2800" b="1" dirty="0"/>
              <a:t>Data with more than one independent variable (feature) affecting the dependent variable (target).</a:t>
            </a:r>
          </a:p>
          <a:p>
            <a:pPr marL="0" indent="0">
              <a:buNone/>
            </a:pPr>
            <a:endParaRPr lang="en-IN" sz="2800" dirty="0"/>
          </a:p>
          <a:p>
            <a:r>
              <a:rPr lang="en-IN" sz="2800" b="1" dirty="0"/>
              <a:t>Univariate dataset</a:t>
            </a:r>
            <a:r>
              <a:rPr lang="en-IN" sz="2800" dirty="0"/>
              <a:t> → only </a:t>
            </a:r>
            <a:r>
              <a:rPr lang="en-IN" sz="2800" b="1" dirty="0"/>
              <a:t>one variable</a:t>
            </a:r>
            <a:r>
              <a:rPr lang="en-IN" sz="2800" dirty="0"/>
              <a:t> (e.g., just student scores).</a:t>
            </a:r>
          </a:p>
          <a:p>
            <a:r>
              <a:rPr lang="en-IN" sz="2800" b="1" dirty="0"/>
              <a:t>Bivariate dataset</a:t>
            </a:r>
            <a:r>
              <a:rPr lang="en-IN" sz="2800" dirty="0"/>
              <a:t> → </a:t>
            </a:r>
            <a:r>
              <a:rPr lang="en-IN" sz="2800" b="1" dirty="0"/>
              <a:t>two variables</a:t>
            </a:r>
            <a:r>
              <a:rPr lang="en-IN" sz="2800" dirty="0"/>
              <a:t> (e.g., hours studied vs exam score).</a:t>
            </a:r>
          </a:p>
          <a:p>
            <a:r>
              <a:rPr lang="en-IN" sz="2800" b="1" dirty="0"/>
              <a:t>Multivariate dataset</a:t>
            </a:r>
            <a:r>
              <a:rPr lang="en-IN" sz="2800" dirty="0"/>
              <a:t> → </a:t>
            </a:r>
            <a:r>
              <a:rPr lang="en-IN" sz="2800" b="1" dirty="0"/>
              <a:t>more than two variables</a:t>
            </a:r>
            <a:r>
              <a:rPr lang="en-IN" sz="2800" dirty="0"/>
              <a:t>, where several features together explain or predict the outcome.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40848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Interpretation of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sz="2800" dirty="0"/>
              <a:t>Coefficients show predictor effect.</a:t>
            </a:r>
          </a:p>
          <a:p>
            <a:pPr>
              <a:defRPr sz="2000"/>
            </a:pPr>
            <a:r>
              <a:rPr sz="2800" dirty="0"/>
              <a:t>Significance tests (p-values) identify important predictors.</a:t>
            </a:r>
          </a:p>
          <a:p>
            <a:pPr>
              <a:defRPr sz="2000"/>
            </a:pPr>
            <a:r>
              <a:rPr sz="2800" dirty="0"/>
              <a:t>Adjusted R² indicates overall model fit.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sz="2800" dirty="0"/>
              <a:t>MLR helps understand complex relationships.</a:t>
            </a:r>
          </a:p>
          <a:p>
            <a:pPr>
              <a:defRPr sz="2000"/>
            </a:pPr>
            <a:r>
              <a:rPr sz="2800" dirty="0"/>
              <a:t>Check multicollinearity and categorical handling.</a:t>
            </a:r>
          </a:p>
          <a:p>
            <a:pPr>
              <a:defRPr sz="2000"/>
            </a:pPr>
            <a:r>
              <a:rPr sz="2800" dirty="0"/>
              <a:t>Adjusted R² provides fair evaluation.</a:t>
            </a:r>
          </a:p>
          <a:p>
            <a:pPr>
              <a:defRPr sz="2000"/>
            </a:pPr>
            <a:r>
              <a:rPr sz="2800" dirty="0"/>
              <a:t>Widely applied across domains.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1527</TotalTime>
  <Words>838</Words>
  <Application>Microsoft Office PowerPoint</Application>
  <PresentationFormat>On-screen Show (4:3)</PresentationFormat>
  <Paragraphs>75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Multiple Linear Regression (MLR)</vt:lpstr>
      <vt:lpstr>Introduction</vt:lpstr>
      <vt:lpstr>Key Concepts</vt:lpstr>
      <vt:lpstr>Assumptions of MLR</vt:lpstr>
      <vt:lpstr>What is Multicollinearity?</vt:lpstr>
      <vt:lpstr>Why is it a problem?</vt:lpstr>
      <vt:lpstr>How to detect multicollinearity</vt:lpstr>
      <vt:lpstr>How to mitigate multicollinearity?</vt:lpstr>
      <vt:lpstr>Handling Categorical Variables</vt:lpstr>
      <vt:lpstr>One Hot Encoding</vt:lpstr>
      <vt:lpstr>PowerPoint Presentation</vt:lpstr>
      <vt:lpstr>Label Encoding</vt:lpstr>
      <vt:lpstr>PowerPoint Presentation</vt:lpstr>
      <vt:lpstr>Adjusted R²</vt:lpstr>
      <vt:lpstr>Why use adjusted R2?</vt:lpstr>
      <vt:lpstr>Multivariate Set</vt:lpstr>
      <vt:lpstr>Interpretation of Results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Sidharth Sharma</cp:lastModifiedBy>
  <cp:revision>3</cp:revision>
  <dcterms:created xsi:type="dcterms:W3CDTF">2013-01-27T09:14:16Z</dcterms:created>
  <dcterms:modified xsi:type="dcterms:W3CDTF">2025-10-05T08:34:18Z</dcterms:modified>
  <cp:category/>
</cp:coreProperties>
</file>