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70" r:id="rId4"/>
    <p:sldId id="259" r:id="rId5"/>
    <p:sldId id="262" r:id="rId6"/>
    <p:sldId id="260" r:id="rId7"/>
    <p:sldId id="263" r:id="rId8"/>
    <p:sldId id="264" r:id="rId9"/>
    <p:sldId id="265" r:id="rId10"/>
    <p:sldId id="257" r:id="rId11"/>
    <p:sldId id="261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9" autoAdjust="0"/>
    <p:restoredTop sz="78582" autoAdjust="0"/>
  </p:normalViewPr>
  <p:slideViewPr>
    <p:cSldViewPr snapToGrid="0">
      <p:cViewPr varScale="1">
        <p:scale>
          <a:sx n="69" d="100"/>
          <a:sy n="69" d="100"/>
        </p:scale>
        <p:origin x="102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5352A-7624-4A13-97CD-17230B825E3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FE5F8-684C-4D79-A8E3-82CBD778C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8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Take on example </a:t>
                </a:r>
              </a:p>
              <a:p>
                <a:endParaRPr lang="en-US" dirty="0"/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4</m:t>
                    </m:r>
                  </m:oMath>
                </a14:m>
                <a:r>
                  <a:rPr lang="en-US" dirty="0"/>
                  <a:t>. The feature vector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3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9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27</m:t>
                        </m:r>
                      </m:e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81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br>
                  <a:rPr lang="ar-AE" dirty="0"/>
                </a:br>
                <a:r>
                  <a:rPr lang="en-US" dirty="0"/>
                  <a:t>With weights </a:t>
                </a:r>
                <a14:m>
                  <m:oMath xmlns:m="http://schemas.openxmlformats.org/officeDocument/2006/math">
                    <m:r>
                      <a:rPr 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𝐰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e>
                      <m:e>
                        <m:r>
                          <m:rPr>
                            <m:nor/>
                          </m:rPr>
                          <a:rPr lang="ar-AE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 </m:t>
                        </m:r>
                      </m:e>
                      <m:e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−</m:t>
                        </m:r>
                      </m:e>
                      <m:e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e>
                      <m:e>
                        <m:r>
                          <m:rPr>
                            <m:nor/>
                          </m:rPr>
                          <a:rPr lang="ar-AE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 </m:t>
                        </m:r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0</m:t>
                        </m:r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ar-AE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 </m:t>
                        </m:r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ar-AE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 </m:t>
                        </m:r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0</m:t>
                        </m:r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.</m:t>
                        </m:r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/>
                  <a:t>,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2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⋅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3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5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⋅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9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⋅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27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1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⋅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81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2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3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4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5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8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1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11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6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Take on example </a:t>
                </a:r>
              </a:p>
              <a:p>
                <a:endParaRPr lang="en-US" dirty="0"/>
              </a:p>
              <a:p>
                <a:r>
                  <a:rPr lang="en-US" dirty="0"/>
                  <a:t>Suppose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𝑥=3</a:t>
                </a:r>
                <a:r>
                  <a:rPr lang="en-US" dirty="0"/>
                  <a:t> 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𝑑=4</a:t>
                </a:r>
                <a:r>
                  <a:rPr lang="en-US" dirty="0"/>
                  <a:t>. The feature vector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[1ⓜ,3ⓜ,9ⓜ,27ⓜ,81]</a:t>
                </a:r>
                <a:r>
                  <a:rPr lang="ar-AE" dirty="0"/>
                  <a:t>.</a:t>
                </a:r>
                <a:br>
                  <a:rPr lang="ar-AE" dirty="0"/>
                </a:br>
                <a:r>
                  <a:rPr lang="en-US" dirty="0"/>
                  <a:t>With weights 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𝐰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[2ⓜ," " ⓜ,−ⓜ,1ⓜ," " 0.5" " 0" " 0.1]</a:t>
                </a:r>
                <a:r>
                  <a:rPr lang="ar-AE" dirty="0"/>
                  <a:t>,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 ̂=2+(−1)⋅3+0.5⋅9+0⋅27+0.1⋅81=2−3+4.5+0+8.1=11.6.</a:t>
                </a:r>
                <a:endParaRPr lang="ar-AE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FE5F8-684C-4D79-A8E3-82CBD778CA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46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EA2F-1822-7598-A961-1737E5882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46342-E3E6-3C1E-2649-3AF806AC7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9DE40-801D-26C3-1A57-13C9EB76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6A21-C534-017B-0263-AD81A8DB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38B87-6134-2B0E-A549-A1E0722C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74E1-8995-4ED5-9606-325AED364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B1127-80BB-495E-0B88-B60F0285D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97ACC-E380-5B47-32E1-0F90217C2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93ABF-9DE5-5CDD-C717-93CE7183F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AF4FA-FE73-93B7-0AE7-4ED0E790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8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FA07-94CE-4AD4-0BDC-A385FE6E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3FAB1-DC2D-D3A3-3421-3F9768EF6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15A-896E-3435-B529-35C11B6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A5A59-0E7A-AB99-DD39-7D468863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9BC7A-4575-0305-99A0-CD0AB935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EFE66-3A58-1A98-E133-68D2DEBA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E35E8-2D2E-C8C0-8E9B-830F5CA75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D4BF6-824D-2AB5-F54C-DEB0A0ABF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EF028-C077-C2F3-A1DD-9266AA8E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2ADBC-1303-88FE-AB4E-2EEC23E4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B1765-EFD1-1521-0B29-BB9D84E7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3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7E56-E51B-1BDE-5370-1D77F4764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654E5-88D0-AF27-2435-900E2FD9C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D7572-D36C-A4D0-BE5E-F2A80025D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DD977-CADA-981E-9EE1-21EBFE094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979DC-24BD-DA70-97A7-178A9AC4F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B1375-1601-D117-0CAF-0AE7E22B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9F981-35AD-8595-B044-A0C2376B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7F2D2F-3725-B579-2E49-2EA5B012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4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7306-7F0A-2645-6A44-9646E5AF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BFB24-2395-1633-1E2A-7AD21CB9A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58D34-FB4C-D332-562A-1AB592DD8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7C705-6542-7255-7B56-B03B3614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2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627AF-BBCB-FC21-9F42-A9C837C5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C0E1B-395B-ACE7-D23A-074F0510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0EC0C-A0DD-CBD4-E288-282505FF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6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B73D-082E-FC2B-B5CE-8DA34023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F05A4-BA08-C7F8-2C6E-67DDAA491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B33EB-33E4-6970-67E2-0E86EB0A1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A6B85-B936-4EB1-76C4-E12DADE4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63821-0D02-16B2-ACDA-94533F9ED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BC204-9264-C888-ED17-410B919C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41861-B7B4-B8FC-B701-B9D26CCE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C57479-2347-905F-A6AB-ABE6014BA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52C2A-90E1-89F6-58A5-50E357C7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930AE-84AE-82B1-5793-702DC09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C4CCF-EA46-435F-F474-1E45758E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6292B-AF05-0F83-8053-F3E76048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93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CD07-0C3D-6BF0-296F-676A49D2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DA360-9D5C-7349-7FB6-1A69F9433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7381E-1AFA-5945-7F90-7C01CD6F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F918B-88ED-83C8-C86F-BCE0F0CB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A404D-7A22-5F95-6164-8F9F29A1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702F4-E476-7E8F-A01E-868919A91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30B12-5FBD-3249-FEF1-59DA05C54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A4896-F6CC-6178-C024-B29CFB1A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9653E-5EF6-D257-67E9-1F33844B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094BA-20B5-6577-EC03-E1133DB5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5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716F6-78E6-35D8-6420-B9F8415D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85D4A-DE6D-E2FE-17B5-76DB2F7D2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7D944-4EAE-F5FF-12B4-E5D24B3439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C4536-A2AB-4C7A-BE68-6B206E3B88D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FB975-451E-CA4B-68E3-E8BB18130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0237C-B63A-D315-2BE6-73FBC1344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6EB01-2EBB-4C67-83E9-C503DA8F2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4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819C-ED99-5B8A-DCC1-85D0BEDA38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AC1EE-1B2F-18A8-3D91-7AD0352ACB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07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8C87-D88C-8FF1-FFF4-714FD577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28BD9-2EFD-F3AA-77CA-07BBC0A0B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6063"/>
            <a:ext cx="10956985" cy="4723646"/>
          </a:xfrm>
        </p:spPr>
        <p:txBody>
          <a:bodyPr/>
          <a:lstStyle/>
          <a:p>
            <a:r>
              <a:rPr lang="en-US" dirty="0"/>
              <a:t>In simple linear regression algorithm only works when the relationship between the data is linear But suppose if we have non-linear data then Linear regression will not capable to draw a best-fit line and It fails in such conditions.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E4EEE-A66D-2652-2F99-6CAD04C83903}"/>
              </a:ext>
            </a:extLst>
          </p:cNvPr>
          <p:cNvSpPr txBox="1"/>
          <p:nvPr/>
        </p:nvSpPr>
        <p:spPr>
          <a:xfrm>
            <a:off x="838200" y="6169709"/>
            <a:ext cx="10719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Hence, we introduce polynomial regression to overcome this problem, which helps identify the curvilinear relationship between independent and dependent variables.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9D9BEF-D065-6D62-A811-5D6AC7EB8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287" y="3030419"/>
            <a:ext cx="5904734" cy="2927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94F9F5-1B24-91D8-7581-29E23CE846CE}"/>
              </a:ext>
            </a:extLst>
          </p:cNvPr>
          <p:cNvSpPr txBox="1"/>
          <p:nvPr/>
        </p:nvSpPr>
        <p:spPr>
          <a:xfrm>
            <a:off x="8908013" y="3847866"/>
            <a:ext cx="2605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Linear regression does not perform well !</a:t>
            </a:r>
          </a:p>
        </p:txBody>
      </p:sp>
    </p:spTree>
    <p:extLst>
      <p:ext uri="{BB962C8B-B14F-4D97-AF65-F5344CB8AC3E}">
        <p14:creationId xmlns:p14="http://schemas.microsoft.com/office/powerpoint/2010/main" val="1530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856D-BB05-C7FE-1F26-58003D0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F07AAD-3D81-7CA9-DFFE-0A45FC57B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314" y="1783305"/>
            <a:ext cx="8366899" cy="441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4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053DB-524F-3629-299C-C94F4F38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Polynomial Regression is different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787DB4-F0C8-7EEB-5D5E-5CEC9C895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8" y="1934893"/>
            <a:ext cx="9334553" cy="4351338"/>
          </a:xfrm>
        </p:spPr>
      </p:pic>
    </p:spTree>
    <p:extLst>
      <p:ext uri="{BB962C8B-B14F-4D97-AF65-F5344CB8AC3E}">
        <p14:creationId xmlns:p14="http://schemas.microsoft.com/office/powerpoint/2010/main" val="171620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05AF-CDA6-CA80-CAC9-F322E7C5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14D17-7C90-7EC5-FD62-7183D8A2B1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Linear in parameters, not necessarily in </a:t>
                </a:r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The model is </a:t>
                </a:r>
                <a:r>
                  <a:rPr lang="en-US" i="1" dirty="0"/>
                  <a:t>linear in the weights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/>
                      <m:t>w</m:t>
                    </m:r>
                  </m:oMath>
                </a14:m>
                <a:r>
                  <a:rPr lang="en-US" dirty="0"/>
                  <a:t> (just a weighted sum). That’s why polynomial regression is still linear regression after we transform inputs.</a:t>
                </a:r>
              </a:p>
              <a:p>
                <a:pPr algn="just"/>
                <a:r>
                  <a:rPr lang="en-US" dirty="0"/>
                  <a:t>It is </a:t>
                </a:r>
                <a:r>
                  <a:rPr lang="en-US" i="1" dirty="0"/>
                  <a:t>nonlinear in </a:t>
                </a:r>
                <a14:m>
                  <m:oMath xmlns:m="http://schemas.openxmlformats.org/officeDocument/2006/math">
                    <m:r>
                      <a:rPr lang="en-US" b="0" i="1"/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because of the powers, which is what lets it bend/curve.</a:t>
                </a:r>
              </a:p>
              <a:p>
                <a:pPr marL="0" indent="0" algn="just">
                  <a:buNone/>
                </a:pPr>
                <a:r>
                  <a:rPr lang="en-US" b="1" dirty="0"/>
                  <a:t>Same training machinery</a:t>
                </a:r>
              </a:p>
              <a:p>
                <a:pPr algn="just"/>
                <a:r>
                  <a:rPr lang="en-US" dirty="0"/>
                  <a:t>Because it is linear in </a:t>
                </a:r>
                <a14:m>
                  <m:oMath xmlns:m="http://schemas.openxmlformats.org/officeDocument/2006/math">
                    <m:r>
                      <a:rPr lang="en-US" b="1"/>
                      <m:t>𝐰</m:t>
                    </m:r>
                  </m:oMath>
                </a14:m>
                <a:r>
                  <a:rPr lang="en-US" dirty="0"/>
                  <a:t>, we can use ordinary least squares. The optimization is convex and well-behaved (no tricky nonconvex search).</a:t>
                </a:r>
              </a:p>
              <a:p>
                <a:pPr algn="just"/>
                <a:r>
                  <a:rPr lang="en-US" dirty="0"/>
                  <a:t>You keep simple, fast linear regression training……but gain nonlinear flexibility by enriching the inputs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14D17-7C90-7EC5-FD62-7183D8A2B1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10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85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DC12-8CC6-82BA-5493-E6607C1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Vs.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59356-2261-CACE-2147-DE4D31720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Bias is the difference between the average prediction of our model and the expected value which we are trying to predict.</a:t>
            </a:r>
          </a:p>
          <a:p>
            <a:endParaRPr lang="en-US" dirty="0"/>
          </a:p>
          <a:p>
            <a:r>
              <a:rPr lang="en-US" dirty="0"/>
              <a:t>Variance is the variability in the model prediction, meaning how much the predictions will change if a different training data set is used.</a:t>
            </a:r>
          </a:p>
          <a:p>
            <a:endParaRPr lang="en-US" dirty="0"/>
          </a:p>
          <a:p>
            <a:r>
              <a:rPr lang="en-US" dirty="0"/>
              <a:t>Variance and bias form the two main sources of error in a model that we work to control, but there is also irreducible error, which is the error we can’t avoid or possibly eliminate.</a:t>
            </a:r>
          </a:p>
          <a:p>
            <a:endParaRPr lang="en-US" dirty="0"/>
          </a:p>
          <a:p>
            <a:r>
              <a:rPr lang="en-US" dirty="0"/>
              <a:t>Irreducible error is unavoidable error caused by elements outside of our control, such as noise from observations.</a:t>
            </a:r>
          </a:p>
        </p:txBody>
      </p:sp>
    </p:spTree>
    <p:extLst>
      <p:ext uri="{BB962C8B-B14F-4D97-AF65-F5344CB8AC3E}">
        <p14:creationId xmlns:p14="http://schemas.microsoft.com/office/powerpoint/2010/main" val="3386255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63651-765A-FA7B-AB5A-F2109F5E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Vs.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E0483-B211-255D-65D0-4F7241B77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for ML models, simple models have high bias while overly complex models have low bias but high variance. We can identify our total error as this: </a:t>
            </a:r>
          </a:p>
          <a:p>
            <a:pPr lvl="1"/>
            <a:r>
              <a:rPr lang="en-US" dirty="0"/>
              <a:t>Error = Biased squared + Variance + Irreducible Error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540111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4F4-195E-B911-A562-A649B5BC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DC12-F358-06DB-F8AF-2F3411E37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it comes to best fitting a model, choosing hyperparameters like the degree in a polynomial regression can have a major impact on the results of the model.</a:t>
            </a:r>
          </a:p>
          <a:p>
            <a:r>
              <a:rPr lang="en-US" dirty="0"/>
              <a:t>In almost all real-world data, there is some noise. </a:t>
            </a:r>
          </a:p>
          <a:p>
            <a:r>
              <a:rPr lang="en-US" dirty="0"/>
              <a:t>The goal for creating a model is to be able to make a prediction about the given training data while also generalizing well enough to predict the test data accurately.</a:t>
            </a:r>
          </a:p>
          <a:p>
            <a:r>
              <a:rPr lang="en-US" dirty="0"/>
              <a:t>Another factor to consider is the amount of data. </a:t>
            </a:r>
          </a:p>
          <a:p>
            <a:pPr lvl="1"/>
            <a:r>
              <a:rPr lang="en-US" dirty="0"/>
              <a:t>With a low volume of training data, being able to generalize well is difficult. Imagine trying to fit a potentially highly complex model to only 10 data points. This would make understanding the true relationship difficult.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57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77DA-C3E0-7C90-3AFF-CD245F0D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and Train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C2BD-6F7B-FF50-C925-C18A86EB2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more data, our model will inherently begin to generalize better as outliers in the data have a decreasing impact on the overall model. </a:t>
            </a:r>
          </a:p>
          <a:p>
            <a:r>
              <a:rPr lang="en-US" dirty="0"/>
              <a:t>This is because increasing the number of data points to consider decreases the values placed on each data point individually</a:t>
            </a:r>
          </a:p>
          <a:p>
            <a:r>
              <a:rPr lang="en-US" dirty="0"/>
              <a:t>Because the model is generalizing better (reducing variance), train error slightly increases as it converges towards the decreasing true error.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3C8FB-2412-F33F-3AE3-E657E8937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77" y="4525992"/>
            <a:ext cx="4578993" cy="226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3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FDE6-820F-10C2-9A2B-F11AE2579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variance explodes with high degree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9A47B9-1DD8-C3A8-8907-3FEA4604E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Collinearity</a:t>
                </a:r>
                <a:r>
                  <a:rPr lang="en-US" dirty="0"/>
                  <a:t>: columns </a:t>
                </a:r>
                <a14:m>
                  <m:oMath xmlns:m="http://schemas.openxmlformats.org/officeDocument/2006/math">
                    <m:r>
                      <a:rPr lang="en-US" i="1"/>
                      <m:t>𝑥</m:t>
                    </m:r>
                    <m:r>
                      <a:rPr lang="en-US"/>
                      <m:t>,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𝑥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,…,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𝑥</m:t>
                        </m:r>
                      </m:e>
                      <m:sup>
                        <m:r>
                          <a:rPr lang="ar-AE" i="1"/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are highly correlated → large parameter variance.</a:t>
                </a:r>
              </a:p>
              <a:p>
                <a:r>
                  <a:rPr lang="en-US" b="1" dirty="0"/>
                  <a:t>Edge behavior</a:t>
                </a:r>
                <a:r>
                  <a:rPr lang="en-US" dirty="0"/>
                  <a:t>: polynomials can oscillate near boundaries (Runge phenomenon), so small data changes → big prediction swings.</a:t>
                </a:r>
              </a:p>
              <a:p>
                <a:r>
                  <a:rPr lang="en-US" b="1" dirty="0"/>
                  <a:t>Small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(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𝒕𝒓𝒂𝒊𝒏𝒊𝒏𝒈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𝒆𝒙𝒂𝒎𝒑𝒍𝒆𝒔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If </a:t>
                </a:r>
                <a14:m>
                  <m:oMath xmlns:m="http://schemas.openxmlformats.org/officeDocument/2006/math">
                    <m:r>
                      <a:rPr lang="en-US" i="1"/>
                      <m:t>𝑑</m:t>
                    </m:r>
                  </m:oMath>
                </a14:m>
                <a:r>
                  <a:rPr lang="en-US" dirty="0"/>
                  <a:t> approaches </a:t>
                </a:r>
                <a14:m>
                  <m:oMath xmlns:m="http://schemas.openxmlformats.org/officeDocument/2006/math">
                    <m:r>
                      <a:rPr lang="en-US" i="1"/>
                      <m:t>𝑛</m:t>
                    </m:r>
                    <m:r>
                      <a:rPr lang="en-US"/>
                      <m:t>−</m:t>
                    </m:r>
                    <m:r>
                      <a:rPr lang="en-US"/>
                      <m:t>1</m:t>
                    </m:r>
                  </m:oMath>
                </a14:m>
                <a:r>
                  <a:rPr lang="en-US" dirty="0"/>
                  <a:t>, you interpolate noise (overfit).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9A47B9-1DD8-C3A8-8907-3FEA4604E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259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7714-9BAB-363D-78B0-5FA3D5FE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F5E208-BB45-5301-1C82-851AE30F8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359" y="1886190"/>
            <a:ext cx="6429554" cy="449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72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93CD6-5AEB-C379-B9E3-77B45601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2D84-DF9E-F52D-105C-435728250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Choosing hyperparameters are essential for a well fitting model. </a:t>
            </a:r>
          </a:p>
          <a:p>
            <a:r>
              <a:rPr lang="en-US" dirty="0"/>
              <a:t>2. Overfitting and Underfitting </a:t>
            </a:r>
          </a:p>
          <a:p>
            <a:r>
              <a:rPr lang="en-US" dirty="0"/>
              <a:t>3. Simple models tend to have high bias and low variance and complex models ten to have low bias and high variance. </a:t>
            </a:r>
          </a:p>
          <a:p>
            <a:r>
              <a:rPr lang="en-US" dirty="0"/>
              <a:t>4. Choosing a model which has 0 training error is often not a good idea due to its high variance. </a:t>
            </a:r>
          </a:p>
          <a:p>
            <a:r>
              <a:rPr lang="en-US" dirty="0"/>
              <a:t>5. Error as a function of train set size</a:t>
            </a:r>
          </a:p>
        </p:txBody>
      </p:sp>
    </p:spTree>
    <p:extLst>
      <p:ext uri="{BB962C8B-B14F-4D97-AF65-F5344CB8AC3E}">
        <p14:creationId xmlns:p14="http://schemas.microsoft.com/office/powerpoint/2010/main" val="570046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D288-A3E2-8D37-94ED-9385F655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A5B4-B1D4-8EDC-2074-10F25A1B4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choosing a model based on test error we will minimize variance as we compare different model complexities</a:t>
            </a:r>
          </a:p>
          <a:p>
            <a:r>
              <a:rPr lang="en-US" dirty="0"/>
              <a:t>However, this situation would create a biased approach.</a:t>
            </a:r>
          </a:p>
          <a:p>
            <a:r>
              <a:rPr lang="en-US" dirty="0"/>
              <a:t>Our goal for a test set is to have a pure, ”untouched” representation for our model</a:t>
            </a:r>
          </a:p>
          <a:p>
            <a:r>
              <a:rPr lang="en-US" dirty="0"/>
              <a:t>If we chose the best model based solely on test data performance we are choosing a model for that set</a:t>
            </a:r>
          </a:p>
          <a:p>
            <a:r>
              <a:rPr lang="en-US" dirty="0"/>
              <a:t>The test set would no longer represent “the unknown” since we probed it many times to figure out which model would be best.</a:t>
            </a:r>
          </a:p>
        </p:txBody>
      </p:sp>
    </p:spTree>
    <p:extLst>
      <p:ext uri="{BB962C8B-B14F-4D97-AF65-F5344CB8AC3E}">
        <p14:creationId xmlns:p14="http://schemas.microsoft.com/office/powerpoint/2010/main" val="3226830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7CA1-1FD7-CE53-F1C6-0B3E5420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954BB-81B9-7455-E287-FF084A63F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choosing what type of model will perform the best, we must perform another split in our data. </a:t>
            </a:r>
          </a:p>
          <a:p>
            <a:r>
              <a:rPr lang="en-US" dirty="0"/>
              <a:t>Between a training and test set, there is usually an 80/20 split; however, this can vary depending on data set sizes. </a:t>
            </a:r>
          </a:p>
          <a:p>
            <a:r>
              <a:rPr lang="en-US" dirty="0"/>
              <a:t>To now choose a model’s hyperparameters without biasing towards the test set, we must create a third split of the data called a validation set. </a:t>
            </a:r>
          </a:p>
          <a:p>
            <a:r>
              <a:rPr lang="en-US" dirty="0"/>
              <a:t>This will allow us to make decisions about the model architecture and complexity without ever touching the final testing set. </a:t>
            </a:r>
          </a:p>
          <a:p>
            <a:r>
              <a:rPr lang="en-US" dirty="0"/>
              <a:t>We will learn more about validation sets in the next session.</a:t>
            </a:r>
          </a:p>
        </p:txBody>
      </p:sp>
    </p:spTree>
    <p:extLst>
      <p:ext uri="{BB962C8B-B14F-4D97-AF65-F5344CB8AC3E}">
        <p14:creationId xmlns:p14="http://schemas.microsoft.com/office/powerpoint/2010/main" val="252592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917</Words>
  <Application>Microsoft Office PowerPoint</Application>
  <PresentationFormat>Widescreen</PresentationFormat>
  <Paragraphs>61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Polynomial Regression</vt:lpstr>
      <vt:lpstr>Why?</vt:lpstr>
      <vt:lpstr>PowerPoint Presentation</vt:lpstr>
      <vt:lpstr>How Polynomial Regression is different</vt:lpstr>
      <vt:lpstr>Linearity</vt:lpstr>
      <vt:lpstr>Bias Vs. Variance</vt:lpstr>
      <vt:lpstr>Bias Vs. Variance</vt:lpstr>
      <vt:lpstr>Choosing Hyperparameters</vt:lpstr>
      <vt:lpstr>True and Train Error</vt:lpstr>
      <vt:lpstr>Why variance explodes with high degree </vt:lpstr>
      <vt:lpstr>PowerPoint Presentation</vt:lpstr>
      <vt:lpstr>Summary</vt:lpstr>
      <vt:lpstr>Takeaways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Sidharth Sharma</dc:creator>
  <cp:lastModifiedBy>Sidharth Sharma</cp:lastModifiedBy>
  <cp:revision>73</cp:revision>
  <dcterms:created xsi:type="dcterms:W3CDTF">2025-10-08T13:32:07Z</dcterms:created>
  <dcterms:modified xsi:type="dcterms:W3CDTF">2025-10-08T15:33:10Z</dcterms:modified>
</cp:coreProperties>
</file>