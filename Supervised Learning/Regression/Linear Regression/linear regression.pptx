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77" r:id="rId7"/>
    <p:sldId id="276" r:id="rId8"/>
    <p:sldId id="278" r:id="rId9"/>
    <p:sldId id="272" r:id="rId10"/>
    <p:sldId id="264" r:id="rId11"/>
    <p:sldId id="263" r:id="rId12"/>
    <p:sldId id="265" r:id="rId13"/>
    <p:sldId id="266" r:id="rId14"/>
    <p:sldId id="267" r:id="rId15"/>
    <p:sldId id="268" r:id="rId16"/>
    <p:sldId id="280" r:id="rId17"/>
    <p:sldId id="281" r:id="rId18"/>
    <p:sldId id="269" r:id="rId19"/>
    <p:sldId id="282" r:id="rId20"/>
    <p:sldId id="283" r:id="rId21"/>
    <p:sldId id="270" r:id="rId22"/>
    <p:sldId id="271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92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1D91F-62CE-4D54-B7BC-263C916205E7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F1C53-C918-45CE-B1DA-2F06777AD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3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F1C53-C918-45CE-B1DA-2F06777ADF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3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38E5-C654-FA4C-1EC9-94DA4B332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801DD-598C-FD56-753F-FB183F7A9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B5D2-50BE-6CCB-1C53-00ACB761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124D8-A4D3-BBB0-3DBF-28711C61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6BF69-C2F4-53B7-CCD9-A93E5872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0693-5943-9F85-1357-1E9366E9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A1975-5AE2-A689-7673-34146D97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5BF0D-14A1-718C-0D33-B28712AF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B6FE6-3477-7BFC-EF2F-B9624053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0A77D-7E28-D6E8-EDF6-E862BC18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26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A4DF-6558-6A70-6655-4ADF41425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69EB4-11B0-E872-630F-11C05DEE1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F5203-89DE-F86D-63AA-4A0BBE7E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0111-BB3E-8078-88DD-9B0E2057B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BFA31-2474-F09D-319B-1FB101B8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1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95B3-C6D2-C5EB-7752-5795AA58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45CF3-6CD8-F72B-CF27-65DDC381D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F1371-4A17-0D14-E8A8-26A3C36C2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7B1A3-AB88-5DE2-E4CA-AF10F8C5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29B97-23E3-E288-E8AC-6F7E0047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00143-C2BB-C105-9CEC-D755AC2E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78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77F0-1AA4-DF4E-B945-5FC23E2C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FD8A9-723F-FF0D-0235-A49F51DFD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22A39-3B26-C9B5-1408-3667F40F2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37C7D-0BDD-4397-4B6A-7E029536C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6A8F2-5A18-3872-7064-9BBE12D1C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A5CF6-9B15-1DC7-4057-AAF3839F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03BD4-1479-7FBA-9825-0059E2A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59518-FF16-FCC7-E50E-42152450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DC48-AF6A-C32B-8F5B-B5B8C4DD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E9157-F9AE-2B80-4A88-00EBDCFA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A8AD5-CAC4-C250-C110-46FA3EE5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61395-6703-87F8-0FDD-87F72954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D7084-2C39-AB94-CB38-32D1A735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12BA0-C28C-1738-853C-496A952B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F9222-F228-8026-CCC2-7259A4AA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9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32E3-6E13-3153-8DE4-98298954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1F467-A068-BC36-CE2E-C7D05746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87F6F-4FAE-3670-A47C-B54AC9ABC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D362B-9108-02E7-B67F-414142E9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EFECA-0C39-0626-236F-D6ABCE60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42257-CFDC-987E-8A3F-FDCF70E2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05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BDFD-D256-D43B-D284-4FDC4844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2E6F2-C896-656D-10CA-4C3DE0DF6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F0F97-9817-119B-A3AD-58F47C6A6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D5462-5DE0-A22A-7A0F-A354FE18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28843-89C2-A235-5DCD-8B5FC9DD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EB354-CE44-C43E-B241-EBF880C3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63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0071-2833-A053-72AB-EA6A994A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CB0EB-BAF2-C43F-C864-34CD39025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C5A0-7860-8307-9F23-38B9DFD5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2B913-3936-FCD4-4C9B-129BEACB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0E3B6-A65E-DC16-F87B-F5B91058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69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2D7A-82AE-E602-4301-D6BDF31FF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5554-4278-0FF3-2D67-EEE5B0EC2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35A6-515C-1EE8-79AC-13232C13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588A6-5E9B-18E4-1191-1AB87587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66CBA-9E1C-267C-8040-3398287E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48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FBE62-BFCD-0AB8-9480-ECF62586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BD27-F50D-56E5-784B-30BB9E875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3C273-122D-D20B-BA86-262B63E00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B1106-0CED-478B-8AE2-7E14FFB96F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EB78-3245-A259-0FAA-47E6E5D02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8230-3F0A-E5FF-18F1-AA4B3E302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01CE0-875B-4497-A7DB-DC862BA70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0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28ED-82CD-7694-B9DE-91717315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ECB64-A7D2-B2F2-2A9D-5B1BDC93D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400" dirty="0"/>
                  <a:t>Linear Regression is a supervised learning algorithm used for predicting a continuous value (e.g., house price, temperature, salary) based on input features.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It assumes a linear relationship between the independent variable(s) (inputs) and the dependent variable (output).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r>
                  <a:rPr kumimoji="0" lang="en-US" altLang="en-US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Simple linear regression uses the traditional slope-intercept form, where m and b are the variables our algorithm will try to “learn” to produce the most accurate predictions.</a:t>
                </a:r>
              </a:p>
              <a:p>
                <a:pPr marL="0" indent="0" algn="just">
                  <a:buNone/>
                </a:pPr>
                <a:b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en-US" alt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 algn="just">
                  <a:buNone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 algn="just">
                  <a:buNone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ECB64-A7D2-B2F2-2A9D-5B1BDC93D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419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C15DF73-50AF-B7C7-2DB1-B99E7554D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903" y="940845"/>
                <a:ext cx="10813774" cy="31539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 dirty="0"/>
                  <a:t> input data and 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400" dirty="0"/>
                  <a:t> prediction,  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/>
                  <a:t> is the number of training examples.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2400" dirty="0"/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400" dirty="0"/>
                  <a:t>Here,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IN" sz="2400" dirty="0"/>
                  <a:t>  training examples is called as input features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IN" sz="2400" dirty="0"/>
                  <a:t> is denoted as the output or target variable, which we are trying to predict.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2400" dirty="0"/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400" dirty="0"/>
                  <a:t>A pair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is called as training example and dataset that we will use to learn a list of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/>
                  <a:t> training examples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…….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400" dirty="0"/>
                  <a:t> is called a training set.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C15DF73-50AF-B7C7-2DB1-B99E7554D2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903" y="940845"/>
                <a:ext cx="10813774" cy="3153940"/>
              </a:xfrm>
              <a:prstGeom prst="rect">
                <a:avLst/>
              </a:prstGeom>
              <a:blipFill>
                <a:blip r:embed="rId2"/>
                <a:stretch>
                  <a:fillRect l="-902" t="-965" r="-8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01FC0-AA61-A842-9F93-9EFBA1ECDACD}"/>
                  </a:ext>
                </a:extLst>
              </p:cNvPr>
              <p:cNvSpPr txBox="1"/>
              <p:nvPr/>
            </p:nvSpPr>
            <p:spPr>
              <a:xfrm>
                <a:off x="503995" y="4534691"/>
                <a:ext cx="10925590" cy="10411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600"/>
                  </a:spcAft>
                  <a:buNone/>
                </a:pPr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Note</a:t>
                </a:r>
                <a:r>
                  <a:rPr lang="en-IN" sz="1800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that the superscript “(</a:t>
                </a:r>
                <a:r>
                  <a:rPr lang="en-IN" sz="1800" dirty="0" err="1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i</a:t>
                </a:r>
                <a:r>
                  <a:rPr lang="en-IN" sz="1800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)" in the notation is simply an index into the training set, and has nothing to do with exponentiation. We will also use X denote the space of input values, and Y the space of output values. In this example,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𝑋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𝑌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IN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IN" sz="1800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.</a:t>
                </a:r>
                <a:endParaRPr lang="en-IN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01FC0-AA61-A842-9F93-9EFBA1EC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5" y="4534691"/>
                <a:ext cx="10925590" cy="1041161"/>
              </a:xfrm>
              <a:prstGeom prst="rect">
                <a:avLst/>
              </a:prstGeom>
              <a:blipFill>
                <a:blip r:embed="rId3"/>
                <a:stretch>
                  <a:fillRect l="-502" t="-1170" r="-446" b="-7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43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E75925-50D8-2B90-36B6-1165ADB39047}"/>
                  </a:ext>
                </a:extLst>
              </p:cNvPr>
              <p:cNvSpPr txBox="1"/>
              <p:nvPr/>
            </p:nvSpPr>
            <p:spPr>
              <a:xfrm>
                <a:off x="3945835" y="565202"/>
                <a:ext cx="7682947" cy="1347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describe the supervised learning problem slightly more formally, our goal is, given a training set, to learn a function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 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𝑿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 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𝒀</m:t>
                    </m:r>
                  </m:oMath>
                </a14:m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 that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“good" predictor for the corresponding value of </a:t>
                </a:r>
                <a14:m>
                  <m:oMath xmlns:m="http://schemas.openxmlformats.org/officeDocument/2006/math">
                    <m:r>
                      <a:rPr lang="en-IN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IN" sz="1800" b="1" dirty="0">
                    <a:solidFill>
                      <a:srgbClr val="000000"/>
                    </a:solidFill>
                    <a:effectLst/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b="1" dirty="0">
                    <a:solidFill>
                      <a:srgbClr val="000000"/>
                    </a:solidFill>
                    <a:latin typeface="Candara" panose="020E0502030303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 is the hypothesis function (also called the model).</a:t>
                </a:r>
                <a:endParaRPr lang="en-IN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E75925-50D8-2B90-36B6-1165ADB39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835" y="565202"/>
                <a:ext cx="7682947" cy="1347805"/>
              </a:xfrm>
              <a:prstGeom prst="rect">
                <a:avLst/>
              </a:prstGeom>
              <a:blipFill>
                <a:blip r:embed="rId2"/>
                <a:stretch>
                  <a:fillRect l="-634" t="-905" r="-634" b="-6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3994382-BCD4-B3F6-77B3-39BDB973C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71" y="327715"/>
            <a:ext cx="3243818" cy="3488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9CD1E57-1347-4CFA-EB22-E572DE2BE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641954"/>
              </p:ext>
            </p:extLst>
          </p:nvPr>
        </p:nvGraphicFramePr>
        <p:xfrm>
          <a:off x="5293305" y="4007316"/>
          <a:ext cx="4069356" cy="20157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6452">
                  <a:extLst>
                    <a:ext uri="{9D8B030D-6E8A-4147-A177-3AD203B41FA5}">
                      <a16:colId xmlns:a16="http://schemas.microsoft.com/office/drawing/2014/main" val="4055905805"/>
                    </a:ext>
                  </a:extLst>
                </a:gridCol>
                <a:gridCol w="1356452">
                  <a:extLst>
                    <a:ext uri="{9D8B030D-6E8A-4147-A177-3AD203B41FA5}">
                      <a16:colId xmlns:a16="http://schemas.microsoft.com/office/drawing/2014/main" val="1825041264"/>
                    </a:ext>
                  </a:extLst>
                </a:gridCol>
                <a:gridCol w="1356452">
                  <a:extLst>
                    <a:ext uri="{9D8B030D-6E8A-4147-A177-3AD203B41FA5}">
                      <a16:colId xmlns:a16="http://schemas.microsoft.com/office/drawing/2014/main" val="4188815544"/>
                    </a:ext>
                  </a:extLst>
                </a:gridCol>
              </a:tblGrid>
              <a:tr h="5636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Company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Radio ($) (x)</a:t>
                      </a:r>
                      <a:endParaRPr lang="en-IN" sz="18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Sales (y)</a:t>
                      </a:r>
                      <a:endParaRPr lang="en-IN" sz="18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978577"/>
                  </a:ext>
                </a:extLst>
              </a:tr>
              <a:tr h="3566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Amazon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37.8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22.1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6716436"/>
                  </a:ext>
                </a:extLst>
              </a:tr>
              <a:tr h="365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Google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39.3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10.4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5582646"/>
                  </a:ext>
                </a:extLst>
              </a:tr>
              <a:tr h="365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Facebook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45.9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18.3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5827408"/>
                  </a:ext>
                </a:extLst>
              </a:tr>
              <a:tr h="3651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Apple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41.3</a:t>
                      </a:r>
                      <a:endParaRPr lang="en-IN" sz="180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18.5</a:t>
                      </a:r>
                      <a:endParaRPr lang="en-IN" sz="1800" dirty="0">
                        <a:solidFill>
                          <a:srgbClr val="2F549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5278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B07EEB28-8771-7ADF-E367-B86DF38E0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5835" y="2167814"/>
                <a:ext cx="7000240" cy="14895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So linear equation with one or single variable has been shown below.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Let’s say we are given a dataset with the following columns (features):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B07EEB28-8771-7ADF-E367-B86DF38E0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5835" y="2167814"/>
                <a:ext cx="7000240" cy="1489510"/>
              </a:xfrm>
              <a:prstGeom prst="rect">
                <a:avLst/>
              </a:prstGeom>
              <a:blipFill>
                <a:blip r:embed="rId4"/>
                <a:stretch>
                  <a:fillRect l="-696" t="-2049" b="-61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21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6DC12E-1AAD-1ABC-301F-55FB02C22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496" y="556591"/>
                <a:ext cx="10618304" cy="5620372"/>
              </a:xfrm>
            </p:spPr>
            <p:txBody>
              <a:bodyPr/>
              <a:lstStyle/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H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ow much a company spends on Radio advertising each year, and its annual Sales in terms of units sold.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We are trying to develop an equation that will let us predict units sold based on how much a company spends on radio advertising. The rows (observations) represent companies.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37.8, 22.1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 ) = (39.3, 10.4)</m:t>
                    </m:r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……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6DC12E-1AAD-1ABC-301F-55FB02C22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496" y="556591"/>
                <a:ext cx="10618304" cy="5620372"/>
              </a:xfrm>
              <a:blipFill>
                <a:blip r:embed="rId2"/>
                <a:stretch>
                  <a:fillRect l="-1206" t="-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70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98909-3539-B0BA-C97F-BFB714C6D8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5191" y="536713"/>
                <a:ext cx="10568609" cy="5640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Making predictions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Our prediction function outputs an estimate of sales given a company’s radio advertising spend and our current values for </a:t>
                </a:r>
                <a:r>
                  <a:rPr lang="en-IN" i="1" dirty="0"/>
                  <a:t>Weight</a:t>
                </a:r>
                <a:r>
                  <a:rPr lang="en-IN" dirty="0"/>
                  <a:t> and </a:t>
                </a:r>
                <a:r>
                  <a:rPr lang="en-IN" i="1" dirty="0"/>
                  <a:t>Bias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>
                          <a:latin typeface="Cambria Math" panose="02040503050406030204" pitchFamily="18" charset="0"/>
                        </a:rPr>
                        <m:t>𝑆𝑎𝑙𝑒𝑠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𝑊𝑒𝑖𝑔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𝑅𝑎𝑑𝑖𝑜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𝐵𝑖𝑎𝑠</m:t>
                      </m:r>
                    </m:oMath>
                  </m:oMathPara>
                </a14:m>
                <a:endParaRPr lang="en-IN" dirty="0"/>
              </a:p>
              <a:p>
                <a:pPr algn="just"/>
                <a:r>
                  <a:rPr lang="en-IN" sz="2400" b="1" dirty="0"/>
                  <a:t>Weight: </a:t>
                </a:r>
                <a:r>
                  <a:rPr lang="en-IN" sz="2400" dirty="0"/>
                  <a:t>the coefficient for the </a:t>
                </a:r>
                <a:r>
                  <a:rPr lang="en-IN" sz="2400" b="1" dirty="0"/>
                  <a:t>Radio</a:t>
                </a:r>
                <a:r>
                  <a:rPr lang="en-IN" sz="2400" dirty="0"/>
                  <a:t> independent variable. In machine learning, we call the coefficients </a:t>
                </a:r>
                <a:r>
                  <a:rPr lang="en-IN" sz="2400" i="1" dirty="0"/>
                  <a:t>weights</a:t>
                </a:r>
                <a:r>
                  <a:rPr lang="en-IN" sz="2400" dirty="0"/>
                  <a:t>.</a:t>
                </a:r>
              </a:p>
              <a:p>
                <a:pPr algn="just"/>
                <a:r>
                  <a:rPr lang="en-IN" sz="2400" b="1" dirty="0"/>
                  <a:t>Radio: </a:t>
                </a:r>
                <a:r>
                  <a:rPr lang="en-IN" sz="2400" dirty="0"/>
                  <a:t>the independent variable. In machine learning, we call these variables </a:t>
                </a:r>
                <a:r>
                  <a:rPr lang="en-IN" sz="2400" i="1" dirty="0"/>
                  <a:t>features</a:t>
                </a:r>
                <a:r>
                  <a:rPr lang="en-IN" sz="2400" dirty="0"/>
                  <a:t>.</a:t>
                </a:r>
              </a:p>
              <a:p>
                <a:pPr algn="just"/>
                <a:r>
                  <a:rPr lang="en-IN" sz="2400" b="1" dirty="0"/>
                  <a:t>Bias: </a:t>
                </a:r>
                <a:r>
                  <a:rPr lang="en-IN" sz="2400" dirty="0"/>
                  <a:t>the intercept where our line intercepts the y-axis. In machine learning, we can call intercepts </a:t>
                </a:r>
                <a:r>
                  <a:rPr lang="en-IN" sz="2400" i="1" dirty="0"/>
                  <a:t>bias</a:t>
                </a:r>
                <a:r>
                  <a:rPr lang="en-IN" sz="2400" dirty="0"/>
                  <a:t>. Bias offsets all predictions that we make.</a:t>
                </a:r>
              </a:p>
              <a:p>
                <a:pPr marL="0" indent="0">
                  <a:buNone/>
                </a:pPr>
                <a:r>
                  <a:rPr lang="en-IN" dirty="0"/>
                  <a:t>Our algorithm will try to </a:t>
                </a:r>
                <a:r>
                  <a:rPr lang="en-IN" i="1" dirty="0"/>
                  <a:t>learn</a:t>
                </a:r>
                <a:r>
                  <a:rPr lang="en-IN" dirty="0"/>
                  <a:t> the correct values for </a:t>
                </a:r>
                <a:r>
                  <a:rPr lang="en-IN" b="1" dirty="0"/>
                  <a:t>Weight</a:t>
                </a:r>
                <a:r>
                  <a:rPr lang="en-IN" dirty="0"/>
                  <a:t> and </a:t>
                </a:r>
                <a:r>
                  <a:rPr lang="en-IN" b="1" dirty="0"/>
                  <a:t>Bias</a:t>
                </a:r>
                <a:r>
                  <a:rPr lang="en-IN" dirty="0"/>
                  <a:t>. By the end of our training, our equation will approximate the </a:t>
                </a:r>
                <a:r>
                  <a:rPr lang="en-IN" i="1" dirty="0"/>
                  <a:t>line of best fit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98909-3539-B0BA-C97F-BFB714C6D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5191" y="536713"/>
                <a:ext cx="10568609" cy="5640250"/>
              </a:xfrm>
              <a:blipFill>
                <a:blip r:embed="rId2"/>
                <a:stretch>
                  <a:fillRect l="-1211" t="-1730" r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26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1E85-DE4D-380C-83F8-BD447A204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Intercept </a:t>
            </a:r>
            <a:r>
              <a:rPr lang="en-US" dirty="0"/>
              <a:t>b (or bias)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BF290-527D-2957-5B23-79ACEB33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Predicted value when X=0</a:t>
            </a:r>
          </a:p>
          <a:p>
            <a:pPr marL="0" indent="0">
              <a:buNone/>
            </a:pPr>
            <a:r>
              <a:rPr lang="en-US" dirty="0"/>
              <a:t>• May or may not have real meaning depending on context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89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A651-D7CE-5EFE-0E5E-BE266862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Slope </a:t>
            </a:r>
            <a:r>
              <a:rPr lang="en-US" dirty="0"/>
              <a:t>w (or weight)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AC1AD-7EC6-56C7-6968-6A6913AE7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Change in Y for each unit change in X</a:t>
            </a:r>
          </a:p>
          <a:p>
            <a:pPr marL="0" indent="0">
              <a:buNone/>
            </a:pPr>
            <a:r>
              <a:rPr lang="en-US" dirty="0"/>
              <a:t>• Positive slope → upward trend</a:t>
            </a:r>
          </a:p>
          <a:p>
            <a:pPr marL="0" indent="0">
              <a:buNone/>
            </a:pPr>
            <a:r>
              <a:rPr lang="en-US" dirty="0"/>
              <a:t>• Negative slope → downward trend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70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Example: Study Hours → Exam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dirty="0"/>
              <a:t>Score = 40 + 5 × Hours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Intercept = 40 → baseline score with 0 hours</a:t>
            </a:r>
          </a:p>
          <a:p>
            <a:pPr marL="0" indent="0">
              <a:buNone/>
            </a:pPr>
            <a:r>
              <a:rPr dirty="0"/>
              <a:t>• Slope = 5 → each hour adds 5 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30B3-4640-9FE6-21A5-1BA0908F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Graphical Illustration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C80BB-A9E8-769F-FA9B-62E275981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72"/>
          <a:stretch>
            <a:fillRect/>
          </a:stretch>
        </p:blipFill>
        <p:spPr>
          <a:xfrm>
            <a:off x="3225877" y="1709929"/>
            <a:ext cx="5896787" cy="44162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2656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78B0B-4E85-3642-066B-D62D6ADC9F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4642" y="533537"/>
                <a:ext cx="10783957" cy="5887141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N" sz="2600" b="1" dirty="0"/>
                  <a:t>Step 1: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l-GR" sz="2600" i="1" dirty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l-GR" sz="2600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IN" sz="26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6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We need to find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/>
                  <a:t> (</a:t>
                </a:r>
                <a:r>
                  <a:rPr lang="en-IN" sz="2600" dirty="0"/>
                  <a:t>intercept)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600" dirty="0"/>
                  <a:t>slope).</a:t>
                </a:r>
              </a:p>
              <a:p>
                <a:pPr marL="0" indent="0">
                  <a:buNone/>
                </a:pPr>
                <a:r>
                  <a:rPr lang="en-IN" sz="2600" b="1" dirty="0"/>
                  <a:t>Step 2: Calculate Means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39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41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075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ar-AE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325</m:t>
                      </m:r>
                    </m:oMath>
                  </m:oMathPara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b="1" dirty="0"/>
                  <a:t>Step 3: Calculate Slope (w)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l-GR" sz="24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el-G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​−</m:t>
                          </m:r>
                          <m:acc>
                            <m:accPr>
                              <m:chr m:val="̅"/>
                              <m:ctrlP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​−</m:t>
                          </m:r>
                          <m:acc>
                            <m:accPr>
                              <m:chr m:val="̅"/>
                              <m:ctrlPr>
                                <a:rPr lang="ar-AE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​)</m:t>
                          </m:r>
                        </m:num>
                        <m:den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​−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ar-AE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1" dirty="0">
                              <a:latin typeface="Cambria Math" panose="02040503050406030204" pitchFamily="18" charset="0"/>
                            </a:rPr>
                            <m:t>​ </m:t>
                          </m:r>
                          <m:r>
                            <m:rPr>
                              <m:nor/>
                            </m:rPr>
                            <a:rPr lang="en-IN" sz="2400" dirty="0"/>
                            <m:t> </m:t>
                          </m:r>
                        </m:den>
                      </m:f>
                    </m:oMath>
                  </m:oMathPara>
                </a14:m>
                <a:endParaRPr lang="ar-AE" sz="2600" b="1" dirty="0"/>
              </a:p>
              <a:p>
                <a:pPr marL="0" indent="0">
                  <a:buNone/>
                </a:pPr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For Amazon: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275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775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15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645</m:t>
                    </m:r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For Google: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775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925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12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293</m:t>
                    </m:r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For Facebook: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825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975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703</m:t>
                    </m:r>
                  </m:oMath>
                </a14:m>
                <a:endParaRPr lang="ar-AE" sz="2600" dirty="0"/>
              </a:p>
              <a:p>
                <a:pPr marL="0" indent="0">
                  <a:buNone/>
                </a:pPr>
                <a:r>
                  <a:rPr lang="en-IN" sz="2600" dirty="0"/>
                  <a:t>For Apple: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075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325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</m:d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175</m:t>
                        </m:r>
                      </m:e>
                    </m:d>
                    <m:r>
                      <a:rPr lang="ar-AE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600">
                        <a:latin typeface="Cambria Math" panose="02040503050406030204" pitchFamily="18" charset="0"/>
                      </a:rPr>
                      <m:t>264</m:t>
                    </m:r>
                  </m:oMath>
                </a14:m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600"/>
                        <m:t>Numerator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645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293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703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264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>
                          <a:latin typeface="Cambria Math" panose="02040503050406030204" pitchFamily="18" charset="0"/>
                        </a:rPr>
                        <m:t>61</m:t>
                      </m:r>
                    </m:oMath>
                  </m:oMathPara>
                </a14:m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Denominator</a:t>
                </a:r>
                <a14:m>
                  <m:oMath xmlns:m="http://schemas.openxmlformats.org/officeDocument/2006/math"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37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39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 +</m:t>
                    </m:r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IN" sz="2600" i="1" dirty="0" smtClean="0">
                                <a:latin typeface="Cambria Math" panose="02040503050406030204" pitchFamily="18" charset="0"/>
                              </a:rPr>
                              <m:t>075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600" dirty="0"/>
              </a:p>
              <a:p>
                <a:pPr marL="0" indent="0">
                  <a:buNone/>
                </a:pPr>
                <a:r>
                  <a:rPr lang="en-IN" sz="2600" dirty="0"/>
                  <a:t>= </a:t>
                </a:r>
                <a14:m>
                  <m:oMath xmlns:m="http://schemas.openxmlformats.org/officeDocument/2006/math">
                    <m:r>
                      <a:rPr lang="en-IN" sz="260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726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151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280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051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37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208</m:t>
                    </m:r>
                  </m:oMath>
                </a14:m>
                <a:endParaRPr lang="en-I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615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208</m:t>
                          </m:r>
                        </m:den>
                      </m:f>
                      <m:r>
                        <a:rPr lang="ar-AE" sz="26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0434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IN" sz="2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78B0B-4E85-3642-066B-D62D6ADC9F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642" y="533537"/>
                <a:ext cx="10783957" cy="5887141"/>
              </a:xfrm>
              <a:blipFill>
                <a:blip r:embed="rId2"/>
                <a:stretch>
                  <a:fillRect l="-170" t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35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9AC97-A9B9-7DB2-BECD-E0D8FC30C3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889" y="-177181"/>
                <a:ext cx="10648122" cy="5461346"/>
              </a:xfrm>
            </p:spPr>
            <p:txBody>
              <a:bodyPr>
                <a:normAutofit/>
              </a:bodyPr>
              <a:lstStyle/>
              <a:p>
                <a:r>
                  <a:rPr lang="en-IN" sz="2000" b="1" dirty="0"/>
                  <a:t>Step 4: Calculate Intercept b</a:t>
                </a:r>
                <a:endParaRPr lang="ar-AE" sz="2000" b="1" dirty="0"/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					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ar-AE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ar-AE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acc>
                      <m:accPr>
                        <m:chr m:val="̅"/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325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0434</m:t>
                          </m:r>
                        </m:e>
                      </m:d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41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075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54</m:t>
                      </m:r>
                    </m:oMath>
                  </m:oMathPara>
                </a14:m>
                <a:endParaRPr lang="ar-AE" sz="2000" dirty="0"/>
              </a:p>
              <a:p>
                <a:r>
                  <a:rPr lang="en-IN" sz="2000" b="1" dirty="0"/>
                  <a:t>Final Regression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0434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ar-AE" sz="2000" dirty="0"/>
                </a:br>
                <a:endParaRPr lang="ar-AE" sz="2000" dirty="0"/>
              </a:p>
              <a:p>
                <a:r>
                  <a:rPr lang="en-IN" sz="2000" b="1" dirty="0"/>
                  <a:t>Step 5: Prediction Example</a:t>
                </a:r>
              </a:p>
              <a:p>
                <a:pPr marL="0" indent="0">
                  <a:buNone/>
                </a:pPr>
                <a:r>
                  <a:rPr lang="en-IN" sz="2000" dirty="0"/>
                  <a:t>If a company spends </a:t>
                </a:r>
                <a:r>
                  <a:rPr lang="en-IN" sz="2000" b="1" dirty="0"/>
                  <a:t>$50</a:t>
                </a:r>
                <a:r>
                  <a:rPr lang="en-IN" sz="2000" dirty="0"/>
                  <a:t> on radio ads: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0434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71</m:t>
                      </m:r>
                    </m:oMath>
                  </m:oMathPara>
                </a14:m>
                <a:endParaRPr lang="ar-AE" sz="2000" dirty="0"/>
              </a:p>
              <a:p>
                <a:pPr marL="0" indent="0">
                  <a:buNone/>
                </a:pPr>
                <a:r>
                  <a:rPr lang="en-IN" sz="2000" dirty="0"/>
                  <a:t>So, predicted sales ≈ </a:t>
                </a:r>
                <a:r>
                  <a:rPr lang="en-IN" sz="2000" b="1" dirty="0"/>
                  <a:t>17.7 units</a:t>
                </a:r>
                <a:r>
                  <a:rPr lang="en-IN" sz="2000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9AC97-A9B9-7DB2-BECD-E0D8FC30C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889" y="-177181"/>
                <a:ext cx="10648122" cy="5461346"/>
              </a:xfrm>
              <a:blipFill>
                <a:blip r:embed="rId2"/>
                <a:stretch>
                  <a:fillRect l="-572" t="-1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DF3EA41-54CF-4150-DF32-164430D5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859" y="3497138"/>
            <a:ext cx="3890903" cy="255463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660999-57C7-834E-5C01-BF075E3FB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877366"/>
              </p:ext>
            </p:extLst>
          </p:nvPr>
        </p:nvGraphicFramePr>
        <p:xfrm>
          <a:off x="491455" y="4184055"/>
          <a:ext cx="5479773" cy="2200220"/>
        </p:xfrm>
        <a:graphic>
          <a:graphicData uri="http://schemas.openxmlformats.org/drawingml/2006/table">
            <a:tbl>
              <a:tblPr/>
              <a:tblGrid>
                <a:gridCol w="1163846">
                  <a:extLst>
                    <a:ext uri="{9D8B030D-6E8A-4147-A177-3AD203B41FA5}">
                      <a16:colId xmlns:a16="http://schemas.microsoft.com/office/drawing/2014/main" val="509403429"/>
                    </a:ext>
                  </a:extLst>
                </a:gridCol>
                <a:gridCol w="1163846">
                  <a:extLst>
                    <a:ext uri="{9D8B030D-6E8A-4147-A177-3AD203B41FA5}">
                      <a16:colId xmlns:a16="http://schemas.microsoft.com/office/drawing/2014/main" val="3364281740"/>
                    </a:ext>
                  </a:extLst>
                </a:gridCol>
                <a:gridCol w="1406313">
                  <a:extLst>
                    <a:ext uri="{9D8B030D-6E8A-4147-A177-3AD203B41FA5}">
                      <a16:colId xmlns:a16="http://schemas.microsoft.com/office/drawing/2014/main" val="963615844"/>
                    </a:ext>
                  </a:extLst>
                </a:gridCol>
                <a:gridCol w="1745768">
                  <a:extLst>
                    <a:ext uri="{9D8B030D-6E8A-4147-A177-3AD203B41FA5}">
                      <a16:colId xmlns:a16="http://schemas.microsoft.com/office/drawing/2014/main" val="1164038162"/>
                    </a:ext>
                  </a:extLst>
                </a:gridCol>
              </a:tblGrid>
              <a:tr h="82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($)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 Sales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Predicted Sales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744062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023464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Google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513906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Facebook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16700"/>
                  </a:ext>
                </a:extLst>
              </a:tr>
              <a:tr h="47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150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625285-0A56-7563-CC25-CD169B0E6256}"/>
                  </a:ext>
                </a:extLst>
              </p:cNvPr>
              <p:cNvSpPr txBox="1"/>
              <p:nvPr/>
            </p:nvSpPr>
            <p:spPr>
              <a:xfrm>
                <a:off x="8070011" y="6141804"/>
                <a:ext cx="2796601" cy="48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nn-NO" dirty="0">
                    <a:solidFill>
                      <a:srgbClr val="FF0000"/>
                    </a:solidFill>
                  </a:rPr>
                  <a:t>MSE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n-NO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nn-NO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nn-NO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nn-NO" dirty="0">
                            <a:solidFill>
                              <a:srgbClr val="FF0000"/>
                            </a:solidFill>
                          </a:rPr>
                          <m:t>​</m:t>
                        </m:r>
                      </m:e>
                    </m:nary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625285-0A56-7563-CC25-CD169B0E6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011" y="6141804"/>
                <a:ext cx="2796601" cy="484941"/>
              </a:xfrm>
              <a:prstGeom prst="rect">
                <a:avLst/>
              </a:prstGeom>
              <a:blipFill>
                <a:blip r:embed="rId4"/>
                <a:stretch>
                  <a:fillRect l="-1961" t="-79747" r="-1089" b="-13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30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CFDA-0348-8C04-CC18-05519350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44FE-6DBE-9B9A-945B-E3E782B4F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x_i</a:t>
            </a:r>
            <a:r>
              <a:rPr lang="en-US" dirty="0"/>
              <a:t> and </a:t>
            </a:r>
            <a:r>
              <a:rPr lang="en-US" dirty="0" err="1"/>
              <a:t>y_i</a:t>
            </a:r>
            <a:r>
              <a:rPr lang="en-US" dirty="0"/>
              <a:t> (for all </a:t>
            </a:r>
            <a:r>
              <a:rPr lang="en-US" dirty="0" err="1"/>
              <a:t>i</a:t>
            </a:r>
            <a:r>
              <a:rPr lang="en-US" dirty="0"/>
              <a:t>) -&gt; Training dataset</a:t>
            </a:r>
          </a:p>
          <a:p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y_hat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= w . </a:t>
            </a:r>
            <a:r>
              <a:rPr lang="en-US" b="1" dirty="0" err="1"/>
              <a:t>x_i</a:t>
            </a:r>
            <a:r>
              <a:rPr lang="en-US" b="1" dirty="0"/>
              <a:t>+ b</a:t>
            </a:r>
          </a:p>
          <a:p>
            <a:r>
              <a:rPr lang="en-US" b="1" dirty="0"/>
              <a:t>Random values of w and b </a:t>
            </a:r>
          </a:p>
          <a:p>
            <a:r>
              <a:rPr lang="en-US" b="1" dirty="0"/>
              <a:t>w= 0.2 and b = .4  </a:t>
            </a:r>
            <a:r>
              <a:rPr lang="en-US" b="1" dirty="0">
                <a:sym typeface="Wingdings" panose="05000000000000000000" pitchFamily="2" charset="2"/>
              </a:rPr>
              <a:t> w = 1 and b =.1</a:t>
            </a:r>
            <a:endParaRPr lang="en-US" b="1" dirty="0"/>
          </a:p>
          <a:p>
            <a:r>
              <a:rPr lang="en-US" b="1" dirty="0" err="1"/>
              <a:t>x_i</a:t>
            </a:r>
            <a:r>
              <a:rPr lang="en-US" b="1" dirty="0"/>
              <a:t> = 4 and </a:t>
            </a:r>
            <a:r>
              <a:rPr lang="en-US" b="1" dirty="0" err="1"/>
              <a:t>y_i</a:t>
            </a:r>
            <a:r>
              <a:rPr lang="en-US" b="1" dirty="0"/>
              <a:t> = 5 ( training dataset)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y_hat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= 0.2*4+0.4 = 1.2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Error =   1/n [sum over n (</a:t>
            </a:r>
            <a:r>
              <a:rPr lang="en-US" b="1" dirty="0" err="1">
                <a:solidFill>
                  <a:srgbClr val="FF0000"/>
                </a:solidFill>
              </a:rPr>
              <a:t>y_hat</a:t>
            </a:r>
            <a:r>
              <a:rPr lang="en-US" b="1" dirty="0">
                <a:solidFill>
                  <a:srgbClr val="FF0000"/>
                </a:solidFill>
              </a:rPr>
              <a:t> - </a:t>
            </a:r>
            <a:r>
              <a:rPr lang="en-US" b="1" dirty="0" err="1"/>
              <a:t>y_i</a:t>
            </a:r>
            <a:r>
              <a:rPr lang="en-US" b="1" dirty="0"/>
              <a:t>)^2] = 3.8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04579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9681-3586-03C7-C34B-F0EF7646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26F81-3F23-B4FB-3732-C5D12FA85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350" y="1859344"/>
            <a:ext cx="2224469" cy="921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E2FA2-56FE-FADE-D044-434FEF96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23" y="2814321"/>
            <a:ext cx="4458831" cy="921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FE1C8B-8DC2-F3BA-31F9-0617F8476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9" y="3904222"/>
            <a:ext cx="7374121" cy="2728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C67BE9-4C4E-18FA-4550-A0E4050C537E}"/>
                  </a:ext>
                </a:extLst>
              </p:cNvPr>
              <p:cNvSpPr txBox="1"/>
              <p:nvPr/>
            </p:nvSpPr>
            <p:spPr>
              <a:xfrm>
                <a:off x="5641676" y="2356261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This is a function of two unknowns: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en-US" dirty="0"/>
                  <a:t>intercept)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en-US" dirty="0"/>
                  <a:t>slope).</a:t>
                </a:r>
                <a:br>
                  <a:rPr lang="en-US" dirty="0"/>
                </a:br>
                <a:r>
                  <a:rPr lang="en-US" dirty="0"/>
                  <a:t>Think of it as a </a:t>
                </a:r>
                <a:r>
                  <a:rPr lang="en-US" b="1" dirty="0"/>
                  <a:t>surface</a:t>
                </a:r>
                <a:r>
                  <a:rPr lang="en-US" dirty="0"/>
                  <a:t> n 3D: each pair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gives a height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𝑆𝑆𝐸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r>
                  <a:rPr lang="en-US" dirty="0"/>
                  <a:t>We want the </a:t>
                </a:r>
                <a:r>
                  <a:rPr lang="en-US" b="1" dirty="0"/>
                  <a:t>minimum point</a:t>
                </a:r>
                <a:r>
                  <a:rPr lang="en-US" dirty="0"/>
                  <a:t> on this surface.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C67BE9-4C4E-18FA-4550-A0E4050C5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676" y="2356261"/>
                <a:ext cx="6096000" cy="1477328"/>
              </a:xfrm>
              <a:prstGeom prst="rect">
                <a:avLst/>
              </a:prstGeom>
              <a:blipFill>
                <a:blip r:embed="rId5"/>
                <a:stretch>
                  <a:fillRect l="-800" t="-2893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BEAA2AF-9203-E18B-10A6-F00FF1D3412D}"/>
              </a:ext>
            </a:extLst>
          </p:cNvPr>
          <p:cNvSpPr txBox="1"/>
          <p:nvPr/>
        </p:nvSpPr>
        <p:spPr>
          <a:xfrm>
            <a:off x="5601419" y="55695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minimum occurs when the surface stops going downhill in any direction. Mathematically, this means the slope of the function </a:t>
            </a:r>
            <a:r>
              <a:rPr lang="en-US" dirty="0" err="1"/>
              <a:t>wrt</a:t>
            </a:r>
            <a:r>
              <a:rPr lang="en-US" dirty="0"/>
              <a:t> each variable is zero.</a:t>
            </a:r>
          </a:p>
        </p:txBody>
      </p:sp>
    </p:spTree>
    <p:extLst>
      <p:ext uri="{BB962C8B-B14F-4D97-AF65-F5344CB8AC3E}">
        <p14:creationId xmlns:p14="http://schemas.microsoft.com/office/powerpoint/2010/main" val="74700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B423-8C5C-4682-AB9A-A78ED9580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C2641B-54D7-6ADB-562B-7DB9A9D52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2310" y="1823138"/>
            <a:ext cx="8246851" cy="476652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F7581411-1C27-FEC7-D6E7-0C6C181D3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101" y="5754211"/>
            <a:ext cx="538863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Numerator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covariance between x and 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Denominator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variance of x.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slope =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x,y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)/Var(x).</a:t>
            </a:r>
          </a:p>
        </p:txBody>
      </p:sp>
    </p:spTree>
    <p:extLst>
      <p:ext uri="{BB962C8B-B14F-4D97-AF65-F5344CB8AC3E}">
        <p14:creationId xmlns:p14="http://schemas.microsoft.com/office/powerpoint/2010/main" val="1118111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EF40-2B90-DD44-27B3-E48E265D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A41C-F394-3DB5-B4A9-47514877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Independence </a:t>
            </a:r>
          </a:p>
          <a:p>
            <a:pPr lvl="1"/>
            <a:r>
              <a:rPr lang="en-US" dirty="0"/>
              <a:t>errors are independent and identically distributed</a:t>
            </a:r>
          </a:p>
          <a:p>
            <a:pPr lvl="1"/>
            <a:r>
              <a:rPr lang="en-US" dirty="0"/>
              <a:t>Observations come from distinct experimental units</a:t>
            </a:r>
          </a:p>
          <a:p>
            <a:r>
              <a:rPr lang="en-US" dirty="0"/>
              <a:t>Linearity</a:t>
            </a:r>
          </a:p>
          <a:p>
            <a:pPr lvl="1"/>
            <a:r>
              <a:rPr lang="en-US" dirty="0"/>
              <a:t>Increasing x by 1 will have a fixed change in y</a:t>
            </a:r>
          </a:p>
          <a:p>
            <a:r>
              <a:rPr lang="en-US" dirty="0"/>
              <a:t>Normality</a:t>
            </a:r>
          </a:p>
          <a:p>
            <a:pPr lvl="1"/>
            <a:r>
              <a:rPr lang="en-US" dirty="0"/>
              <a:t>Residuals are normally distributed</a:t>
            </a:r>
          </a:p>
          <a:p>
            <a:r>
              <a:rPr lang="en-US" dirty="0"/>
              <a:t>Constant Variance</a:t>
            </a:r>
          </a:p>
          <a:p>
            <a:pPr lvl="1"/>
            <a:r>
              <a:rPr lang="en-US" dirty="0"/>
              <a:t>Variance is constant along the regression line</a:t>
            </a:r>
          </a:p>
        </p:txBody>
      </p:sp>
    </p:spTree>
    <p:extLst>
      <p:ext uri="{BB962C8B-B14F-4D97-AF65-F5344CB8AC3E}">
        <p14:creationId xmlns:p14="http://schemas.microsoft.com/office/powerpoint/2010/main" val="544962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F085-17A7-B85A-6936-9876E196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ED6C1-388C-7F3D-C6E7-E4AEDF255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45233"/>
            <a:ext cx="1047390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Assumption: The relationship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 (predictor)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 (target)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linear.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Check: A scatter plot of fitted values vs actual values should show a straight trend.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it looks curved → linear regression is not appropriate, you may need polynomial regression.</a:t>
            </a:r>
          </a:p>
        </p:txBody>
      </p:sp>
    </p:spTree>
    <p:extLst>
      <p:ext uri="{BB962C8B-B14F-4D97-AF65-F5344CB8AC3E}">
        <p14:creationId xmlns:p14="http://schemas.microsoft.com/office/powerpoint/2010/main" val="347195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70BF-889D-650C-9D8B-BD717D93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A81A-0402-D355-DD14-9F22631C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Residuals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6FA5CF-5D0D-E525-E244-49301C454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277465"/>
            <a:ext cx="96589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Assumption: Residuals (errors = actual – predicted) should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randomly scattered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Check: In a residuals vs fitted plot, the points should not show a pattern (like a curve or systematic shape).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there’s a clear pattern → the model is missing something (nonlinearity, omitted variable).</a:t>
            </a:r>
          </a:p>
        </p:txBody>
      </p:sp>
    </p:spTree>
    <p:extLst>
      <p:ext uri="{BB962C8B-B14F-4D97-AF65-F5344CB8AC3E}">
        <p14:creationId xmlns:p14="http://schemas.microsoft.com/office/powerpoint/2010/main" val="1044325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00D8-7523-0F92-C8B6-E84D55BB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Residual Plots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6A65A0-1983-ED33-5544-78F630CFC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8295" y="1739360"/>
            <a:ext cx="9015410" cy="44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56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8C53F-2785-8645-FBF8-E745D055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80B8-B18A-C2D6-D772-50079555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Homoscedasticity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12D4DC-70FA-ABD5-AADD-5C5837557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6929"/>
            <a:ext cx="1079595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Assumption: The variance of residuals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constant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across all fitted values.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Check: Residual plot should look like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cloud of points with equal spread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residuals fan out (funnel shape)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heteroscedasticity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problem (errors depend on X).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affects the reliability of standard errors and confidence intervals.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9556C-FD91-E29C-1801-1B182E166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120" y="3896485"/>
            <a:ext cx="3594340" cy="28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52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EA53-3A2E-7715-23AF-3BCD7F6D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76D6-6209-042D-25F2-135D36B36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Normality of Errors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2EF358-B2A5-85B0-149B-5C83EF877B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7073" y="1613118"/>
            <a:ext cx="1145012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Assumption: Residuals are normally distributed (bell-shaped).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Check: Plot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histogram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or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Q-Q plot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residuals.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residuals are not normal (very skewed or heavy-tailed), hypothesis tests &amp; confidence intervals may be invalid.</a:t>
            </a:r>
          </a:p>
        </p:txBody>
      </p:sp>
    </p:spTree>
    <p:extLst>
      <p:ext uri="{BB962C8B-B14F-4D97-AF65-F5344CB8AC3E}">
        <p14:creationId xmlns:p14="http://schemas.microsoft.com/office/powerpoint/2010/main" val="2996415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BBF3-85A6-2874-5B49-F15282C7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Q–Q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4129B-BC4D-F801-EB97-03C225F2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Q–Q (quantile–quantile) plot compares the quantiles of your data (typically residuals from a regression) to the quantiles of a reference distribution (most often the Normal).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46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EE0D-BA28-7E40-E927-A0E903F2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DABFD-D00A-311C-F67C-D97267AA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1) Right-skewed (positive skew / right-tailed)</a:t>
            </a:r>
            <a:endParaRPr lang="en-US" dirty="0"/>
          </a:p>
          <a:p>
            <a:pPr lvl="1"/>
            <a:r>
              <a:rPr lang="en-US" b="1" dirty="0"/>
              <a:t>Right tail (far right)</a:t>
            </a:r>
            <a:r>
              <a:rPr lang="en-US" dirty="0"/>
              <a:t>: points </a:t>
            </a:r>
            <a:r>
              <a:rPr lang="en-US" b="1" dirty="0"/>
              <a:t>above</a:t>
            </a:r>
            <a:r>
              <a:rPr lang="en-US" dirty="0"/>
              <a:t> the line (sample quantiles larger than Normal).</a:t>
            </a:r>
          </a:p>
          <a:p>
            <a:pPr lvl="1"/>
            <a:r>
              <a:rPr lang="en-US" b="1" dirty="0"/>
              <a:t>Left tail (far left)</a:t>
            </a:r>
            <a:r>
              <a:rPr lang="en-US" dirty="0"/>
              <a:t>: points </a:t>
            </a:r>
            <a:r>
              <a:rPr lang="en-US" b="1" dirty="0"/>
              <a:t>below</a:t>
            </a:r>
            <a:r>
              <a:rPr lang="en-US" dirty="0"/>
              <a:t> the line (often less extreme than Normal).</a:t>
            </a:r>
          </a:p>
          <a:p>
            <a:pPr lvl="1"/>
            <a:r>
              <a:rPr lang="en-US" b="1" dirty="0"/>
              <a:t>Asymmetry</a:t>
            </a:r>
            <a:r>
              <a:rPr lang="en-US" dirty="0"/>
              <a:t>: the </a:t>
            </a:r>
            <a:r>
              <a:rPr lang="en-US" b="1" dirty="0"/>
              <a:t>upper</a:t>
            </a:r>
            <a:r>
              <a:rPr lang="en-US" dirty="0"/>
              <a:t> tail deviates much more than the lower tail.</a:t>
            </a:r>
          </a:p>
          <a:p>
            <a:pPr marL="0" indent="0">
              <a:buNone/>
            </a:pPr>
            <a:r>
              <a:rPr lang="en-US" b="1" dirty="0"/>
              <a:t>2) Left-skewed (negative skew / left-tailed)</a:t>
            </a:r>
            <a:endParaRPr lang="en-US" dirty="0"/>
          </a:p>
          <a:p>
            <a:pPr lvl="1"/>
            <a:r>
              <a:rPr lang="en-US" b="1" dirty="0"/>
              <a:t>Left tail</a:t>
            </a:r>
            <a:r>
              <a:rPr lang="en-US" dirty="0"/>
              <a:t>: points </a:t>
            </a:r>
            <a:r>
              <a:rPr lang="en-US" b="1" dirty="0"/>
              <a:t>above</a:t>
            </a:r>
            <a:r>
              <a:rPr lang="en-US" dirty="0"/>
              <a:t> the line.</a:t>
            </a:r>
          </a:p>
          <a:p>
            <a:pPr lvl="1"/>
            <a:r>
              <a:rPr lang="en-US" b="1" dirty="0"/>
              <a:t>Right tail</a:t>
            </a:r>
            <a:r>
              <a:rPr lang="en-US" dirty="0"/>
              <a:t>: points </a:t>
            </a:r>
            <a:r>
              <a:rPr lang="en-US" b="1" dirty="0"/>
              <a:t>below</a:t>
            </a:r>
            <a:r>
              <a:rPr lang="en-US" dirty="0"/>
              <a:t> the line.</a:t>
            </a:r>
          </a:p>
          <a:p>
            <a:pPr lvl="1"/>
            <a:r>
              <a:rPr lang="en-US" b="1" dirty="0"/>
              <a:t>Asymmetry</a:t>
            </a:r>
            <a:r>
              <a:rPr lang="en-US" dirty="0"/>
              <a:t>: the </a:t>
            </a:r>
            <a:r>
              <a:rPr lang="en-US" b="1" dirty="0"/>
              <a:t>lower</a:t>
            </a:r>
            <a:r>
              <a:rPr lang="en-US" dirty="0"/>
              <a:t> tail deviates more.</a:t>
            </a:r>
          </a:p>
          <a:p>
            <a:pPr marL="0" indent="0">
              <a:buNone/>
            </a:pPr>
            <a:r>
              <a:rPr lang="en-US" b="1" dirty="0"/>
              <a:t>3) Heavy tails (symmetric, e.g., t-like / leptokurtic)</a:t>
            </a:r>
            <a:endParaRPr lang="en-US" dirty="0"/>
          </a:p>
          <a:p>
            <a:pPr lvl="1"/>
            <a:r>
              <a:rPr lang="en-US" b="1" dirty="0"/>
              <a:t>Both</a:t>
            </a:r>
            <a:r>
              <a:rPr lang="en-US" dirty="0"/>
              <a:t> tails are </a:t>
            </a:r>
            <a:r>
              <a:rPr lang="en-US" b="1" dirty="0"/>
              <a:t>more extreme</a:t>
            </a:r>
            <a:r>
              <a:rPr lang="en-US" dirty="0"/>
              <a:t> than Normal:</a:t>
            </a:r>
          </a:p>
          <a:p>
            <a:pPr lvl="2"/>
            <a:r>
              <a:rPr lang="en-US" b="1" dirty="0"/>
              <a:t>Left tail below</a:t>
            </a:r>
            <a:r>
              <a:rPr lang="en-US" dirty="0"/>
              <a:t>, </a:t>
            </a:r>
            <a:r>
              <a:rPr lang="en-US" b="1" dirty="0"/>
              <a:t>right tail above</a:t>
            </a:r>
            <a:r>
              <a:rPr lang="en-US" dirty="0"/>
              <a:t> the line, in a fairly </a:t>
            </a:r>
            <a:r>
              <a:rPr lang="en-US" b="1" dirty="0"/>
              <a:t>symmetric S-shape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middle may lie close to the line.</a:t>
            </a:r>
          </a:p>
          <a:p>
            <a:pPr marL="0" indent="0">
              <a:buNone/>
            </a:pPr>
            <a:r>
              <a:rPr lang="en-US" b="1" dirty="0"/>
              <a:t>4) Light tails (symmetric, e.g., uniform-</a:t>
            </a:r>
            <a:r>
              <a:rPr lang="en-US" b="1" dirty="0" err="1"/>
              <a:t>ish</a:t>
            </a:r>
            <a:r>
              <a:rPr lang="en-US" b="1" dirty="0"/>
              <a:t> / platykurtic)</a:t>
            </a:r>
            <a:endParaRPr lang="en-US" dirty="0"/>
          </a:p>
          <a:p>
            <a:pPr lvl="1"/>
            <a:r>
              <a:rPr lang="en-US" b="1" dirty="0"/>
              <a:t>Both</a:t>
            </a:r>
            <a:r>
              <a:rPr lang="en-US" dirty="0"/>
              <a:t> tails are </a:t>
            </a:r>
            <a:r>
              <a:rPr lang="en-US" b="1" dirty="0"/>
              <a:t>less extreme</a:t>
            </a:r>
            <a:r>
              <a:rPr lang="en-US" dirty="0"/>
              <a:t> than Normal:</a:t>
            </a:r>
          </a:p>
          <a:p>
            <a:pPr lvl="2"/>
            <a:r>
              <a:rPr lang="en-US" b="1" dirty="0"/>
              <a:t>Left tail above</a:t>
            </a:r>
            <a:r>
              <a:rPr lang="en-US" dirty="0"/>
              <a:t>, </a:t>
            </a:r>
            <a:r>
              <a:rPr lang="en-US" b="1" dirty="0"/>
              <a:t>right tail below</a:t>
            </a:r>
            <a:r>
              <a:rPr lang="en-US" dirty="0"/>
              <a:t> the line (reverse S), roughly symmetric.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404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615A2-1768-4279-8B28-075A3C121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B92F-33C2-0804-7D8E-DACBB695A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40683" cy="4525963"/>
          </a:xfrm>
        </p:spPr>
        <p:txBody>
          <a:bodyPr/>
          <a:lstStyle/>
          <a:p>
            <a:r>
              <a:rPr lang="en-US" dirty="0"/>
              <a:t>If all these checks are satisfied: The regression model is valid and reliable. </a:t>
            </a:r>
          </a:p>
          <a:p>
            <a:r>
              <a:rPr lang="en-US" dirty="0"/>
              <a:t>If not → predictions may be biased or misleading, and you might need transformations (log, polynomial) or a different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28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4724</TotalTime>
  <Words>1554</Words>
  <Application>Microsoft Office PowerPoint</Application>
  <PresentationFormat>Widescreen</PresentationFormat>
  <Paragraphs>175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Candara</vt:lpstr>
      <vt:lpstr>Times New Roman</vt:lpstr>
      <vt:lpstr>Wingdings</vt:lpstr>
      <vt:lpstr>Office Theme</vt:lpstr>
      <vt:lpstr>Linear Regression</vt:lpstr>
      <vt:lpstr>PowerPoint Presentation</vt:lpstr>
      <vt:lpstr>PowerPoint Presentation</vt:lpstr>
      <vt:lpstr>PowerPoint Presentation</vt:lpstr>
      <vt:lpstr>PowerPoint Presentation</vt:lpstr>
      <vt:lpstr>Intercept b (or bias)</vt:lpstr>
      <vt:lpstr>Slope w (or weight)</vt:lpstr>
      <vt:lpstr>Example: Study Hours → Exam Score</vt:lpstr>
      <vt:lpstr>Graphical Illustration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Assumptions in Linear Regression</vt:lpstr>
      <vt:lpstr>Linearity</vt:lpstr>
      <vt:lpstr>Residuals</vt:lpstr>
      <vt:lpstr>Analyzing Residual Plots</vt:lpstr>
      <vt:lpstr>Homoscedasticity</vt:lpstr>
      <vt:lpstr>Normality of Errors</vt:lpstr>
      <vt:lpstr>Q–Q Plot</vt:lpstr>
      <vt:lpstr>Analysis points</vt:lpstr>
      <vt:lpstr>Why this matters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Anugya Shukla</dc:creator>
  <cp:lastModifiedBy>Sidharth Sharma</cp:lastModifiedBy>
  <cp:revision>71</cp:revision>
  <dcterms:created xsi:type="dcterms:W3CDTF">2025-09-17T10:53:19Z</dcterms:created>
  <dcterms:modified xsi:type="dcterms:W3CDTF">2025-09-23T12:30:46Z</dcterms:modified>
</cp:coreProperties>
</file>