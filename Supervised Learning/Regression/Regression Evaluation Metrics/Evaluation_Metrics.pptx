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2" r:id="rId11"/>
    <p:sldId id="269" r:id="rId12"/>
    <p:sldId id="270" r:id="rId13"/>
    <p:sldId id="271" r:id="rId14"/>
    <p:sldId id="272" r:id="rId15"/>
    <p:sldId id="273" r:id="rId16"/>
    <p:sldId id="263" r:id="rId17"/>
    <p:sldId id="264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Regression Model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MAE, MSE, RMSE, R², Residual Plots &amp; Model Selection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</a:t>
            </a:r>
            <a:r>
              <a:rPr lang="en-US" dirty="0"/>
              <a:t>hy</a:t>
            </a:r>
            <a:r>
              <a:rPr dirty="0"/>
              <a:t> is Regression Model Evaluation?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>
              <a:defRPr sz="2000"/>
            </a:pPr>
            <a:r>
              <a:rPr sz="2800" dirty="0"/>
              <a:t>Regression predicts continuous values (e.g., house price, marks).</a:t>
            </a:r>
          </a:p>
          <a:p>
            <a:pPr>
              <a:defRPr sz="2000"/>
            </a:pPr>
            <a:r>
              <a:rPr sz="2800" dirty="0"/>
              <a:t>But how do we know if the model is good?</a:t>
            </a:r>
          </a:p>
          <a:p>
            <a:pPr>
              <a:defRPr sz="2000"/>
            </a:pPr>
            <a:r>
              <a:rPr sz="2800" dirty="0"/>
              <a:t>We use metrics &amp; visualizations to evaluate.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 Absolute Error (MAE)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Formula: MAE = (1/n) Σ |y - ŷ|</a:t>
            </a:r>
          </a:p>
          <a:p>
            <a:pPr>
              <a:defRPr sz="2000"/>
            </a:pPr>
            <a:r>
              <a:rPr sz="2800" dirty="0"/>
              <a:t>Meaning: Average of absolute errors.</a:t>
            </a:r>
          </a:p>
          <a:p>
            <a:pPr>
              <a:defRPr sz="2000"/>
            </a:pPr>
            <a:r>
              <a:rPr sz="2800" dirty="0"/>
              <a:t>Pros: Easy to understand, less sensitive to outliers.</a:t>
            </a:r>
          </a:p>
          <a:p>
            <a:pPr>
              <a:defRPr sz="2000"/>
            </a:pPr>
            <a:r>
              <a:rPr sz="2800" dirty="0"/>
              <a:t>Cons: Ignores direction of error.</a:t>
            </a:r>
          </a:p>
          <a:p>
            <a:pPr>
              <a:defRPr sz="2000"/>
            </a:pPr>
            <a:r>
              <a:rPr sz="2800" dirty="0"/>
              <a:t>Example: MAE = 5 </a:t>
            </a:r>
            <a:r>
              <a:rPr lang="en-IN" sz="2800" dirty="0"/>
              <a:t>implies</a:t>
            </a:r>
            <a:r>
              <a:rPr sz="2800" dirty="0"/>
              <a:t> On average, predictions are off by 5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Mean Squared Error (MSE)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Formula: MSE = (1/n) Σ (y - ŷ)²</a:t>
            </a:r>
          </a:p>
          <a:p>
            <a:pPr>
              <a:defRPr sz="2000"/>
            </a:pPr>
            <a:r>
              <a:rPr sz="2800" dirty="0"/>
              <a:t>Meaning: Average of squared errors.</a:t>
            </a:r>
          </a:p>
          <a:p>
            <a:pPr>
              <a:defRPr sz="2000"/>
            </a:pPr>
            <a:r>
              <a:rPr sz="2800" dirty="0"/>
              <a:t>Pros: Penalizes large errors more.</a:t>
            </a:r>
          </a:p>
          <a:p>
            <a:pPr>
              <a:defRPr sz="2000"/>
            </a:pPr>
            <a:r>
              <a:rPr sz="2800" dirty="0"/>
              <a:t>Cons: Harder to interpret (squared units).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Mean Squared Error (RMSE)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Formula: RMSE = √MSE</a:t>
            </a:r>
          </a:p>
          <a:p>
            <a:pPr>
              <a:defRPr sz="2000"/>
            </a:pPr>
            <a:r>
              <a:rPr sz="2800" dirty="0"/>
              <a:t>Meaning: Similar to MAE but gives more weight to large errors.</a:t>
            </a:r>
          </a:p>
          <a:p>
            <a:pPr>
              <a:defRPr sz="2000"/>
            </a:pPr>
            <a:r>
              <a:rPr sz="2800" dirty="0"/>
              <a:t>Pros: Same unit as data, easier to explain.</a:t>
            </a:r>
          </a:p>
          <a:p>
            <a:pPr>
              <a:defRPr sz="2000"/>
            </a:pPr>
            <a:r>
              <a:rPr sz="2800" dirty="0"/>
              <a:t>Example: RMSE = 7 </a:t>
            </a:r>
            <a:r>
              <a:rPr lang="en-IN" sz="2800" dirty="0"/>
              <a:t>implies</a:t>
            </a:r>
            <a:r>
              <a:rPr sz="2800" dirty="0"/>
              <a:t> Predictions deviate by ~7 units on average.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R² Score (Coefficient of Determination)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245600" cy="4525963"/>
          </a:xfrm>
        </p:spPr>
        <p:txBody>
          <a:bodyPr>
            <a:normAutofit fontScale="92500" lnSpcReduction="20000"/>
          </a:bodyPr>
          <a:lstStyle/>
          <a:p>
            <a:pPr>
              <a:defRPr sz="2000"/>
            </a:pPr>
            <a:r>
              <a:rPr sz="2800" dirty="0"/>
              <a:t>Formula: </a:t>
            </a:r>
            <a:r>
              <a:rPr lang="en-IN" sz="2800" dirty="0"/>
              <a:t> </a:t>
            </a:r>
            <a:r>
              <a:rPr sz="2800" b="1" dirty="0"/>
              <a:t>R² = </a:t>
            </a:r>
            <a:r>
              <a:rPr lang="en-US" sz="2800" b="1" dirty="0"/>
              <a:t>1 - </a:t>
            </a:r>
            <a:r>
              <a:rPr sz="2800" b="1" dirty="0" err="1"/>
              <a:t>SS</a:t>
            </a:r>
            <a:r>
              <a:rPr sz="2800" b="1" baseline="-25000" dirty="0" err="1"/>
              <a:t>res</a:t>
            </a:r>
            <a:r>
              <a:rPr sz="2800" b="1" baseline="-25000" dirty="0"/>
              <a:t> </a:t>
            </a:r>
            <a:endParaRPr lang="en-IN" sz="2800" b="1" baseline="-25000" dirty="0"/>
          </a:p>
          <a:p>
            <a:pPr marL="0" indent="0">
              <a:buNone/>
              <a:defRPr sz="2000"/>
            </a:pPr>
            <a:r>
              <a:rPr lang="en-IN" sz="2800" b="1" dirty="0"/>
              <a:t>				             </a:t>
            </a:r>
            <a:r>
              <a:rPr sz="2800" b="1" dirty="0"/>
              <a:t>S</a:t>
            </a:r>
            <a:r>
              <a:rPr lang="en-IN" sz="2800" b="1" dirty="0"/>
              <a:t>s</a:t>
            </a:r>
            <a:r>
              <a:rPr sz="2800" b="1" baseline="-25000" dirty="0"/>
              <a:t>tot</a:t>
            </a:r>
            <a:endParaRPr lang="en-IN" sz="2800" b="1" baseline="-25000" dirty="0"/>
          </a:p>
          <a:p>
            <a:pPr marL="0" indent="0">
              <a:buNone/>
              <a:defRPr sz="2000"/>
            </a:pPr>
            <a:endParaRPr lang="en-IN" sz="2800" b="1" baseline="-25000" dirty="0"/>
          </a:p>
          <a:p>
            <a:pPr>
              <a:defRPr sz="2000"/>
            </a:pPr>
            <a:r>
              <a:rPr lang="en-US" sz="2800" dirty="0"/>
              <a:t>The coefficient of determination/R</a:t>
            </a:r>
            <a:r>
              <a:rPr lang="en-US" sz="2800" baseline="30000" dirty="0"/>
              <a:t>2 </a:t>
            </a:r>
            <a:r>
              <a:rPr lang="en-US" sz="2800" dirty="0"/>
              <a:t>is a statistical measure that provides information about the goodness of fit of a model. </a:t>
            </a:r>
          </a:p>
          <a:p>
            <a:pPr marL="0" indent="0">
              <a:buNone/>
              <a:defRPr sz="2000"/>
            </a:pPr>
            <a:endParaRPr lang="en-US" sz="2800" dirty="0"/>
          </a:p>
          <a:p>
            <a:pPr>
              <a:defRPr sz="2000"/>
            </a:pPr>
            <a:r>
              <a:rPr lang="en-US" sz="2800" dirty="0"/>
              <a:t>R</a:t>
            </a:r>
            <a:r>
              <a:rPr lang="en-US" sz="2800" baseline="30000" dirty="0"/>
              <a:t>2 </a:t>
            </a:r>
            <a:r>
              <a:rPr lang="en-US" sz="2800" dirty="0"/>
              <a:t>value denotes the % of variation in the dependent variable explained by the independent variable in the regression model.</a:t>
            </a:r>
          </a:p>
          <a:p>
            <a:pPr marL="0" indent="0">
              <a:buNone/>
              <a:defRPr sz="2000"/>
            </a:pPr>
            <a:endParaRPr lang="en-US" sz="2800" b="1" dirty="0"/>
          </a:p>
          <a:p>
            <a:pPr>
              <a:defRPr sz="2000"/>
            </a:pPr>
            <a:r>
              <a:rPr lang="en-US" sz="2800" dirty="0"/>
              <a:t>Range: -∞ to 1</a:t>
            </a:r>
          </a:p>
          <a:p>
            <a:pPr>
              <a:defRPr sz="2000"/>
            </a:pPr>
            <a:r>
              <a:rPr lang="en-US" sz="2800" dirty="0"/>
              <a:t>Closer to 1 implies Better fit.</a:t>
            </a:r>
          </a:p>
          <a:p>
            <a:pPr>
              <a:defRPr sz="2000"/>
            </a:pPr>
            <a:r>
              <a:rPr lang="en-US" sz="2800" dirty="0"/>
              <a:t>Example: R² = 0.85 means Model explains 85% of variance.</a:t>
            </a:r>
          </a:p>
          <a:p>
            <a:pPr marL="0" indent="0">
              <a:buNone/>
              <a:defRPr sz="2000"/>
            </a:pPr>
            <a:endParaRPr lang="en-IN" sz="2800" b="1" baseline="-25000" dirty="0"/>
          </a:p>
          <a:p>
            <a:pPr marL="0" indent="0">
              <a:buNone/>
              <a:defRPr sz="2000"/>
            </a:pPr>
            <a:endParaRPr lang="en-IN" sz="7000" b="1" baseline="-25000" dirty="0"/>
          </a:p>
          <a:p>
            <a:pPr marL="0" indent="0">
              <a:buNone/>
              <a:defRPr sz="2000"/>
            </a:pPr>
            <a:endParaRPr lang="en-IN" sz="4500" b="1" dirty="0"/>
          </a:p>
          <a:p>
            <a:pPr marL="0" indent="0">
              <a:buNone/>
              <a:defRPr sz="2000"/>
            </a:pPr>
            <a:endParaRPr lang="en-IN" sz="2800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E19888-3B69-BFEE-49E0-E2F63A98B337}"/>
              </a:ext>
            </a:extLst>
          </p:cNvPr>
          <p:cNvCxnSpPr/>
          <p:nvPr/>
        </p:nvCxnSpPr>
        <p:spPr>
          <a:xfrm>
            <a:off x="2736919" y="2042714"/>
            <a:ext cx="8138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7C4AE-97FF-D451-891F-A7DE2C2EC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1" dirty="0"/>
              <a:t>SS</a:t>
            </a:r>
            <a:r>
              <a:rPr lang="en-IN" b="1" baseline="-25000" dirty="0"/>
              <a:t>res </a:t>
            </a:r>
            <a:r>
              <a:rPr lang="en-IN" b="1" dirty="0"/>
              <a:t>(Residual Sum of Squares)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E5730-1B17-1CBD-5633-3A35D2A13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</p:spPr>
            <p:txBody>
              <a:bodyPr>
                <a:normAutofit/>
              </a:bodyPr>
              <a:lstStyle/>
              <a:p>
                <a:r>
                  <a:rPr lang="en-IN" sz="2800" dirty="0">
                    <a:latin typeface="+mj-lt"/>
                  </a:rPr>
                  <a:t>Also called </a:t>
                </a:r>
                <a:r>
                  <a:rPr lang="en-IN" sz="2800" b="1" dirty="0">
                    <a:latin typeface="+mj-lt"/>
                  </a:rPr>
                  <a:t>Sum of Squared Errors (SSE)</a:t>
                </a:r>
                <a:r>
                  <a:rPr lang="en-IN" sz="2800" dirty="0">
                    <a:latin typeface="+mj-lt"/>
                  </a:rPr>
                  <a:t>.</a:t>
                </a:r>
              </a:p>
              <a:p>
                <a:r>
                  <a:rPr lang="en-IN" sz="2800" dirty="0">
                    <a:latin typeface="+mj-lt"/>
                  </a:rPr>
                  <a:t>It measures the difference between the </a:t>
                </a:r>
                <a:r>
                  <a:rPr lang="en-IN" sz="2800" b="1" dirty="0">
                    <a:latin typeface="+mj-lt"/>
                  </a:rPr>
                  <a:t>actual values</a:t>
                </a:r>
                <a:r>
                  <a:rPr lang="en-IN" sz="2800" dirty="0">
                    <a:latin typeface="+mj-lt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 sz="2800" dirty="0">
                    <a:latin typeface="+mj-lt"/>
                  </a:rPr>
                  <a:t>and the </a:t>
                </a:r>
                <a:r>
                  <a:rPr lang="en-IN" sz="2800" b="1" dirty="0">
                    <a:latin typeface="+mj-lt"/>
                  </a:rPr>
                  <a:t>predicted values</a:t>
                </a:r>
                <a:r>
                  <a:rPr lang="en-IN" sz="2800" dirty="0">
                    <a:latin typeface="+mj-lt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800" dirty="0">
                    <a:latin typeface="+mj-lt"/>
                  </a:rPr>
                  <a:t>.</a:t>
                </a:r>
                <a:endParaRPr lang="ar-AE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IN" dirty="0"/>
                  <a:t>					SS</a:t>
                </a:r>
                <a:r>
                  <a:rPr lang="en-IN" baseline="-25000" dirty="0"/>
                  <a:t>res</a:t>
                </a:r>
                <a:r>
                  <a:rPr lang="en-IN" dirty="0"/>
                  <a:t>​= ∑ (y</a:t>
                </a:r>
                <a:r>
                  <a:rPr lang="en-IN" baseline="-25000" dirty="0"/>
                  <a:t>i</a:t>
                </a:r>
                <a:r>
                  <a:rPr lang="en-IN" dirty="0"/>
                  <a:t>​−</a:t>
                </a:r>
                <a:r>
                  <a:rPr lang="cy-GB" dirty="0"/>
                  <a:t>ŷ</a:t>
                </a:r>
                <a:r>
                  <a:rPr lang="en-IN" baseline="-25000" dirty="0"/>
                  <a:t>​i</a:t>
                </a:r>
                <a:r>
                  <a:rPr lang="en-IN" dirty="0"/>
                  <a:t>​)</a:t>
                </a:r>
                <a:r>
                  <a:rPr lang="en-IN" baseline="30000" dirty="0"/>
                  <a:t>2</a:t>
                </a:r>
              </a:p>
              <a:p>
                <a:pPr marL="0" indent="0">
                  <a:buNone/>
                </a:pPr>
                <a:endParaRPr lang="en-IN" baseline="300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IN" sz="2800" dirty="0">
                    <a:latin typeface="+mj-lt"/>
                  </a:rPr>
                  <a:t>Lower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</m:oMath>
                </a14:m>
                <a:r>
                  <a:rPr lang="en-IN" sz="2800" dirty="0">
                    <a:latin typeface="+mj-lt"/>
                  </a:rPr>
                  <a:t>means predictions are close to actual              values.</a:t>
                </a:r>
              </a:p>
              <a:p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E5730-1B17-1CBD-5633-3A35D2A13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  <a:blipFill>
                <a:blip r:embed="rId2"/>
                <a:stretch>
                  <a:fillRect l="-1441" t="-1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5111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851D4-3FCE-5D5E-99DD-ED8177E2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E8FF-A625-D7DE-B6AA-3D15FB21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SS</a:t>
            </a:r>
            <a:r>
              <a:rPr lang="en-IN" b="1" baseline="-25000" dirty="0"/>
              <a:t>tot </a:t>
            </a:r>
            <a:r>
              <a:rPr lang="en-IN" b="1" dirty="0"/>
              <a:t>(Total Sum of Squares)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5D954-1FFF-EBAA-973C-D9F1CEA40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It measures the </a:t>
            </a:r>
            <a:r>
              <a:rPr lang="en-IN" sz="2800" b="1" dirty="0"/>
              <a:t>total variation</a:t>
            </a:r>
            <a:r>
              <a:rPr lang="en-IN" sz="2800" dirty="0"/>
              <a:t> in the data (how spread out the actual values are from the mean).</a:t>
            </a:r>
          </a:p>
          <a:p>
            <a:pPr marL="0" indent="0">
              <a:buNone/>
            </a:pPr>
            <a:r>
              <a:rPr lang="en-IN" dirty="0"/>
              <a:t>					SS</a:t>
            </a:r>
            <a:r>
              <a:rPr lang="en-IN" baseline="-25000" dirty="0"/>
              <a:t>tot</a:t>
            </a:r>
            <a:r>
              <a:rPr lang="en-IN" dirty="0"/>
              <a:t>​= ∑ (y</a:t>
            </a:r>
            <a:r>
              <a:rPr lang="en-IN" baseline="-25000" dirty="0"/>
              <a:t>i</a:t>
            </a:r>
            <a:r>
              <a:rPr lang="en-IN" dirty="0"/>
              <a:t>​−ȳ)</a:t>
            </a:r>
            <a:r>
              <a:rPr lang="en-IN" baseline="30000" dirty="0"/>
              <a:t>2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sz="2800" dirty="0"/>
              <a:t>where ȳ is the mean of actual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0747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0E3B-B1BA-2966-6C90-131F0059B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</a:t>
            </a:r>
            <a:r>
              <a:rPr lang="en-IN" baseline="30000" dirty="0"/>
              <a:t>2 </a:t>
            </a:r>
            <a:r>
              <a:rPr lang="en-IN" dirty="0"/>
              <a:t>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1D094-CC1B-22C4-B370-257949A239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262872" cy="4525963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Formula:  R² = 1 - </a:t>
                </a:r>
                <a:r>
                  <a:rPr lang="en-IN" dirty="0"/>
                  <a:t>∑ (y</a:t>
                </a:r>
                <a:r>
                  <a:rPr lang="en-IN" baseline="-25000" dirty="0"/>
                  <a:t>i</a:t>
                </a:r>
                <a:r>
                  <a:rPr lang="en-IN" dirty="0"/>
                  <a:t>​−</a:t>
                </a:r>
                <a:r>
                  <a:rPr lang="cy-GB" dirty="0"/>
                  <a:t>ŷ</a:t>
                </a:r>
                <a:r>
                  <a:rPr lang="en-IN" baseline="-25000" dirty="0"/>
                  <a:t>​i</a:t>
                </a:r>
                <a:r>
                  <a:rPr lang="en-IN" dirty="0"/>
                  <a:t>​)</a:t>
                </a:r>
                <a:r>
                  <a:rPr lang="en-IN" baseline="30000" dirty="0"/>
                  <a:t>2</a:t>
                </a:r>
                <a:r>
                  <a:rPr lang="pt-BR" b="1" baseline="-25000" dirty="0"/>
                  <a:t> </a:t>
                </a:r>
                <a:endParaRPr lang="pt-BR" b="1" dirty="0"/>
              </a:p>
              <a:p>
                <a:pPr marL="0" indent="0">
                  <a:buNone/>
                </a:pPr>
                <a:r>
                  <a:rPr lang="pt-BR" b="1" dirty="0"/>
                  <a:t>						      </a:t>
                </a:r>
                <a:r>
                  <a:rPr lang="en-IN" dirty="0"/>
                  <a:t>∑ (y</a:t>
                </a:r>
                <a:r>
                  <a:rPr lang="en-IN" baseline="-25000" dirty="0"/>
                  <a:t>i</a:t>
                </a:r>
                <a:r>
                  <a:rPr lang="en-IN" dirty="0"/>
                  <a:t>​−ȳ)</a:t>
                </a:r>
                <a:r>
                  <a:rPr lang="en-IN" baseline="30000" dirty="0"/>
                  <a:t>2</a:t>
                </a:r>
              </a:p>
              <a:p>
                <a:pPr marL="0" indent="0">
                  <a:buNone/>
                </a:pPr>
                <a:endParaRPr lang="en-IN" baseline="30000" dirty="0"/>
              </a:p>
              <a:p>
                <a:pPr marL="0" indent="0">
                  <a:buNone/>
                </a:pPr>
                <a:r>
                  <a:rPr lang="en-IN" sz="2800" b="1" dirty="0">
                    <a:latin typeface="+mj-lt"/>
                  </a:rPr>
                  <a:t>Interpretation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800" dirty="0">
                    <a:latin typeface="+mj-lt"/>
                  </a:rPr>
                  <a:t>→ </a:t>
                </a:r>
                <a:r>
                  <a:rPr lang="en-IN" sz="2800" dirty="0">
                    <a:latin typeface="+mj-lt"/>
                  </a:rPr>
                  <a:t>Perfect fit (all predictions match actual values).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800" dirty="0">
                    <a:latin typeface="+mj-lt"/>
                  </a:rPr>
                  <a:t>→ </a:t>
                </a:r>
                <a:r>
                  <a:rPr lang="en-IN" sz="2800" dirty="0">
                    <a:latin typeface="+mj-lt"/>
                  </a:rPr>
                  <a:t>Model does no better than just predicting the mean of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800" dirty="0">
                    <a:latin typeface="+mj-lt"/>
                  </a:rPr>
                  <a:t>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8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800" dirty="0">
                    <a:latin typeface="+mj-lt"/>
                  </a:rPr>
                  <a:t>→ </a:t>
                </a:r>
                <a:r>
                  <a:rPr lang="en-IN" sz="2800" dirty="0">
                    <a:latin typeface="+mj-lt"/>
                  </a:rPr>
                  <a:t>Model is </a:t>
                </a:r>
                <a:r>
                  <a:rPr lang="en-IN" sz="2800" b="1" dirty="0">
                    <a:latin typeface="+mj-lt"/>
                  </a:rPr>
                  <a:t>worse</a:t>
                </a:r>
                <a:r>
                  <a:rPr lang="en-IN" sz="2800" dirty="0">
                    <a:latin typeface="+mj-lt"/>
                  </a:rPr>
                  <a:t> than predicting the mean.</a:t>
                </a:r>
              </a:p>
              <a:p>
                <a:pPr marL="0" indent="0">
                  <a:buNone/>
                </a:pPr>
                <a:endParaRPr lang="pt-BR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1D094-CC1B-22C4-B370-257949A239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262872" cy="4525963"/>
              </a:xfrm>
              <a:blipFill>
                <a:blip r:embed="rId2"/>
                <a:stretch>
                  <a:fillRect l="-1513" t="-1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8C7571-E056-2683-9422-114E97E3D844}"/>
              </a:ext>
            </a:extLst>
          </p:cNvPr>
          <p:cNvCxnSpPr/>
          <p:nvPr/>
        </p:nvCxnSpPr>
        <p:spPr>
          <a:xfrm>
            <a:off x="3346704" y="2203704"/>
            <a:ext cx="12984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44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Residuals &amp; Residual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Residual = y - ŷ (actual – predicted).</a:t>
            </a:r>
          </a:p>
          <a:p>
            <a:pPr>
              <a:defRPr sz="2000"/>
            </a:pPr>
            <a:r>
              <a:rPr sz="2800" dirty="0"/>
              <a:t>Residual plots check assumptions:</a:t>
            </a:r>
            <a:endParaRPr lang="en-IN" sz="2800" dirty="0"/>
          </a:p>
          <a:p>
            <a:pPr lvl="1">
              <a:defRPr sz="2000"/>
            </a:pPr>
            <a:r>
              <a:rPr dirty="0"/>
              <a:t> Random scatter → Good model</a:t>
            </a:r>
            <a:endParaRPr lang="en-IN" dirty="0"/>
          </a:p>
          <a:p>
            <a:pPr lvl="1">
              <a:defRPr sz="2000"/>
            </a:pPr>
            <a:r>
              <a:rPr dirty="0"/>
              <a:t> Patterns → Model missing info (non-linearity, bias, etc.)</a:t>
            </a:r>
          </a:p>
          <a:p>
            <a:pPr>
              <a:defRPr sz="2000"/>
            </a:pPr>
            <a:r>
              <a:rPr sz="2800" dirty="0"/>
              <a:t>Helps detect unequal error spread (heteroscedasticity).</a:t>
            </a:r>
            <a:endParaRPr lang="en-IN" sz="2800" dirty="0"/>
          </a:p>
          <a:p>
            <a:pPr>
              <a:defRPr sz="2000"/>
            </a:pPr>
            <a:r>
              <a:rPr lang="en-IN" sz="2800" dirty="0"/>
              <a:t>What assumptions we check?</a:t>
            </a:r>
            <a:endParaRPr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5695-8E8E-D75C-91BA-13B3755B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Linearity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86BD7-DB0C-6222-CE4E-29340535C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Assumption: The relationship between predictors (X) and response (Y) is linear.</a:t>
            </a:r>
          </a:p>
          <a:p>
            <a:r>
              <a:rPr lang="en-US" dirty="0"/>
              <a:t>Check: Residuals should be randomly scattered around zero.</a:t>
            </a:r>
          </a:p>
          <a:p>
            <a:r>
              <a:rPr lang="en-US" dirty="0"/>
              <a:t>Problem sign: A curve or pattern → suggests non-linearity.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54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1E134-8EB6-B130-0C58-E964CCB8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Independence of Errors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58F18-7B2B-7925-72DA-193B0B141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Assumption: Residuals are independent (no correlation between errors).</a:t>
            </a:r>
          </a:p>
          <a:p>
            <a:r>
              <a:rPr lang="en-US" dirty="0"/>
              <a:t>Check: No obvious patterns in residual sequence (if plotted against time/order).</a:t>
            </a:r>
          </a:p>
          <a:p>
            <a:r>
              <a:rPr lang="en-US" dirty="0"/>
              <a:t>Problem sign: Clustering or cycles → autocorrelation (common in time series).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220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C78D-C631-0690-BD7B-FECC9DC0B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 Homoscedasticity (Constant Variance)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B9D89-FFDE-903B-C8DD-497892EDB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Assumption: Residuals have constant spread across predicted values.</a:t>
            </a:r>
          </a:p>
          <a:p>
            <a:r>
              <a:rPr lang="en-US" dirty="0"/>
              <a:t>Check: Residual plot should show equal scatter throughout.</a:t>
            </a:r>
          </a:p>
          <a:p>
            <a:r>
              <a:rPr lang="en-US" dirty="0"/>
              <a:t>Problem sign: “Fan shape” (increasing or decreasing spread) → heteroscedasticity.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121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27BD-B2F7-F033-EB05-18E258BE9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4. Normality of Errors (for inference, not prediction)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581F3-D687-0C59-4931-7670371BB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Assumption: Residuals are approximately normally distributed.</a:t>
            </a:r>
          </a:p>
          <a:p>
            <a:r>
              <a:rPr lang="en-US" dirty="0"/>
              <a:t>Check: Histogram or Q–Q plot of residuals.</a:t>
            </a:r>
          </a:p>
          <a:p>
            <a:r>
              <a:rPr lang="en-US" dirty="0"/>
              <a:t>Problem sign: Skewed or heavy-tailed distribution.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1537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B30456-5A17-74B0-0BFA-A276580B6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691" y="1371599"/>
            <a:ext cx="8529782" cy="4264891"/>
          </a:xfrm>
        </p:spPr>
      </p:pic>
    </p:spTree>
    <p:extLst>
      <p:ext uri="{BB962C8B-B14F-4D97-AF65-F5344CB8AC3E}">
        <p14:creationId xmlns:p14="http://schemas.microsoft.com/office/powerpoint/2010/main" val="55777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Best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Compare metrics: Lower MAE, MSE, RMSE = Better.</a:t>
            </a:r>
          </a:p>
          <a:p>
            <a:pPr>
              <a:defRPr sz="2000"/>
            </a:pPr>
            <a:r>
              <a:rPr sz="2800" dirty="0"/>
              <a:t>Check R²: Higher is better (but beware </a:t>
            </a:r>
            <a:r>
              <a:rPr lang="en-IN" sz="2800" dirty="0"/>
              <a:t> of </a:t>
            </a:r>
            <a:r>
              <a:rPr sz="2800" dirty="0"/>
              <a:t>overfitting).</a:t>
            </a:r>
          </a:p>
          <a:p>
            <a:pPr>
              <a:defRPr sz="2000"/>
            </a:pPr>
            <a:r>
              <a:rPr sz="2800" dirty="0"/>
              <a:t>Look at residual plots: No clear pattern = Good.</a:t>
            </a:r>
          </a:p>
          <a:p>
            <a:pPr>
              <a:defRPr sz="2000"/>
            </a:pPr>
            <a:r>
              <a:rPr sz="2800" dirty="0"/>
              <a:t>Balance: Best trade-off between error and interpretability.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Summary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156139"/>
              </p:ext>
            </p:extLst>
          </p:nvPr>
        </p:nvGraphicFramePr>
        <p:xfrm>
          <a:off x="685800" y="2257933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MAE, MSE, RMSE → Error measurement.</a:t>
            </a:r>
          </a:p>
          <a:p>
            <a:pPr>
              <a:defRPr sz="2000"/>
            </a:pPr>
            <a:r>
              <a:rPr sz="2800" dirty="0"/>
              <a:t>R² → Explains variance captured.</a:t>
            </a:r>
          </a:p>
          <a:p>
            <a:pPr>
              <a:defRPr sz="2000"/>
            </a:pPr>
            <a:r>
              <a:rPr sz="2800" dirty="0"/>
              <a:t>Residual plots → Visual check of fit.</a:t>
            </a:r>
          </a:p>
          <a:p>
            <a:pPr>
              <a:defRPr sz="2000"/>
            </a:pPr>
            <a:r>
              <a:rPr sz="2800" dirty="0"/>
              <a:t>Best model = Low error + High R² + Random residuals.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824</Words>
  <Application>Microsoft Office PowerPoint</Application>
  <PresentationFormat>On-screen Show (4:3)</PresentationFormat>
  <Paragraphs>115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 Math</vt:lpstr>
      <vt:lpstr>Office Theme</vt:lpstr>
      <vt:lpstr>Regression Model Evaluation</vt:lpstr>
      <vt:lpstr>Why is Regression Model Evaluation?</vt:lpstr>
      <vt:lpstr>Mean Absolute Error (MAE)</vt:lpstr>
      <vt:lpstr>Mean Squared Error (MSE)</vt:lpstr>
      <vt:lpstr>Root Mean Squared Error (RMSE)</vt:lpstr>
      <vt:lpstr>R² Score (Coefficient of Determination)</vt:lpstr>
      <vt:lpstr>SSres (Residual Sum of Squares)</vt:lpstr>
      <vt:lpstr>SStot (Total Sum of Squares)</vt:lpstr>
      <vt:lpstr>R2 Interpretation</vt:lpstr>
      <vt:lpstr>Residuals &amp; Residual Plots</vt:lpstr>
      <vt:lpstr>1. Linearity</vt:lpstr>
      <vt:lpstr>2. Independence of Errors</vt:lpstr>
      <vt:lpstr>3. Homoscedasticity (Constant Variance)</vt:lpstr>
      <vt:lpstr>4. Normality of Errors (for inference, not prediction)</vt:lpstr>
      <vt:lpstr>PowerPoint Presentation</vt:lpstr>
      <vt:lpstr>Choosing the Best Model</vt:lpstr>
      <vt:lpstr>Example Summary Table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Sidharth Sharma</cp:lastModifiedBy>
  <cp:revision>5</cp:revision>
  <dcterms:created xsi:type="dcterms:W3CDTF">2013-01-27T09:14:16Z</dcterms:created>
  <dcterms:modified xsi:type="dcterms:W3CDTF">2025-10-01T16:33:02Z</dcterms:modified>
  <cp:category/>
</cp:coreProperties>
</file>